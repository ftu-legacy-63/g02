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2045c1-c726-cc5f-01ac-4b853087d20e}">
          <p14:sldIdLst>
            <p14:sldId id="256"/>
            <p14:sldId id="257"/>
            <p14:sldId id="258"/>
            <p14:sldId id="259"/>
            <p14:sldId id="260"/>
          </p14:sldIdLst>
        </p14:section>
        <p14:section name="Input &amp; logic" id="{5ec5fc16-008e-f2a8-71d4-2c73d2f9d8fa}">
          <p14:sldIdLst>
            <p14:sldId id="261"/>
            <p14:sldId id="262"/>
            <p14:sldId id="263"/>
            <p14:sldId id="264"/>
            <p14:sldId id="265"/>
            <p14:sldId id="266"/>
            <p14:sldId id="267"/>
          </p14:sldIdLst>
        </p14:section>
        <p14:section name="Flow &amp; output" id="{1ddd4079-1f38-c4d3-3887-247e9a614192}">
          <p14:sldIdLst>
            <p14:sldId id="268"/>
            <p14:sldId id="269"/>
          </p14:sldIdLst>
        </p14:section>
        <p14:section name="Design &amp; reflection" id="{009bc304-b441-687d-ea74-eea0663e4fa6}">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m</c:v>
                </c:pt>
              </c:strCache>
            </c:strRef>
          </c:tx>
          <c:spPr>
            <a:solidFill>
              <a:srgbClr val="1D3F73"/>
            </a:solidFill>
            <a:effectLst/>
          </c:spPr>
          <c:invertIfNegative val="0"/>
          <c:dLbls>
            <c:numFmt formatCode="#,##0" sourceLinked="0"/>
            <c:txPr>
              <a:bodyPr/>
              <a:lstStyle/>
              <a:p>
                <a:pPr>
                  <a:defRPr b="1" i="0" strike="noStrike" sz="1600" u="none">
                    <a:solidFill>
                      <a:srgbClr val="14213A"/>
                    </a:solidFill>
                    <a:latin typeface="+mn-lt"/>
                  </a:defRPr>
                </a:pPr>
              </a:p>
            </c:txPr>
            <c:showLegendKey val="0"/>
            <c:showVal val="1"/>
            <c:showCatName val="0"/>
            <c:showSerName val="0"/>
            <c:showPercent val="0"/>
            <c:showBubbleSize val="0"/>
            <c:showLeaderLines val="0"/>
          </c:dLbls>
          <c:dPt>
            <c:idx val="0"/>
            <c:invertIfNegative val="0"/>
            <c:bubble3D val="0"/>
            <c:spPr>
              <a:solidFill>
                <a:srgbClr val="1D3F73"/>
              </a:solidFill>
              <a:effectLst/>
            </c:spPr>
          </c:dPt>
          <c:dPt>
            <c:idx val="1"/>
            <c:invertIfNegative val="0"/>
            <c:bubble3D val="0"/>
            <c:spPr>
              <a:solidFill>
                <a:srgbClr val="1D3F73"/>
              </a:solidFill>
              <a:effectLst/>
            </c:spPr>
          </c:dPt>
          <c:dPt>
            <c:idx val="2"/>
            <c:invertIfNegative val="0"/>
            <c:bubble3D val="0"/>
            <c:spPr>
              <a:solidFill>
                <a:srgbClr val="1D3F73"/>
              </a:solidFill>
              <a:effectLst/>
            </c:spPr>
          </c:dPt>
          <c:dPt>
            <c:idx val="3"/>
            <c:invertIfNegative val="0"/>
            <c:bubble3D val="0"/>
            <c:spPr>
              <a:solidFill>
                <a:srgbClr val="1D3F73"/>
              </a:solidFill>
              <a:effectLst/>
            </c:spPr>
          </c:dPt>
          <c:dPt>
            <c:idx val="4"/>
            <c:invertIfNegative val="0"/>
            <c:bubble3D val="0"/>
            <c:spPr>
              <a:solidFill>
                <a:srgbClr val="1D3F73"/>
              </a:solidFill>
              <a:effectLst/>
            </c:spPr>
          </c:dPt>
          <c:dPt>
            <c:idx val="5"/>
            <c:invertIfNegative val="0"/>
            <c:bubble3D val="0"/>
            <c:spPr>
              <a:solidFill>
                <a:srgbClr val="1D3F73"/>
              </a:solidFill>
              <a:effectLst/>
            </c:spPr>
          </c:dPt>
          <c:dPt>
            <c:idx val="6"/>
            <c:invertIfNegative val="0"/>
            <c:bubble3D val="0"/>
            <c:spPr>
              <a:solidFill>
                <a:srgbClr val="F2A33A"/>
              </a:solidFill>
              <a:effectLst/>
            </c:spPr>
          </c:dPt>
          <c:dPt>
            <c:idx val="7"/>
            <c:invertIfNegative val="0"/>
            <c:bubble3D val="0"/>
            <c:spPr>
              <a:solidFill>
                <a:srgbClr val="F2A33A"/>
              </a:solidFill>
              <a:effectLst/>
            </c:spPr>
          </c:dPt>
          <c:cat>
            <c:multiLvlStrRef>
              <c:f>Sheet1!$A$2:$A$9</c:f>
              <c:multiLvlStrCache>
                <c:ptCount val="8"/>
                <c:lvl>
                  <c:pt idx="0">
                    <c:v>Net sales</c:v>
                  </c:pt>
                  <c:pt idx="1">
                    <c:v>Total debt (≈)</c:v>
                  </c:pt>
                  <c:pt idx="2">
                    <c:v>Secured debt (≈)</c:v>
                  </c:pt>
                  <c:pt idx="3">
                    <c:v>Inventory</c:v>
                  </c:pt>
                  <c:pt idx="4">
                    <c:v>Adjusted EBITDA</c:v>
                  </c:pt>
                  <c:pt idx="5">
                    <c:v>Cash</c:v>
                  </c:pt>
                  <c:pt idx="6">
                    <c:v>Operating earnings</c:v>
                  </c:pt>
                  <c:pt idx="7">
                    <c:v>Interest expense</c:v>
                  </c:pt>
                </c:lvl>
              </c:multiLvlStrCache>
            </c:multiLvlStrRef>
          </c:cat>
          <c:val>
            <c:numRef>
              <c:f>Sheet1!$B$2:$B$9</c:f>
              <c:numCache>
                <c:formatCode>General</c:formatCode>
                <c:ptCount val="8"/>
                <c:pt idx="0">
                  <c:v>11540</c:v>
                </c:pt>
                <c:pt idx="1">
                  <c:v>4800</c:v>
                </c:pt>
                <c:pt idx="2">
                  <c:v>3400</c:v>
                </c:pt>
                <c:pt idx="3">
                  <c:v>2476</c:v>
                </c:pt>
                <c:pt idx="4">
                  <c:v>792</c:v>
                </c:pt>
                <c:pt idx="5">
                  <c:v>566</c:v>
                </c:pt>
                <c:pt idx="6">
                  <c:v>460</c:v>
                </c:pt>
                <c:pt idx="7">
                  <c:v>457</c:v>
                </c:pt>
              </c:numCache>
            </c:numRef>
          </c:val>
        </c:ser>
        <c:dLbls>
          <c:numFmt formatCode="#,##0" sourceLinked="0"/>
          <c:txPr>
            <a:bodyPr/>
            <a:lstStyle/>
            <a:p>
              <a:pPr>
                <a:defRPr b="1" i="0" strike="noStrike" sz="1600" u="none">
                  <a:solidFill>
                    <a:srgbClr val="14213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4213A"/>
                </a:solidFill>
                <a:latin typeface="+mn-lt"/>
              </a:defRPr>
            </a:pPr>
            <a:endParaRPr lang="en-US"/>
          </a:p>
        </c:txPr>
        <c:crossAx val="2094734552"/>
        <c:crosses val="autoZero"/>
        <c:auto val="1"/>
        <c:lblAlgn val="ctr"/>
        <c:noMultiLvlLbl val="1"/>
      </c:catAx>
      <c:valAx>
        <c:axId val="2094734552"/>
        <c:scaling>
          <c:orientation val="minMax"/>
          <c:max val="14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D2146"/>
              </a:solidFill>
              <a:ln w="25400" cap="flat">
                <a:solidFill>
                  <a:srgbClr val="F2F9FE"/>
                </a:solidFill>
                <a:prstDash val="solid"/>
                <a:round/>
              </a:ln>
              <a:effectLst/>
            </c:spPr>
          </c:dPt>
          <c:dPt>
            <c:idx val="1"/>
            <c:bubble3D val="0"/>
            <c:spPr>
              <a:solidFill>
                <a:srgbClr val="1D3F73"/>
              </a:solidFill>
              <a:ln w="25400" cap="flat">
                <a:solidFill>
                  <a:srgbClr val="F2F9FE"/>
                </a:solidFill>
                <a:prstDash val="solid"/>
                <a:round/>
              </a:ln>
              <a:effectLst/>
            </c:spPr>
          </c:dPt>
          <c:dPt>
            <c:idx val="2"/>
            <c:bubble3D val="0"/>
            <c:spPr>
              <a:solidFill>
                <a:srgbClr val="447194"/>
              </a:solidFill>
              <a:ln w="25400" cap="flat">
                <a:solidFill>
                  <a:srgbClr val="F2F9FE"/>
                </a:solidFill>
                <a:prstDash val="solid"/>
                <a:round/>
              </a:ln>
              <a:effectLst/>
            </c:spPr>
          </c:dPt>
          <c:dPt>
            <c:idx val="3"/>
            <c:bubble3D val="0"/>
            <c:spPr>
              <a:solidFill>
                <a:srgbClr val="779EBD"/>
              </a:solidFill>
              <a:ln w="25400" cap="flat">
                <a:solidFill>
                  <a:srgbClr val="F2F9FE"/>
                </a:solidFill>
                <a:prstDash val="solid"/>
                <a:round/>
              </a:ln>
              <a:effectLst/>
            </c:spPr>
          </c:dPt>
          <c:dPt>
            <c:idx val="4"/>
            <c:bubble3D val="0"/>
            <c:spPr>
              <a:solidFill>
                <a:srgbClr val="F2A33A"/>
              </a:solidFill>
              <a:ln w="25400" cap="flat">
                <a:solidFill>
                  <a:srgbClr val="F2F9FE"/>
                </a:solidFill>
                <a:prstDash val="solid"/>
                <a:round/>
              </a:ln>
              <a:effectLst/>
            </c:spPr>
          </c:dPt>
          <c:dLbls>
            <c:dLbl>
              <c:idx val="0"/>
              <c:numFmt formatCode="0&quot;%&quot;" sourceLinked="0"/>
              <c:spPr/>
              <c:txPr>
                <a:bodyPr/>
                <a:lstStyle/>
                <a:p>
                  <a:pPr>
                    <a:defRPr sz="1800" b="1" i="0" u="none" strike="noStrike">
                      <a:solidFill>
                        <a:srgbClr val="FFFFFF"/>
                      </a:solidFill>
                      <a:latin typeface="+mn-lt"/>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mn-lt"/>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mn-lt"/>
                    </a:defRPr>
                  </a:pPr>
                </a:p>
              </c:txPr>
              <c:showLegendKey val="0"/>
              <c:showVal val="1"/>
              <c:showCatName val="0"/>
              <c:showSerName val="0"/>
              <c:showPercent val="0"/>
              <c:showBubbleSize val="0"/>
            </c:dLbl>
            <c:dLbl>
              <c:idx val="3"/>
              <c:numFmt formatCode="0&quot;%&quot;" sourceLinked="0"/>
              <c:spPr/>
              <c:txPr>
                <a:bodyPr/>
                <a:lstStyle/>
                <a:p>
                  <a:pPr>
                    <a:defRPr sz="1800" b="1" i="0" u="none" strike="noStrike">
                      <a:solidFill>
                        <a:srgbClr val="FFFFFF"/>
                      </a:solidFill>
                      <a:latin typeface="+mn-lt"/>
                    </a:defRPr>
                  </a:pPr>
                </a:p>
              </c:txPr>
              <c:showLegendKey val="0"/>
              <c:showVal val="1"/>
              <c:showCatName val="0"/>
              <c:showSerName val="0"/>
              <c:showPercent val="0"/>
              <c:showBubbleSize val="0"/>
            </c:dLbl>
            <c:dLbl>
              <c:idx val="4"/>
              <c:numFmt formatCode="0&quot;%&quot;" sourceLinked="0"/>
              <c:spPr/>
              <c:txPr>
                <a:bodyPr/>
                <a:lstStyle/>
                <a:p>
                  <a:pPr>
                    <a:defRPr sz="1800" b="1" i="0" u="none" strike="noStrike">
                      <a:solidFill>
                        <a:srgbClr val="FFFFFF"/>
                      </a:solidFill>
                      <a:latin typeface="+mn-lt"/>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Investigation</c:v>
                </c:pt>
                <c:pt idx="1">
                  <c:v>Diagnosis</c:v>
                </c:pt>
                <c:pt idx="2">
                  <c:v>Treatment</c:v>
                </c:pt>
                <c:pt idx="3">
                  <c:v>Execution</c:v>
                </c:pt>
                <c:pt idx="4">
                  <c:v>Reassessment</c:v>
                </c:pt>
              </c:strCache>
            </c:strRef>
          </c:cat>
          <c:val>
            <c:numRef>
              <c:f>Sheet1!$B$2:$B$6</c:f>
              <c:numCache>
                <c:ptCount val="5"/>
                <c:pt idx="0">
                  <c:v>20</c:v>
                </c:pt>
                <c:pt idx="1">
                  <c:v>30</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MEDIFIN – Financial Clinic. Group Footprint. Case #01: Toy Kingdom Inc. Group code G02.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Finance and banking students learn many concepts, metrics and analytical methods, but have few opportunities to practise decision-making when a problem has not been clearly identified and information is incomplete. A company often faces several problems at once. Consultants must select relevant information, distinguish symptoms from root causes, make evidence-based recommendations and understand the trade-offs of each option.
The solution: MEDIFIN is a financial consulting simulation game. Players take the role of a Junior Financial Counselor: investigating financial records, identifying the main problem, selecting a course of action, planning implementation, observing consequences and reassessing decisions.
The product does not merely indicate whether a decision is right or wrong; it explains why it is strong or weak. Decision quality is assessed separately from the company's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they are: Students majoring in Finance, Banking, Accounting or Business who already have a foundational understanding of financial statements. They need a visual tool to practise diagnostic thinking and decision-making rather than simply calculating metrics.
Use cases: studying, group demonstrations and classroom discussions.
Example: same statements, different evidence. Student A focuses on declining revenue and chooses cost-cutting. Student B identifies interest-payment pressure and chooses debt restructuring. In class, the class compares the reasoning behind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case: Case #01, Toy Kingdom Inc. (fictional, inspired by Toys “R” Us): 13 screens in 6 stages, from Client Intake &amp; Investigation to Final Assessment.
Limited information: 3 of 7 Diagnostic Files, 2 Follow-Up Questions, 1 Final Question. Unselected items stay locked, also in Reassessment.
Sourced data: based on Toys “R” Us 10-K, earnings release and 2005 sale-leaseback records (S01–S03); fiction marked A01–A10.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and treatment: one Primary Diagnosis (CD-A–F), one Treatment (PD-A–F), one Timing (TG-A–D), three stakeholder priorities.
Rule-based consequences: by treatment, timing, stakeholders and case conditions: sales, liquidity, debt, suppliers, stores, digital, governance.
Reassessment: players retain or revise diagnosis and treatment and must explain their reasoning.
Scoring and report: Counselor Score /100, Financial Resilience, Governance Stability, Final Ending and feedback in a Counselor Case Report.
Deployed and tested: live on GitHub Pages; passed test cases T01–T10 and bug-log checks B01–B05.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Diagnostic Files – exactly 3 of 7 (HS-A Sales &amp; Customer, HS-C Liquidity, HS-D Capital Structure, HS-E Product &amp; Category, HS-G Governance, etc.). Follow-Up Questions – exactly 2 of 7 (CH1 group). Final Diagnostic Question – 1 of 7 (CH2 group). Diagnosis – 1 Primary Diagnosis: identify relevant issues, then choose CD-A–F. Treatment – 1 option (PD-A–F). Timing – 1 option (TG-A–D). Stakeholder priorities – exactly 3 groups, e.g. Creditors, Suppliers, Holiday Inventory. Reassessment – retain or revise diagnosis and treatment, with a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case data, USD (not entered by the player): net sales 11,540m · Adjusted EBITDA 792m · operating earnings 460m · interest expense 457m · cash 566m · inventory 2,476m · total debt ≈ 4,800m · secured debt ≈ 3,400m. Controlled variation: same-store sales and holiday sales stress fluctuate within permitted ranges.
Source report flag: confirm whether the controlled variation feature is included in the final version.
Highlight: operating earnings (460) barely cover interest expense (457) – this leads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reflects decision quality, not the company's outcome. These metrics are evidence and are not directly scored. Chain: Evidence → Reasoning → Classification → Score.
Interest Coverage ≈ 1.01x = 460 / 457. Debt / EBITDA ≈ 6.06x = 4,800 / 792. Net Debt / EBITDA ≈ 5.35x = (4,800 − 566) / 792. EBIT margin ≈ 4.0%. Gross margin ≈ 35.6%. Revenue growth ≈ −2.2%.
Slightly declining revenue, interest coverage close to 1.0x and high leverage suggest financing pressure is more significant than the decline in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Counselor Score = 0.20 Investigation + 0.30 Diagnosis + 0.20 Treatment + 0.15 Execution + 0.15 Reassessment.
Test example: scores 86 / 87 / 88 / 92 / 94 produce 88.8 ≈ 89/100. Screen 10 (Consequence) is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formulas (0–100): Investigation = 50% Files + 30% Follow-Up + 20% Final Question. Diagnosis = 40% Problem Identification + 35% Primary Diagnosis + 25% Evidence Support. Treatment = 50% Root-Cause Fit + 30% Feasibility + 20% Risk Awareness. Execution = 40% Timing + 60% Stakeholder Preparation. Reassessment = 50% Evidence Response + 30% Decision Consistency + 20% Risk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Support: counted only when the player has actually opened the corresponding evidence (bug B02 fixed to ensure this).
Context, not a single answer: treatment, timing and stakeholders are assessed in context; there is no universally optimal answer.
Reassessment: retaining and changing a decision can both be valid. Only evidence-based reasoning earns points.
Credibility: Low / Medium / High. Indicates judgement quality and may affect access to treatments, but does not determine the outcome alone.
Source report flag: how Credibility is calculated and the decision consequence table are not specified. The group should add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Outcome: Financial Resilience (Stable · Fragile · Collapse), Governance Stability (Stabilized · Divided · Loss of Control), Final Ending (combination of the two results).
Source report flag: the exact mapping from Resilience + Stability to Final Ending is not specified. The group should add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flow: 1 Client Intake (Screen 0): client information, root cause not revealed. 2 Consultation (Screen 1): the client's stated problem and competing explanations. 3 Select exactly 3 of 7 Diagnostic Files (Screen 2); the rest are locked. 4 Select exactly 2 Follow-Up Questions (Screen 3). 5 View the complete Financial Statements (Screen 4). 6 Select 1 Final Diagnostic Question (Screen 5). 7 Diagnosis (Screen 6): identify issues, select a Primary Diagnosis. 8 Treatment (7), Timing (8) and exactly 3 Stakeholder Priorities (9). 9 Consequences (Screen 10): developments generated by the plan. 10 Reassessment (Screen 11): retain or revise, with a rationale. 11 Case Closure (Screen 12): Counselor Case Report, then review the path or replay.
Each step has clear validation, such as “Select exactly 3 Diagnostic Files to continue”. Weak choices do not block the game; they are reflected in scores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Consequence Screen: new developments generated by treatment, timing, stakeholders and case conditions.
Counselor Case Report: Counselor Performance (Investigation, Diagnosis, Treatment, Execution Planning, Reassessment and overall score /100); Case Outcome (Financial Resilience, Governance Stability, Final Ending); Feedback: Result → Reason → Meaning → Action → Limit, without revealing the answer; Options: Review Decision Path or Replay Case.
Error messages: clear messages when required inputs are missing or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complete case: prioritises a full playthrough from investigation to feedback; scope frozen in Week 6.
Limited information (3 of 7 files): makes evidence selection part of professional decision-making.
Rule-based logic, not an AI chatbot: easier to test and explain, and appropriate for the course scope.
Simplified family-governance storyline: kept secondary so it does not distract from the core financial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Predefined, sourced data: evidence is traceable, easy to test and explainable. Fiction is identified in ASSUMPTIONS.
Performance separate from Outcome: players may reason well and still face a difficult outcome; a high score does not mean the company performs well.
Treatment judged against the player's diagnosis: root-cause fit, feasibility and risk awareness, instead of a single correct answer.
Code-based web implementation: Financial Case Data → Decision &amp; Scoring Logic → Game Engine → Frontend → Browser. Interface designed in Canva/Figma.
Source report flag: specify exact technologies (HTML/JS, framework, etc.)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Evidence-based scoring: Evidence Support is penalised when players guess correctly without investigating (T02, B02), so reasoning is rewarded.
Traceable data sources: S / A / G are clearly classified, history is separated from fiction, and each metric is manually checked (F01, F02).
Performance vs. Outcome: separating the two makes feedback fairer and more educational.
Coherent flow, clear validation: the 13-screen flow is complete, error messages say what to fix, and duplicate submissions are prevented (B01).
Prioritised testing: ten test cases and five bugs classified Critical / Major / Minor, with assigned fixers and reviewers.
Scope discipline: freezing scope prevented new features before the core was stable; the public build runs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case: consulting skills across industries and other scenarios cannot yet be assessed, and replay value is limited.
Rule-based consequences: thresholds and outcomes are educational rules, not real-world forecasts. Resilience, Stability and Credibility are not standard metrics or credit ratings.
3-of-7 information limit: it is a game rule and does not reflect every real consulting situation.
Fictional governance elements: Houndstooth and the Anderson conflict are fictional and simplified, not historical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and users: the group first focused on testing financial calculations, then realised the greater challenge: helping players understand a company's problems, decide with incomplete information and accept trade-offs.
Flow design: from a static interface concept to a prototype where each choice affects later developments. A dashboard should help players track the company's position, not only display figures.
Theory into game rules: evidence-based diagnosis seems clear in theory, but implementation required defining what counts as evidence, which choices affect scores and which consequences follow.
Testing: bug B02 showed that a game that runs may not function correctly. Both financial logic and interactions among game rules must be tested.
Scope management: freezing scope in Week 6 shifted focus to integration, testing and bug fixing. Consistency among existing features matters more than many features.
Teamwork: work split into scenario, frontend, financial content, UI/UX and logic. Everyone must also understand how the parts connect to avoid integration inconsistencies.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Add more cases using the same Investigate → Diagnose → Treat → Execute → Reassess framework for other industries and crises, such as liquidity, working capital and M&amp;A.
2. Complete and validate the consequence matrix: define the consequence table before coding and create test cases for each combination of decisions.
3. Introduce controlled variation once the fixed flow is stable, increasing replay value without changing financial conclusions.
4. Test with real users earlier and measure whether the feedback helps them understand the reasoning.
5. Prioritise core logic over secondary features, and update documentation alongside the code so the demo stays consistent with the product description.
Demo link: https://kirisakitrangngocbk-a11y.github.io/Medifin/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F9FE"/>
        </a:solidFill>
      </p:bgPr>
    </p:bg>
    <p:spTree>
      <p:nvGrpSpPr>
        <p:cNvPr id="1" name=""/>
        <p:cNvGrpSpPr/>
        <p:nvPr/>
      </p:nvGrpSpPr>
      <p:grpSpPr>
        <a:xfrm>
          <a:off x="0" y="0"/>
          <a:ext cx="0" cy="0"/>
          <a:chOff x="0" y="0"/>
          <a:chExt cx="0" cy="0"/>
        </a:xfrm>
      </p:grpSpPr>
      <p:sp>
        <p:nvSpPr>
          <p:cNvPr id="2" name="Text 0"/>
          <p:cNvSpPr/>
          <p:nvPr/>
        </p:nvSpPr>
        <p:spPr>
          <a:xfrm>
            <a:off x="548640" y="6437376"/>
            <a:ext cx="6400800" cy="274320"/>
          </a:xfrm>
          <a:prstGeom prst="rect">
            <a:avLst/>
          </a:prstGeom>
          <a:noFill/>
          <a:ln/>
        </p:spPr>
        <p:txBody>
          <a:bodyPr wrap="square" lIns="0" tIns="0" rIns="0" bIns="0" rtlCol="0" anchor="ctr"/>
          <a:lstStyle/>
          <a:p>
            <a:pPr indent="0" marL="0">
              <a:buNone/>
            </a:pPr>
            <a:r>
              <a:rPr lang="en-US" sz="1200" dirty="0">
                <a:solidFill>
                  <a:schemeClr val="accent2"/>
                </a:solidFill>
              </a:rPr>
              <a:t>MEDIFIN – Financial Clinic · Group G02</a:t>
            </a:r>
            <a:endParaRPr lang="en-US" sz="12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D2146"/>
        </a:solidFill>
      </p:bgPr>
    </p:bg>
    <p:spTree>
      <p:nvGrpSpPr>
        <p:cNvPr id="1" name=""/>
        <p:cNvGrpSpPr/>
        <p:nvPr/>
      </p:nvGrpSpPr>
      <p:grpSpPr>
        <a:xfrm>
          <a:off x="0" y="0"/>
          <a:ext cx="0" cy="0"/>
          <a:chOff x="0" y="0"/>
          <a:chExt cx="0" cy="0"/>
        </a:xfrm>
      </p:grpSpPr>
      <p:sp>
        <p:nvSpPr>
          <p:cNvPr id="2" name="Text 0"/>
          <p:cNvSpPr/>
          <p:nvPr/>
        </p:nvSpPr>
        <p:spPr>
          <a:xfrm>
            <a:off x="548640" y="6437376"/>
            <a:ext cx="6400800" cy="274320"/>
          </a:xfrm>
          <a:prstGeom prst="rect">
            <a:avLst/>
          </a:prstGeom>
          <a:noFill/>
          <a:ln/>
        </p:spPr>
        <p:txBody>
          <a:bodyPr wrap="square" lIns="0" tIns="0" rIns="0" bIns="0" rtlCol="0" anchor="ctr"/>
          <a:lstStyle/>
          <a:p>
            <a:pPr indent="0" marL="0">
              <a:buNone/>
            </a:pPr>
            <a:r>
              <a:rPr lang="en-US" sz="1200" dirty="0">
                <a:solidFill>
                  <a:schemeClr val="accent3"/>
                </a:solidFill>
              </a:rPr>
              <a:t>MEDIFIN – Financial Clinic · Group G02</a:t>
            </a:r>
            <a:endParaRPr lang="en-US" sz="12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D214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kirisakitrangngocbk-a11y.github.io/Medifin/" TargetMode="External"/><Relationship Id="rId1" Type="http://schemas.openxmlformats.org/officeDocument/2006/relationships/image" Target="../media/image-20-1.png"/><Relationship Id="rId2" Type="http://schemas.openxmlformats.org/officeDocument/2006/relationships/image" Target="../media/image-20-2.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Doctor-counselor at his desk in a night office">    </p:cNvPr>
          <p:cNvPicPr>
            <a:picLocks noChangeAspect="1"/>
          </p:cNvPicPr>
          <p:nvPr/>
        </p:nvPicPr>
        <p:blipFill>
          <a:blip r:embed="rId1"/>
          <a:stretch>
            <a:fillRect/>
          </a:stretch>
        </p:blipFill>
        <p:spPr>
          <a:xfrm>
            <a:off x="0" y="0"/>
            <a:ext cx="6349594" cy="6858000"/>
          </a:xfrm>
          <a:prstGeom prst="rect">
            <a:avLst/>
          </a:prstGeom>
        </p:spPr>
      </p:pic>
      <p:sp>
        <p:nvSpPr>
          <p:cNvPr id="3" name="Logo tile"/>
          <p:cNvSpPr/>
          <p:nvPr/>
        </p:nvSpPr>
        <p:spPr>
          <a:xfrm>
            <a:off x="6949440" y="1005840"/>
            <a:ext cx="566928" cy="566928"/>
          </a:xfrm>
          <a:prstGeom prst="roundRect">
            <a:avLst>
              <a:gd name="adj" fmla="val 22581"/>
            </a:avLst>
          </a:prstGeom>
          <a:solidFill>
            <a:schemeClr val="accent4"/>
          </a:solidFill>
          <a:ln/>
        </p:spPr>
      </p:sp>
      <p:sp>
        <p:nvSpPr>
          <p:cNvPr id="4" name="Text 1"/>
          <p:cNvSpPr txBox="1"/>
          <p:nvPr/>
        </p:nvSpPr>
        <p:spPr>
          <a:xfrm>
            <a:off x="6949440" y="1005840"/>
            <a:ext cx="566928" cy="566928"/>
          </a:xfrm>
          <a:prstGeom prst="rect">
            <a:avLst/>
          </a:prstGeom>
          <a:noFill/>
          <a:ln/>
        </p:spPr>
        <p:txBody>
          <a:bodyPr wrap="square" lIns="0" tIns="0" rIns="0" bIns="0" rtlCol="0" anchor="ctr"/>
          <a:lstStyle/>
          <a:p>
            <a:pPr algn="ctr" indent="0" marL="0">
              <a:buNone/>
            </a:pPr>
            <a:r>
              <a:rPr lang="en-US" sz="2600" b="1" dirty="0">
                <a:solidFill>
                  <a:schemeClr val="tx2"/>
                </a:solidFill>
              </a:rPr>
              <a:t>M</a:t>
            </a:r>
            <a:endParaRPr lang="en-US" sz="2600" dirty="0"/>
          </a:p>
        </p:txBody>
      </p:sp>
      <p:sp>
        <p:nvSpPr>
          <p:cNvPr id="5" name="Text 2"/>
          <p:cNvSpPr txBox="1"/>
          <p:nvPr/>
        </p:nvSpPr>
        <p:spPr>
          <a:xfrm>
            <a:off x="7680960" y="1005840"/>
            <a:ext cx="3200400" cy="566928"/>
          </a:xfrm>
          <a:prstGeom prst="rect">
            <a:avLst/>
          </a:prstGeom>
          <a:noFill/>
          <a:ln/>
        </p:spPr>
        <p:txBody>
          <a:bodyPr wrap="square" lIns="0" tIns="0" rIns="0" bIns="0" rtlCol="0" anchor="ctr"/>
          <a:lstStyle/>
          <a:p>
            <a:pPr indent="0" marL="0">
              <a:buNone/>
            </a:pPr>
            <a:r>
              <a:rPr lang="en-US" sz="2400" b="1" spc="400" kern="0" dirty="0">
                <a:solidFill>
                  <a:schemeClr val="bg1"/>
                </a:solidFill>
              </a:rPr>
              <a:t>MEDIFIN</a:t>
            </a:r>
            <a:endParaRPr lang="en-US" sz="2400" dirty="0"/>
          </a:p>
        </p:txBody>
      </p:sp>
      <p:sp>
        <p:nvSpPr>
          <p:cNvPr id="6" name="Text 3"/>
          <p:cNvSpPr txBox="1"/>
          <p:nvPr/>
        </p:nvSpPr>
        <p:spPr>
          <a:xfrm>
            <a:off x="6949440" y="2011680"/>
            <a:ext cx="4663440" cy="2194560"/>
          </a:xfrm>
          <a:prstGeom prst="rect">
            <a:avLst/>
          </a:prstGeom>
          <a:noFill/>
          <a:ln/>
        </p:spPr>
        <p:txBody>
          <a:bodyPr wrap="square" lIns="0" tIns="0" rIns="0" bIns="0" rtlCol="0" anchor="t"/>
          <a:lstStyle/>
          <a:p>
            <a:pPr indent="0" marL="0">
              <a:lnSpc>
                <a:spcPct val="95000"/>
              </a:lnSpc>
              <a:buNone/>
            </a:pPr>
            <a:r>
              <a:rPr lang="en-US" sz="6000" b="1" dirty="0">
                <a:solidFill>
                  <a:schemeClr val="bg1"/>
                </a:solidFill>
                <a:latin typeface="+mj-lt" pitchFamily="34" charset="0"/>
                <a:ea typeface="+mj-lt" pitchFamily="34" charset="-122"/>
                <a:cs typeface="+mj-lt" pitchFamily="34" charset="-120"/>
              </a:rPr>
              <a:t>Group</a:t>
            </a:r>
            <a:endParaRPr lang="en-US" sz="6000" dirty="0"/>
          </a:p>
          <a:p>
            <a:pPr indent="0" marL="0">
              <a:lnSpc>
                <a:spcPct val="95000"/>
              </a:lnSpc>
              <a:buNone/>
            </a:pPr>
            <a:r>
              <a:rPr lang="en-US" sz="6000" b="1" dirty="0">
                <a:solidFill>
                  <a:schemeClr val="bg1"/>
                </a:solidFill>
                <a:latin typeface="+mj-lt" pitchFamily="34" charset="0"/>
                <a:ea typeface="+mj-lt" pitchFamily="34" charset="-122"/>
                <a:cs typeface="+mj-lt" pitchFamily="34" charset="-120"/>
              </a:rPr>
              <a:t>Footprint</a:t>
            </a:r>
            <a:endParaRPr lang="en-US" sz="6000" dirty="0"/>
          </a:p>
        </p:txBody>
      </p:sp>
      <p:sp>
        <p:nvSpPr>
          <p:cNvPr id="7" name="Text 4"/>
          <p:cNvSpPr txBox="1"/>
          <p:nvPr/>
        </p:nvSpPr>
        <p:spPr>
          <a:xfrm>
            <a:off x="6949440" y="4434840"/>
            <a:ext cx="4663440" cy="457200"/>
          </a:xfrm>
          <a:prstGeom prst="rect">
            <a:avLst/>
          </a:prstGeom>
          <a:noFill/>
          <a:ln/>
        </p:spPr>
        <p:txBody>
          <a:bodyPr wrap="square" lIns="0" tIns="0" rIns="0" bIns="0" rtlCol="0" anchor="t"/>
          <a:lstStyle/>
          <a:p>
            <a:pPr indent="0" marL="0">
              <a:buNone/>
            </a:pPr>
            <a:r>
              <a:rPr lang="en-US" sz="2800" dirty="0">
                <a:solidFill>
                  <a:schemeClr val="accent3"/>
                </a:solidFill>
              </a:rPr>
              <a:t>Financial Clinic</a:t>
            </a:r>
            <a:endParaRPr lang="en-US" sz="2800" dirty="0"/>
          </a:p>
        </p:txBody>
      </p:sp>
      <p:sp>
        <p:nvSpPr>
          <p:cNvPr id="8" name="Text 5"/>
          <p:cNvSpPr txBox="1"/>
          <p:nvPr/>
        </p:nvSpPr>
        <p:spPr>
          <a:xfrm>
            <a:off x="6949440" y="4983480"/>
            <a:ext cx="4663440" cy="411480"/>
          </a:xfrm>
          <a:prstGeom prst="rect">
            <a:avLst/>
          </a:prstGeom>
          <a:noFill/>
          <a:ln/>
        </p:spPr>
        <p:txBody>
          <a:bodyPr wrap="square" lIns="0" tIns="0" rIns="0" bIns="0" rtlCol="0" anchor="t"/>
          <a:lstStyle/>
          <a:p>
            <a:pPr indent="0" marL="0">
              <a:buNone/>
            </a:pPr>
            <a:r>
              <a:rPr lang="en-US" sz="2200" dirty="0">
                <a:solidFill>
                  <a:schemeClr val="bg1"/>
                </a:solidFill>
              </a:rPr>
              <a:t>Case #01: Toy Kingdom Inc.</a:t>
            </a:r>
            <a:endParaRPr lang="en-US" sz="2200" dirty="0"/>
          </a:p>
        </p:txBody>
      </p:sp>
      <p:sp>
        <p:nvSpPr>
          <p:cNvPr id="9" name="Text 6"/>
          <p:cNvSpPr txBox="1"/>
          <p:nvPr/>
        </p:nvSpPr>
        <p:spPr>
          <a:xfrm>
            <a:off x="6949440" y="6035040"/>
            <a:ext cx="4663440" cy="365760"/>
          </a:xfrm>
          <a:prstGeom prst="rect">
            <a:avLst/>
          </a:prstGeom>
          <a:noFill/>
          <a:ln/>
        </p:spPr>
        <p:txBody>
          <a:bodyPr wrap="square" lIns="0" tIns="0" rIns="0" bIns="0" rtlCol="0" anchor="t"/>
          <a:lstStyle/>
          <a:p>
            <a:pPr indent="0" marL="0">
              <a:buNone/>
            </a:pPr>
            <a:r>
              <a:rPr lang="en-US" sz="2000" b="1" dirty="0">
                <a:solidFill>
                  <a:schemeClr val="accent4"/>
                </a:solidFill>
              </a:rPr>
              <a:t>Group code G02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Problem the group wants to solve</a:t>
            </a:r>
            <a:endParaRPr lang="en-US" sz="3600" dirty="0"/>
          </a:p>
        </p:txBody>
      </p:sp>
      <p:sp>
        <p:nvSpPr>
          <p:cNvPr id="3" name="Gap card"/>
          <p:cNvSpPr/>
          <p:nvPr/>
        </p:nvSpPr>
        <p:spPr>
          <a:xfrm>
            <a:off x="548640" y="1417320"/>
            <a:ext cx="5440680" cy="2468880"/>
          </a:xfrm>
          <a:prstGeom prst="roundRect">
            <a:avLst>
              <a:gd name="adj" fmla="val 4444"/>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Gap badge"/>
          <p:cNvSpPr/>
          <p:nvPr/>
        </p:nvSpPr>
        <p:spPr>
          <a:xfrm>
            <a:off x="822960" y="1645920"/>
            <a:ext cx="594360" cy="594360"/>
          </a:xfrm>
          <a:prstGeom prst="ellipse">
            <a:avLst/>
          </a:prstGeom>
          <a:solidFill>
            <a:schemeClr val="accent4"/>
          </a:solidFill>
          <a:ln/>
        </p:spPr>
      </p:sp>
      <p:pic>
        <p:nvPicPr>
          <p:cNvPr id="5" name="Gap icon" descr="QuestionCircle icon">    </p:cNvPr>
          <p:cNvPicPr>
            <a:picLocks noChangeAspect="1"/>
          </p:cNvPicPr>
          <p:nvPr/>
        </p:nvPicPr>
        <p:blipFill>
          <a:blip r:embed="rId1"/>
          <a:stretch>
            <a:fillRect/>
          </a:stretch>
        </p:blipFill>
        <p:spPr>
          <a:xfrm>
            <a:off x="971550" y="1794510"/>
            <a:ext cx="297180" cy="297180"/>
          </a:xfrm>
          <a:prstGeom prst="rect">
            <a:avLst/>
          </a:prstGeom>
        </p:spPr>
      </p:pic>
      <p:sp>
        <p:nvSpPr>
          <p:cNvPr id="6" name="Text 3"/>
          <p:cNvSpPr txBox="1"/>
          <p:nvPr/>
        </p:nvSpPr>
        <p:spPr>
          <a:xfrm>
            <a:off x="1600200" y="1645920"/>
            <a:ext cx="4114800" cy="594360"/>
          </a:xfrm>
          <a:prstGeom prst="rect">
            <a:avLst/>
          </a:prstGeom>
          <a:noFill/>
          <a:ln/>
        </p:spPr>
        <p:txBody>
          <a:bodyPr wrap="square" lIns="0" tIns="0" rIns="0" bIns="0" rtlCol="0" anchor="ctr"/>
          <a:lstStyle/>
          <a:p>
            <a:pPr indent="0" marL="0">
              <a:buNone/>
            </a:pPr>
            <a:r>
              <a:rPr lang="en-US" sz="2400" b="1" dirty="0">
                <a:solidFill>
                  <a:schemeClr val="tx2"/>
                </a:solidFill>
              </a:rPr>
              <a:t>The gap</a:t>
            </a:r>
            <a:endParaRPr lang="en-US" sz="2400" dirty="0"/>
          </a:p>
        </p:txBody>
      </p:sp>
      <p:sp>
        <p:nvSpPr>
          <p:cNvPr id="7" name="Text 4"/>
          <p:cNvSpPr txBox="1"/>
          <p:nvPr/>
        </p:nvSpPr>
        <p:spPr>
          <a:xfrm>
            <a:off x="822960" y="2468880"/>
            <a:ext cx="4892040" cy="1280160"/>
          </a:xfrm>
          <a:prstGeom prst="rect">
            <a:avLst/>
          </a:prstGeom>
          <a:noFill/>
          <a:ln/>
        </p:spPr>
        <p:txBody>
          <a:bodyPr wrap="square" lIns="0" tIns="0" rIns="0" bIns="0" rtlCol="0" anchor="t"/>
          <a:lstStyle/>
          <a:p>
            <a:pPr indent="0" marL="0">
              <a:buNone/>
            </a:pPr>
            <a:r>
              <a:rPr lang="en-US" sz="2000" dirty="0">
                <a:solidFill>
                  <a:schemeClr val="tx1"/>
                </a:solidFill>
              </a:rPr>
              <a:t>Students learn many concepts and metrics, but rarely practise deciding when the problem is unclear and information is incomplete.</a:t>
            </a:r>
            <a:endParaRPr lang="en-US" sz="2000" dirty="0"/>
          </a:p>
        </p:txBody>
      </p:sp>
      <p:sp>
        <p:nvSpPr>
          <p:cNvPr id="8" name="Solution card"/>
          <p:cNvSpPr/>
          <p:nvPr/>
        </p:nvSpPr>
        <p:spPr>
          <a:xfrm>
            <a:off x="6199632" y="1417320"/>
            <a:ext cx="5440680" cy="2468880"/>
          </a:xfrm>
          <a:prstGeom prst="roundRect">
            <a:avLst>
              <a:gd name="adj" fmla="val 4444"/>
            </a:avLst>
          </a:prstGeom>
          <a:solidFill>
            <a:schemeClr val="tx2"/>
          </a:solidFill>
          <a:ln/>
          <a:effectLst>
            <a:outerShdw sx="100000" sy="100000" kx="0" ky="0" algn="bl" rotWithShape="0" blurRad="101600" dist="25400" dir="5400000">
              <a:srgbClr val="0D2146">
                <a:alpha val="14000"/>
              </a:srgbClr>
            </a:outerShdw>
          </a:effectLst>
        </p:spPr>
      </p:sp>
      <p:sp>
        <p:nvSpPr>
          <p:cNvPr id="9" name="Solution badge"/>
          <p:cNvSpPr/>
          <p:nvPr/>
        </p:nvSpPr>
        <p:spPr>
          <a:xfrm>
            <a:off x="6473952" y="1645920"/>
            <a:ext cx="594360" cy="594360"/>
          </a:xfrm>
          <a:prstGeom prst="ellipse">
            <a:avLst/>
          </a:prstGeom>
          <a:solidFill>
            <a:schemeClr val="accent1"/>
          </a:solidFill>
          <a:ln/>
        </p:spPr>
      </p:sp>
      <p:pic>
        <p:nvPicPr>
          <p:cNvPr id="10" name="Solution icon" descr="Stethoscope icon">    </p:cNvPr>
          <p:cNvPicPr>
            <a:picLocks noChangeAspect="1"/>
          </p:cNvPicPr>
          <p:nvPr/>
        </p:nvPicPr>
        <p:blipFill>
          <a:blip r:embed="rId2"/>
          <a:stretch>
            <a:fillRect/>
          </a:stretch>
        </p:blipFill>
        <p:spPr>
          <a:xfrm>
            <a:off x="6622542" y="1794510"/>
            <a:ext cx="297180" cy="297180"/>
          </a:xfrm>
          <a:prstGeom prst="rect">
            <a:avLst/>
          </a:prstGeom>
        </p:spPr>
      </p:pic>
      <p:sp>
        <p:nvSpPr>
          <p:cNvPr id="11" name="Text 7"/>
          <p:cNvSpPr txBox="1"/>
          <p:nvPr/>
        </p:nvSpPr>
        <p:spPr>
          <a:xfrm>
            <a:off x="7251192" y="1645920"/>
            <a:ext cx="4206240" cy="594360"/>
          </a:xfrm>
          <a:prstGeom prst="rect">
            <a:avLst/>
          </a:prstGeom>
          <a:noFill/>
          <a:ln/>
        </p:spPr>
        <p:txBody>
          <a:bodyPr wrap="square" lIns="0" tIns="0" rIns="0" bIns="0" rtlCol="0" anchor="ctr"/>
          <a:lstStyle/>
          <a:p>
            <a:pPr indent="0" marL="0">
              <a:buNone/>
            </a:pPr>
            <a:r>
              <a:rPr lang="en-US" sz="2400" b="1" dirty="0">
                <a:solidFill>
                  <a:schemeClr val="bg1"/>
                </a:solidFill>
              </a:rPr>
              <a:t>The solution: MEDIFIN</a:t>
            </a:r>
            <a:endParaRPr lang="en-US" sz="2400" dirty="0"/>
          </a:p>
        </p:txBody>
      </p:sp>
      <p:sp>
        <p:nvSpPr>
          <p:cNvPr id="12" name="Text 8"/>
          <p:cNvSpPr txBox="1"/>
          <p:nvPr/>
        </p:nvSpPr>
        <p:spPr>
          <a:xfrm>
            <a:off x="6473952" y="2468880"/>
            <a:ext cx="4892040" cy="1280160"/>
          </a:xfrm>
          <a:prstGeom prst="rect">
            <a:avLst/>
          </a:prstGeom>
          <a:noFill/>
          <a:ln/>
        </p:spPr>
        <p:txBody>
          <a:bodyPr wrap="square" lIns="0" tIns="0" rIns="0" bIns="0" rtlCol="0" anchor="t"/>
          <a:lstStyle/>
          <a:p>
            <a:pPr indent="0" marL="0">
              <a:buNone/>
            </a:pPr>
            <a:r>
              <a:rPr lang="en-US" sz="2000" dirty="0">
                <a:solidFill>
                  <a:schemeClr val="accent4"/>
                </a:solidFill>
              </a:rPr>
              <a:t>A financial consulting simulation game. Players act as a Junior Financial Counselor and work a case from first look to final report.</a:t>
            </a:r>
            <a:endParaRPr lang="en-US" sz="2000" dirty="0"/>
          </a:p>
        </p:txBody>
      </p:sp>
      <p:sp>
        <p:nvSpPr>
          <p:cNvPr id="13" name="Step Investigate"/>
          <p:cNvSpPr/>
          <p:nvPr/>
        </p:nvSpPr>
        <p:spPr>
          <a:xfrm>
            <a:off x="548640" y="4160520"/>
            <a:ext cx="2291486" cy="868680"/>
          </a:xfrm>
          <a:prstGeom prst="homePlate">
            <a:avLst/>
          </a:prstGeom>
          <a:solidFill>
            <a:schemeClr val="accent1"/>
          </a:solidFill>
          <a:ln/>
        </p:spPr>
      </p:sp>
      <p:sp>
        <p:nvSpPr>
          <p:cNvPr id="14" name="Text 10"/>
          <p:cNvSpPr txBox="1"/>
          <p:nvPr/>
        </p:nvSpPr>
        <p:spPr>
          <a:xfrm>
            <a:off x="594360" y="4160520"/>
            <a:ext cx="1742846" cy="868680"/>
          </a:xfrm>
          <a:prstGeom prst="rect">
            <a:avLst/>
          </a:prstGeom>
          <a:noFill/>
          <a:ln/>
        </p:spPr>
        <p:txBody>
          <a:bodyPr wrap="square" lIns="0" tIns="0" rIns="0" bIns="0" rtlCol="0" anchor="ctr"/>
          <a:lstStyle/>
          <a:p>
            <a:pPr algn="ctr" indent="0" marL="0">
              <a:buNone/>
            </a:pPr>
            <a:r>
              <a:rPr lang="en-US" sz="1800" b="1" dirty="0">
                <a:solidFill>
                  <a:schemeClr val="bg1"/>
                </a:solidFill>
              </a:rPr>
              <a:t>Investigate</a:t>
            </a:r>
            <a:endParaRPr lang="en-US" sz="1800" dirty="0"/>
          </a:p>
        </p:txBody>
      </p:sp>
      <p:sp>
        <p:nvSpPr>
          <p:cNvPr id="15" name="Step Diagnose"/>
          <p:cNvSpPr/>
          <p:nvPr/>
        </p:nvSpPr>
        <p:spPr>
          <a:xfrm>
            <a:off x="2748686" y="4160520"/>
            <a:ext cx="2291486" cy="868680"/>
          </a:xfrm>
          <a:prstGeom prst="chevron">
            <a:avLst/>
          </a:prstGeom>
          <a:solidFill>
            <a:schemeClr val="accent1"/>
          </a:solidFill>
          <a:ln/>
        </p:spPr>
      </p:sp>
      <p:sp>
        <p:nvSpPr>
          <p:cNvPr id="16" name="Text 12"/>
          <p:cNvSpPr txBox="1"/>
          <p:nvPr/>
        </p:nvSpPr>
        <p:spPr>
          <a:xfrm>
            <a:off x="3023006" y="4160520"/>
            <a:ext cx="1742846" cy="868680"/>
          </a:xfrm>
          <a:prstGeom prst="rect">
            <a:avLst/>
          </a:prstGeom>
          <a:noFill/>
          <a:ln/>
        </p:spPr>
        <p:txBody>
          <a:bodyPr wrap="square" lIns="0" tIns="0" rIns="0" bIns="0" rtlCol="0" anchor="ctr"/>
          <a:lstStyle/>
          <a:p>
            <a:pPr algn="ctr" indent="0" marL="0">
              <a:buNone/>
            </a:pPr>
            <a:r>
              <a:rPr lang="en-US" sz="1800" b="1" dirty="0">
                <a:solidFill>
                  <a:schemeClr val="bg1"/>
                </a:solidFill>
              </a:rPr>
              <a:t>Diagnose</a:t>
            </a:r>
            <a:endParaRPr lang="en-US" sz="1800" dirty="0"/>
          </a:p>
        </p:txBody>
      </p:sp>
      <p:sp>
        <p:nvSpPr>
          <p:cNvPr id="17" name="Step Treat"/>
          <p:cNvSpPr/>
          <p:nvPr/>
        </p:nvSpPr>
        <p:spPr>
          <a:xfrm>
            <a:off x="4948733" y="4160520"/>
            <a:ext cx="2291486" cy="868680"/>
          </a:xfrm>
          <a:prstGeom prst="chevron">
            <a:avLst/>
          </a:prstGeom>
          <a:solidFill>
            <a:schemeClr val="accent2"/>
          </a:solidFill>
          <a:ln/>
        </p:spPr>
      </p:sp>
      <p:sp>
        <p:nvSpPr>
          <p:cNvPr id="18" name="Text 14"/>
          <p:cNvSpPr txBox="1"/>
          <p:nvPr/>
        </p:nvSpPr>
        <p:spPr>
          <a:xfrm>
            <a:off x="5223053" y="4160520"/>
            <a:ext cx="1742846" cy="868680"/>
          </a:xfrm>
          <a:prstGeom prst="rect">
            <a:avLst/>
          </a:prstGeom>
          <a:noFill/>
          <a:ln/>
        </p:spPr>
        <p:txBody>
          <a:bodyPr wrap="square" lIns="0" tIns="0" rIns="0" bIns="0" rtlCol="0" anchor="ctr"/>
          <a:lstStyle/>
          <a:p>
            <a:pPr algn="ctr" indent="0" marL="0">
              <a:buNone/>
            </a:pPr>
            <a:r>
              <a:rPr lang="en-US" sz="1800" b="1" dirty="0">
                <a:solidFill>
                  <a:schemeClr val="bg1"/>
                </a:solidFill>
              </a:rPr>
              <a:t>Treat</a:t>
            </a:r>
            <a:endParaRPr lang="en-US" sz="1800" dirty="0"/>
          </a:p>
        </p:txBody>
      </p:sp>
      <p:sp>
        <p:nvSpPr>
          <p:cNvPr id="19" name="Step Execute"/>
          <p:cNvSpPr/>
          <p:nvPr/>
        </p:nvSpPr>
        <p:spPr>
          <a:xfrm>
            <a:off x="7148779" y="4160520"/>
            <a:ext cx="2291486" cy="868680"/>
          </a:xfrm>
          <a:prstGeom prst="chevron">
            <a:avLst/>
          </a:prstGeom>
          <a:solidFill>
            <a:schemeClr val="accent2"/>
          </a:solidFill>
          <a:ln/>
        </p:spPr>
      </p:sp>
      <p:sp>
        <p:nvSpPr>
          <p:cNvPr id="20" name="Text 16"/>
          <p:cNvSpPr txBox="1"/>
          <p:nvPr/>
        </p:nvSpPr>
        <p:spPr>
          <a:xfrm>
            <a:off x="7423099" y="4160520"/>
            <a:ext cx="1742846" cy="868680"/>
          </a:xfrm>
          <a:prstGeom prst="rect">
            <a:avLst/>
          </a:prstGeom>
          <a:noFill/>
          <a:ln/>
        </p:spPr>
        <p:txBody>
          <a:bodyPr wrap="square" lIns="0" tIns="0" rIns="0" bIns="0" rtlCol="0" anchor="ctr"/>
          <a:lstStyle/>
          <a:p>
            <a:pPr algn="ctr" indent="0" marL="0">
              <a:buNone/>
            </a:pPr>
            <a:r>
              <a:rPr lang="en-US" sz="1800" b="1" dirty="0">
                <a:solidFill>
                  <a:schemeClr val="bg1"/>
                </a:solidFill>
              </a:rPr>
              <a:t>Execute</a:t>
            </a:r>
            <a:endParaRPr lang="en-US" sz="1800" dirty="0"/>
          </a:p>
        </p:txBody>
      </p:sp>
      <p:sp>
        <p:nvSpPr>
          <p:cNvPr id="21" name="Step Reassess"/>
          <p:cNvSpPr/>
          <p:nvPr/>
        </p:nvSpPr>
        <p:spPr>
          <a:xfrm>
            <a:off x="9348826" y="4160520"/>
            <a:ext cx="2291486" cy="868680"/>
          </a:xfrm>
          <a:prstGeom prst="chevron">
            <a:avLst/>
          </a:prstGeom>
          <a:solidFill>
            <a:schemeClr val="accent3"/>
          </a:solidFill>
          <a:ln/>
        </p:spPr>
      </p:sp>
      <p:sp>
        <p:nvSpPr>
          <p:cNvPr id="22" name="Text 18"/>
          <p:cNvSpPr txBox="1"/>
          <p:nvPr/>
        </p:nvSpPr>
        <p:spPr>
          <a:xfrm>
            <a:off x="9623146" y="4160520"/>
            <a:ext cx="1742846" cy="868680"/>
          </a:xfrm>
          <a:prstGeom prst="rect">
            <a:avLst/>
          </a:prstGeom>
          <a:noFill/>
          <a:ln/>
        </p:spPr>
        <p:txBody>
          <a:bodyPr wrap="square" lIns="0" tIns="0" rIns="0" bIns="0" rtlCol="0" anchor="ctr"/>
          <a:lstStyle/>
          <a:p>
            <a:pPr algn="ctr" indent="0" marL="0">
              <a:buNone/>
            </a:pPr>
            <a:r>
              <a:rPr lang="en-US" sz="1800" b="1" dirty="0">
                <a:solidFill>
                  <a:schemeClr val="tx2"/>
                </a:solidFill>
              </a:rPr>
              <a:t>Reassess</a:t>
            </a:r>
            <a:endParaRPr lang="en-US" sz="1800" dirty="0"/>
          </a:p>
        </p:txBody>
      </p:sp>
      <p:sp>
        <p:nvSpPr>
          <p:cNvPr id="23" name="Key message"/>
          <p:cNvSpPr/>
          <p:nvPr/>
        </p:nvSpPr>
        <p:spPr>
          <a:xfrm>
            <a:off x="548640" y="5303520"/>
            <a:ext cx="11091672" cy="914400"/>
          </a:xfrm>
          <a:prstGeom prst="roundRect">
            <a:avLst>
              <a:gd name="adj" fmla="val 12000"/>
            </a:avLst>
          </a:prstGeom>
          <a:solidFill>
            <a:schemeClr val="accent4"/>
          </a:solidFill>
          <a:ln/>
        </p:spPr>
      </p:sp>
      <p:sp>
        <p:nvSpPr>
          <p:cNvPr id="24" name="Message badge"/>
          <p:cNvSpPr/>
          <p:nvPr/>
        </p:nvSpPr>
        <p:spPr>
          <a:xfrm>
            <a:off x="822960" y="5458968"/>
            <a:ext cx="603504" cy="603504"/>
          </a:xfrm>
          <a:prstGeom prst="ellipse">
            <a:avLst/>
          </a:prstGeom>
          <a:solidFill>
            <a:schemeClr val="tx2"/>
          </a:solidFill>
          <a:ln/>
        </p:spPr>
      </p:sp>
      <p:pic>
        <p:nvPicPr>
          <p:cNvPr id="25" name="Message icon" descr="BalanceScale icon">    </p:cNvPr>
          <p:cNvPicPr>
            <a:picLocks noChangeAspect="1"/>
          </p:cNvPicPr>
          <p:nvPr/>
        </p:nvPicPr>
        <p:blipFill>
          <a:blip r:embed="rId3"/>
          <a:stretch>
            <a:fillRect/>
          </a:stretch>
        </p:blipFill>
        <p:spPr>
          <a:xfrm>
            <a:off x="973836" y="5609844"/>
            <a:ext cx="301752" cy="301752"/>
          </a:xfrm>
          <a:prstGeom prst="rect">
            <a:avLst/>
          </a:prstGeom>
        </p:spPr>
      </p:pic>
      <p:sp>
        <p:nvSpPr>
          <p:cNvPr id="26" name="Text 21"/>
          <p:cNvSpPr txBox="1"/>
          <p:nvPr/>
        </p:nvSpPr>
        <p:spPr>
          <a:xfrm>
            <a:off x="1691640" y="5303520"/>
            <a:ext cx="9692640" cy="914400"/>
          </a:xfrm>
          <a:prstGeom prst="rect">
            <a:avLst/>
          </a:prstGeom>
          <a:noFill/>
          <a:ln/>
        </p:spPr>
        <p:txBody>
          <a:bodyPr wrap="square" lIns="0" tIns="0" rIns="0" bIns="0" rtlCol="0" anchor="ctr"/>
          <a:lstStyle/>
          <a:p>
            <a:pPr indent="0" marL="0">
              <a:buNone/>
            </a:pPr>
            <a:r>
              <a:rPr lang="en-US" sz="2000" b="1" dirty="0">
                <a:solidFill>
                  <a:schemeClr val="tx2"/>
                </a:solidFill>
              </a:rPr>
              <a:t>It explains why a decision is strong or weak, and scores decision quality separately from the company’s result.</a:t>
            </a:r>
            <a:endParaRPr lang="en-US" sz="20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Target users</a:t>
            </a:r>
            <a:endParaRPr lang="en-US" sz="3600" dirty="0"/>
          </a:p>
        </p:txBody>
      </p:sp>
      <p:sp>
        <p:nvSpPr>
          <p:cNvPr id="3" name="Who card"/>
          <p:cNvSpPr/>
          <p:nvPr/>
        </p:nvSpPr>
        <p:spPr>
          <a:xfrm>
            <a:off x="548640" y="1417320"/>
            <a:ext cx="6766560" cy="2980944"/>
          </a:xfrm>
          <a:prstGeom prst="roundRect">
            <a:avLst>
              <a:gd name="adj" fmla="val 3681"/>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Who badge"/>
          <p:cNvSpPr/>
          <p:nvPr/>
        </p:nvSpPr>
        <p:spPr>
          <a:xfrm>
            <a:off x="822960" y="1645920"/>
            <a:ext cx="594360" cy="594360"/>
          </a:xfrm>
          <a:prstGeom prst="ellipse">
            <a:avLst/>
          </a:prstGeom>
          <a:solidFill>
            <a:schemeClr val="accent4"/>
          </a:solidFill>
          <a:ln/>
        </p:spPr>
      </p:sp>
      <p:pic>
        <p:nvPicPr>
          <p:cNvPr id="5" name="Who icon" descr="GraduationCap icon">    </p:cNvPr>
          <p:cNvPicPr>
            <a:picLocks noChangeAspect="1"/>
          </p:cNvPicPr>
          <p:nvPr/>
        </p:nvPicPr>
        <p:blipFill>
          <a:blip r:embed="rId1"/>
          <a:stretch>
            <a:fillRect/>
          </a:stretch>
        </p:blipFill>
        <p:spPr>
          <a:xfrm>
            <a:off x="971550" y="1794510"/>
            <a:ext cx="297180" cy="297180"/>
          </a:xfrm>
          <a:prstGeom prst="rect">
            <a:avLst/>
          </a:prstGeom>
        </p:spPr>
      </p:pic>
      <p:sp>
        <p:nvSpPr>
          <p:cNvPr id="6" name="Text 3"/>
          <p:cNvSpPr txBox="1"/>
          <p:nvPr/>
        </p:nvSpPr>
        <p:spPr>
          <a:xfrm>
            <a:off x="1600200" y="1645920"/>
            <a:ext cx="5029200" cy="594360"/>
          </a:xfrm>
          <a:prstGeom prst="rect">
            <a:avLst/>
          </a:prstGeom>
          <a:noFill/>
          <a:ln/>
        </p:spPr>
        <p:txBody>
          <a:bodyPr wrap="square" lIns="0" tIns="0" rIns="0" bIns="0" rtlCol="0" anchor="ctr"/>
          <a:lstStyle/>
          <a:p>
            <a:pPr indent="0" marL="0">
              <a:buNone/>
            </a:pPr>
            <a:r>
              <a:rPr lang="en-US" sz="2400" b="1" dirty="0">
                <a:solidFill>
                  <a:schemeClr val="tx2"/>
                </a:solidFill>
              </a:rPr>
              <a:t>Who they are</a:t>
            </a:r>
            <a:endParaRPr lang="en-US" sz="2400" dirty="0"/>
          </a:p>
        </p:txBody>
      </p:sp>
      <p:sp>
        <p:nvSpPr>
          <p:cNvPr id="7" name="Text 4"/>
          <p:cNvSpPr txBox="1"/>
          <p:nvPr/>
        </p:nvSpPr>
        <p:spPr>
          <a:xfrm>
            <a:off x="822960" y="2423160"/>
            <a:ext cx="6217920" cy="1188720"/>
          </a:xfrm>
          <a:prstGeom prst="rect">
            <a:avLst/>
          </a:prstGeom>
          <a:noFill/>
          <a:ln/>
        </p:spPr>
        <p:txBody>
          <a:bodyPr wrap="square" lIns="0" tIns="0" rIns="0" bIns="0" rtlCol="0" anchor="t"/>
          <a:lstStyle/>
          <a:p>
            <a:pPr indent="0" marL="0">
              <a:buNone/>
            </a:pPr>
            <a:r>
              <a:rPr lang="en-US" sz="2000" dirty="0">
                <a:solidFill>
                  <a:schemeClr val="tx1"/>
                </a:solidFill>
              </a:rPr>
              <a:t>Finance, Banking, Accounting or Business students who know financial statements and need to practise diagnostic thinking, not just calculation.</a:t>
            </a:r>
            <a:endParaRPr lang="en-US" sz="2000" dirty="0"/>
          </a:p>
        </p:txBody>
      </p:sp>
      <p:sp>
        <p:nvSpPr>
          <p:cNvPr id="8" name="Use case chip"/>
          <p:cNvSpPr/>
          <p:nvPr/>
        </p:nvSpPr>
        <p:spPr>
          <a:xfrm>
            <a:off x="822960" y="3657600"/>
            <a:ext cx="1554480" cy="548640"/>
          </a:xfrm>
          <a:prstGeom prst="roundRect">
            <a:avLst>
              <a:gd name="adj" fmla="val 50000"/>
            </a:avLst>
          </a:prstGeom>
          <a:solidFill>
            <a:schemeClr val="accent4"/>
          </a:solidFill>
          <a:ln/>
        </p:spPr>
      </p:sp>
      <p:pic>
        <p:nvPicPr>
          <p:cNvPr id="9" name="Use case icon" descr="Studying">    </p:cNvPr>
          <p:cNvPicPr>
            <a:picLocks noChangeAspect="1"/>
          </p:cNvPicPr>
          <p:nvPr/>
        </p:nvPicPr>
        <p:blipFill>
          <a:blip r:embed="rId2"/>
          <a:stretch>
            <a:fillRect/>
          </a:stretch>
        </p:blipFill>
        <p:spPr>
          <a:xfrm>
            <a:off x="1005840" y="3794760"/>
            <a:ext cx="274320" cy="274320"/>
          </a:xfrm>
          <a:prstGeom prst="rect">
            <a:avLst/>
          </a:prstGeom>
        </p:spPr>
      </p:pic>
      <p:sp>
        <p:nvSpPr>
          <p:cNvPr id="10" name="Text 6"/>
          <p:cNvSpPr txBox="1"/>
          <p:nvPr/>
        </p:nvSpPr>
        <p:spPr>
          <a:xfrm>
            <a:off x="1389888" y="3657600"/>
            <a:ext cx="960120" cy="548640"/>
          </a:xfrm>
          <a:prstGeom prst="rect">
            <a:avLst/>
          </a:prstGeom>
          <a:noFill/>
          <a:ln/>
        </p:spPr>
        <p:txBody>
          <a:bodyPr wrap="square" lIns="0" tIns="0" rIns="0" bIns="0" rtlCol="0" anchor="ctr"/>
          <a:lstStyle/>
          <a:p>
            <a:pPr indent="0" marL="0">
              <a:buNone/>
            </a:pPr>
            <a:r>
              <a:rPr lang="en-US" sz="1600" b="1" dirty="0">
                <a:solidFill>
                  <a:schemeClr val="tx2"/>
                </a:solidFill>
              </a:rPr>
              <a:t>Studying</a:t>
            </a:r>
            <a:endParaRPr lang="en-US" sz="1600" dirty="0"/>
          </a:p>
        </p:txBody>
      </p:sp>
      <p:sp>
        <p:nvSpPr>
          <p:cNvPr id="11" name="Use case chip"/>
          <p:cNvSpPr/>
          <p:nvPr/>
        </p:nvSpPr>
        <p:spPr>
          <a:xfrm>
            <a:off x="2514600" y="3657600"/>
            <a:ext cx="2011680" cy="548640"/>
          </a:xfrm>
          <a:prstGeom prst="roundRect">
            <a:avLst>
              <a:gd name="adj" fmla="val 50000"/>
            </a:avLst>
          </a:prstGeom>
          <a:solidFill>
            <a:schemeClr val="accent4"/>
          </a:solidFill>
          <a:ln/>
        </p:spPr>
      </p:sp>
      <p:pic>
        <p:nvPicPr>
          <p:cNvPr id="12" name="Use case icon" descr="Group demos">    </p:cNvPr>
          <p:cNvPicPr>
            <a:picLocks noChangeAspect="1"/>
          </p:cNvPicPr>
          <p:nvPr/>
        </p:nvPicPr>
        <p:blipFill>
          <a:blip r:embed="rId3"/>
          <a:stretch>
            <a:fillRect/>
          </a:stretch>
        </p:blipFill>
        <p:spPr>
          <a:xfrm>
            <a:off x="2697480" y="3794760"/>
            <a:ext cx="274320" cy="274320"/>
          </a:xfrm>
          <a:prstGeom prst="rect">
            <a:avLst/>
          </a:prstGeom>
        </p:spPr>
      </p:pic>
      <p:sp>
        <p:nvSpPr>
          <p:cNvPr id="13" name="Text 8"/>
          <p:cNvSpPr txBox="1"/>
          <p:nvPr/>
        </p:nvSpPr>
        <p:spPr>
          <a:xfrm>
            <a:off x="3081528" y="3657600"/>
            <a:ext cx="1417320" cy="548640"/>
          </a:xfrm>
          <a:prstGeom prst="rect">
            <a:avLst/>
          </a:prstGeom>
          <a:noFill/>
          <a:ln/>
        </p:spPr>
        <p:txBody>
          <a:bodyPr wrap="square" lIns="0" tIns="0" rIns="0" bIns="0" rtlCol="0" anchor="ctr"/>
          <a:lstStyle/>
          <a:p>
            <a:pPr indent="0" marL="0">
              <a:buNone/>
            </a:pPr>
            <a:r>
              <a:rPr lang="en-US" sz="1600" b="1" dirty="0">
                <a:solidFill>
                  <a:schemeClr val="tx2"/>
                </a:solidFill>
              </a:rPr>
              <a:t>Group demos</a:t>
            </a:r>
            <a:endParaRPr lang="en-US" sz="1600" dirty="0"/>
          </a:p>
        </p:txBody>
      </p:sp>
      <p:sp>
        <p:nvSpPr>
          <p:cNvPr id="14" name="Use case chip"/>
          <p:cNvSpPr/>
          <p:nvPr/>
        </p:nvSpPr>
        <p:spPr>
          <a:xfrm>
            <a:off x="4663440" y="3657600"/>
            <a:ext cx="2423160" cy="548640"/>
          </a:xfrm>
          <a:prstGeom prst="roundRect">
            <a:avLst>
              <a:gd name="adj" fmla="val 50000"/>
            </a:avLst>
          </a:prstGeom>
          <a:solidFill>
            <a:schemeClr val="accent4"/>
          </a:solidFill>
          <a:ln/>
        </p:spPr>
      </p:sp>
      <p:pic>
        <p:nvPicPr>
          <p:cNvPr id="15" name="Use case icon" descr="Class discussion">    </p:cNvPr>
          <p:cNvPicPr>
            <a:picLocks noChangeAspect="1"/>
          </p:cNvPicPr>
          <p:nvPr/>
        </p:nvPicPr>
        <p:blipFill>
          <a:blip r:embed="rId4"/>
          <a:stretch>
            <a:fillRect/>
          </a:stretch>
        </p:blipFill>
        <p:spPr>
          <a:xfrm>
            <a:off x="4846320" y="3794760"/>
            <a:ext cx="274320" cy="274320"/>
          </a:xfrm>
          <a:prstGeom prst="rect">
            <a:avLst/>
          </a:prstGeom>
        </p:spPr>
      </p:pic>
      <p:sp>
        <p:nvSpPr>
          <p:cNvPr id="16" name="Text 10"/>
          <p:cNvSpPr txBox="1"/>
          <p:nvPr/>
        </p:nvSpPr>
        <p:spPr>
          <a:xfrm>
            <a:off x="5230368" y="3657600"/>
            <a:ext cx="1828800" cy="548640"/>
          </a:xfrm>
          <a:prstGeom prst="rect">
            <a:avLst/>
          </a:prstGeom>
          <a:noFill/>
          <a:ln/>
        </p:spPr>
        <p:txBody>
          <a:bodyPr wrap="square" lIns="0" tIns="0" rIns="0" bIns="0" rtlCol="0" anchor="ctr"/>
          <a:lstStyle/>
          <a:p>
            <a:pPr indent="0" marL="0">
              <a:buNone/>
            </a:pPr>
            <a:r>
              <a:rPr lang="en-US" sz="1600" b="1" dirty="0">
                <a:solidFill>
                  <a:schemeClr val="tx2"/>
                </a:solidFill>
              </a:rPr>
              <a:t>Class discussion</a:t>
            </a:r>
            <a:endParaRPr lang="en-US" sz="1600" dirty="0"/>
          </a:p>
        </p:txBody>
      </p:sp>
      <p:pic>
        <p:nvPicPr>
          <p:cNvPr id="17" name="Counselor illustration" descr="Illustrated counselor at a laptop with charts">    </p:cNvPr>
          <p:cNvPicPr>
            <a:picLocks noChangeAspect="1"/>
          </p:cNvPicPr>
          <p:nvPr/>
        </p:nvPicPr>
        <p:blipFill>
          <a:blip r:embed="rId5"/>
          <a:stretch>
            <a:fillRect/>
          </a:stretch>
        </p:blipFill>
        <p:spPr>
          <a:xfrm>
            <a:off x="7589520" y="1417320"/>
            <a:ext cx="4050792" cy="2980944"/>
          </a:xfrm>
          <a:prstGeom prst="rect">
            <a:avLst/>
          </a:prstGeom>
        </p:spPr>
      </p:pic>
      <p:sp>
        <p:nvSpPr>
          <p:cNvPr id="18" name="Text 11"/>
          <p:cNvSpPr txBox="1"/>
          <p:nvPr/>
        </p:nvSpPr>
        <p:spPr>
          <a:xfrm>
            <a:off x="548640" y="4572000"/>
            <a:ext cx="11091672" cy="365760"/>
          </a:xfrm>
          <a:prstGeom prst="rect">
            <a:avLst/>
          </a:prstGeom>
          <a:noFill/>
          <a:ln/>
        </p:spPr>
        <p:txBody>
          <a:bodyPr wrap="square" lIns="0" tIns="0" rIns="0" bIns="0" rtlCol="0" anchor="t"/>
          <a:lstStyle/>
          <a:p>
            <a:pPr indent="0" marL="0">
              <a:buNone/>
            </a:pPr>
            <a:r>
              <a:rPr lang="en-US" sz="2200" b="1" dirty="0">
                <a:solidFill>
                  <a:schemeClr val="tx2"/>
                </a:solidFill>
              </a:rPr>
              <a:t>Example: same statements, different evidence</a:t>
            </a:r>
            <a:endParaRPr lang="en-US" sz="2200" dirty="0"/>
          </a:p>
        </p:txBody>
      </p:sp>
      <p:sp>
        <p:nvSpPr>
          <p:cNvPr id="19" name="Student A card"/>
          <p:cNvSpPr/>
          <p:nvPr/>
        </p:nvSpPr>
        <p:spPr>
          <a:xfrm>
            <a:off x="548640" y="5029200"/>
            <a:ext cx="3383280" cy="1234440"/>
          </a:xfrm>
          <a:prstGeom prst="roundRect">
            <a:avLst>
              <a:gd name="adj" fmla="val 8889"/>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0" name="Text 13"/>
          <p:cNvSpPr txBox="1"/>
          <p:nvPr/>
        </p:nvSpPr>
        <p:spPr>
          <a:xfrm>
            <a:off x="777240" y="5138928"/>
            <a:ext cx="2926080" cy="320040"/>
          </a:xfrm>
          <a:prstGeom prst="rect">
            <a:avLst/>
          </a:prstGeom>
          <a:noFill/>
          <a:ln/>
        </p:spPr>
        <p:txBody>
          <a:bodyPr wrap="square" lIns="0" tIns="0" rIns="0" bIns="0" rtlCol="0" anchor="t"/>
          <a:lstStyle/>
          <a:p>
            <a:pPr indent="0" marL="0">
              <a:buNone/>
            </a:pPr>
            <a:r>
              <a:rPr lang="en-US" sz="1800" b="1" dirty="0">
                <a:solidFill>
                  <a:schemeClr val="accent2"/>
                </a:solidFill>
              </a:rPr>
              <a:t>Student A</a:t>
            </a:r>
            <a:endParaRPr lang="en-US" sz="1800" dirty="0"/>
          </a:p>
        </p:txBody>
      </p:sp>
      <p:sp>
        <p:nvSpPr>
          <p:cNvPr id="21" name="Text 14"/>
          <p:cNvSpPr txBox="1"/>
          <p:nvPr/>
        </p:nvSpPr>
        <p:spPr>
          <a:xfrm>
            <a:off x="777240" y="5468112"/>
            <a:ext cx="2926080" cy="731520"/>
          </a:xfrm>
          <a:prstGeom prst="rect">
            <a:avLst/>
          </a:prstGeom>
          <a:noFill/>
          <a:ln/>
        </p:spPr>
        <p:txBody>
          <a:bodyPr wrap="square" lIns="0" tIns="0" rIns="0" bIns="0" rtlCol="0" anchor="t"/>
          <a:lstStyle/>
          <a:p>
            <a:pPr indent="0" marL="0">
              <a:buNone/>
            </a:pPr>
            <a:r>
              <a:rPr lang="en-US" sz="1800" dirty="0">
                <a:solidFill>
                  <a:schemeClr val="tx1"/>
                </a:solidFill>
              </a:rPr>
              <a:t>Sees falling revenue → cuts costs</a:t>
            </a:r>
            <a:endParaRPr lang="en-US" sz="1800" dirty="0"/>
          </a:p>
        </p:txBody>
      </p:sp>
      <p:sp>
        <p:nvSpPr>
          <p:cNvPr id="22" name="Student B card"/>
          <p:cNvSpPr/>
          <p:nvPr/>
        </p:nvSpPr>
        <p:spPr>
          <a:xfrm>
            <a:off x="4389120" y="5029200"/>
            <a:ext cx="3383280" cy="1234440"/>
          </a:xfrm>
          <a:prstGeom prst="roundRect">
            <a:avLst>
              <a:gd name="adj" fmla="val 8889"/>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3" name="Text 16"/>
          <p:cNvSpPr txBox="1"/>
          <p:nvPr/>
        </p:nvSpPr>
        <p:spPr>
          <a:xfrm>
            <a:off x="4617720" y="5138928"/>
            <a:ext cx="2926080" cy="320040"/>
          </a:xfrm>
          <a:prstGeom prst="rect">
            <a:avLst/>
          </a:prstGeom>
          <a:noFill/>
          <a:ln/>
        </p:spPr>
        <p:txBody>
          <a:bodyPr wrap="square" lIns="0" tIns="0" rIns="0" bIns="0" rtlCol="0" anchor="t"/>
          <a:lstStyle/>
          <a:p>
            <a:pPr indent="0" marL="0">
              <a:buNone/>
            </a:pPr>
            <a:r>
              <a:rPr lang="en-US" sz="1800" b="1" dirty="0">
                <a:solidFill>
                  <a:schemeClr val="accent2"/>
                </a:solidFill>
              </a:rPr>
              <a:t>Student B</a:t>
            </a:r>
            <a:endParaRPr lang="en-US" sz="1800" dirty="0"/>
          </a:p>
        </p:txBody>
      </p:sp>
      <p:sp>
        <p:nvSpPr>
          <p:cNvPr id="24" name="Text 17"/>
          <p:cNvSpPr txBox="1"/>
          <p:nvPr/>
        </p:nvSpPr>
        <p:spPr>
          <a:xfrm>
            <a:off x="4617720" y="5468112"/>
            <a:ext cx="2926080" cy="731520"/>
          </a:xfrm>
          <a:prstGeom prst="rect">
            <a:avLst/>
          </a:prstGeom>
          <a:noFill/>
          <a:ln/>
        </p:spPr>
        <p:txBody>
          <a:bodyPr wrap="square" lIns="0" tIns="0" rIns="0" bIns="0" rtlCol="0" anchor="t"/>
          <a:lstStyle/>
          <a:p>
            <a:pPr indent="0" marL="0">
              <a:buNone/>
            </a:pPr>
            <a:r>
              <a:rPr lang="en-US" sz="1800" dirty="0">
                <a:solidFill>
                  <a:schemeClr val="tx1"/>
                </a:solidFill>
              </a:rPr>
              <a:t>Sees interest pressure → restructures debt</a:t>
            </a:r>
            <a:endParaRPr lang="en-US" sz="1800" dirty="0"/>
          </a:p>
        </p:txBody>
      </p:sp>
      <p:sp>
        <p:nvSpPr>
          <p:cNvPr id="25" name="In class card"/>
          <p:cNvSpPr/>
          <p:nvPr/>
        </p:nvSpPr>
        <p:spPr>
          <a:xfrm>
            <a:off x="8229600" y="5029200"/>
            <a:ext cx="3383280" cy="1234440"/>
          </a:xfrm>
          <a:prstGeom prst="roundRect">
            <a:avLst>
              <a:gd name="adj" fmla="val 8889"/>
            </a:avLst>
          </a:prstGeom>
          <a:solidFill>
            <a:schemeClr val="tx2"/>
          </a:solidFill>
          <a:ln/>
          <a:effectLst>
            <a:outerShdw sx="100000" sy="100000" kx="0" ky="0" algn="bl" rotWithShape="0" blurRad="101600" dist="25400" dir="5400000">
              <a:srgbClr val="0D2146">
                <a:alpha val="14000"/>
              </a:srgbClr>
            </a:outerShdw>
          </a:effectLst>
        </p:spPr>
      </p:sp>
      <p:sp>
        <p:nvSpPr>
          <p:cNvPr id="26" name="Text 19"/>
          <p:cNvSpPr txBox="1"/>
          <p:nvPr/>
        </p:nvSpPr>
        <p:spPr>
          <a:xfrm>
            <a:off x="8458200" y="5138928"/>
            <a:ext cx="2926080" cy="320040"/>
          </a:xfrm>
          <a:prstGeom prst="rect">
            <a:avLst/>
          </a:prstGeom>
          <a:noFill/>
          <a:ln/>
        </p:spPr>
        <p:txBody>
          <a:bodyPr wrap="square" lIns="0" tIns="0" rIns="0" bIns="0" rtlCol="0" anchor="t"/>
          <a:lstStyle/>
          <a:p>
            <a:pPr indent="0" marL="0">
              <a:buNone/>
            </a:pPr>
            <a:r>
              <a:rPr lang="en-US" sz="1800" b="1" dirty="0">
                <a:solidFill>
                  <a:schemeClr val="accent5"/>
                </a:solidFill>
              </a:rPr>
              <a:t>In class</a:t>
            </a:r>
            <a:endParaRPr lang="en-US" sz="1800" dirty="0"/>
          </a:p>
        </p:txBody>
      </p:sp>
      <p:sp>
        <p:nvSpPr>
          <p:cNvPr id="27" name="Text 20"/>
          <p:cNvSpPr txBox="1"/>
          <p:nvPr/>
        </p:nvSpPr>
        <p:spPr>
          <a:xfrm>
            <a:off x="8458200" y="5468112"/>
            <a:ext cx="2926080" cy="731520"/>
          </a:xfrm>
          <a:prstGeom prst="rect">
            <a:avLst/>
          </a:prstGeom>
          <a:noFill/>
          <a:ln/>
        </p:spPr>
        <p:txBody>
          <a:bodyPr wrap="square" lIns="0" tIns="0" rIns="0" bIns="0" rtlCol="0" anchor="t"/>
          <a:lstStyle/>
          <a:p>
            <a:pPr indent="0" marL="0">
              <a:buNone/>
            </a:pPr>
            <a:r>
              <a:rPr lang="en-US" sz="1800" dirty="0">
                <a:solidFill>
                  <a:schemeClr val="bg1"/>
                </a:solidFill>
              </a:rPr>
              <a:t>Compare the reasoning behind each choice</a:t>
            </a:r>
            <a:endParaRPr lang="en-US" sz="1800" dirty="0"/>
          </a:p>
        </p:txBody>
      </p:sp>
      <p:sp>
        <p:nvSpPr>
          <p:cNvPr id="28" name="Versus badge"/>
          <p:cNvSpPr/>
          <p:nvPr/>
        </p:nvSpPr>
        <p:spPr>
          <a:xfrm>
            <a:off x="4023360" y="5440680"/>
            <a:ext cx="457200" cy="457200"/>
          </a:xfrm>
          <a:prstGeom prst="ellipse">
            <a:avLst/>
          </a:prstGeom>
          <a:solidFill>
            <a:schemeClr val="accent3"/>
          </a:solidFill>
          <a:ln/>
        </p:spPr>
      </p:sp>
      <p:pic>
        <p:nvPicPr>
          <p:cNvPr id="29" name="Versus icon" descr="Random icon">    </p:cNvPr>
          <p:cNvPicPr>
            <a:picLocks noChangeAspect="1"/>
          </p:cNvPicPr>
          <p:nvPr/>
        </p:nvPicPr>
        <p:blipFill>
          <a:blip r:embed="rId6"/>
          <a:stretch>
            <a:fillRect/>
          </a:stretch>
        </p:blipFill>
        <p:spPr>
          <a:xfrm>
            <a:off x="4137660" y="5554980"/>
            <a:ext cx="228600" cy="228600"/>
          </a:xfrm>
          <a:prstGeom prst="rect">
            <a:avLst/>
          </a:prstGeom>
        </p:spPr>
      </p:pic>
      <p:sp>
        <p:nvSpPr>
          <p:cNvPr id="30" name="To class badge"/>
          <p:cNvSpPr/>
          <p:nvPr/>
        </p:nvSpPr>
        <p:spPr>
          <a:xfrm>
            <a:off x="7772400" y="5440680"/>
            <a:ext cx="457200" cy="457200"/>
          </a:xfrm>
          <a:prstGeom prst="ellipse">
            <a:avLst/>
          </a:prstGeom>
          <a:solidFill>
            <a:schemeClr val="accent3"/>
          </a:solidFill>
          <a:ln/>
        </p:spPr>
      </p:sp>
      <p:pic>
        <p:nvPicPr>
          <p:cNvPr id="31" name="To class icon" descr="ArrowRight icon">    </p:cNvPr>
          <p:cNvPicPr>
            <a:picLocks noChangeAspect="1"/>
          </p:cNvPicPr>
          <p:nvPr/>
        </p:nvPicPr>
        <p:blipFill>
          <a:blip r:embed="rId7"/>
          <a:stretch>
            <a:fillRect/>
          </a:stretch>
        </p:blipFill>
        <p:spPr>
          <a:xfrm>
            <a:off x="7886700" y="5554980"/>
            <a:ext cx="228600" cy="228600"/>
          </a:xfrm>
          <a:prstGeom prst="rect">
            <a:avLst/>
          </a:prstGeom>
        </p:spPr>
      </p:pic>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What the product can currently do</a:t>
            </a:r>
            <a:endParaRPr lang="en-US" sz="3600" dirty="0"/>
          </a:p>
        </p:txBody>
      </p:sp>
      <p:pic>
        <p:nvPicPr>
          <p:cNvPr id="3" name="Case screenshot" descr="Client file screen for Toy Kingdom Inc., the Anderson family">    </p:cNvPr>
          <p:cNvPicPr>
            <a:picLocks noChangeAspect="1"/>
          </p:cNvPicPr>
          <p:nvPr/>
        </p:nvPicPr>
        <p:blipFill>
          <a:blip r:embed="rId1"/>
          <a:stretch>
            <a:fillRect/>
          </a:stretch>
        </p:blipFill>
        <p:spPr>
          <a:xfrm>
            <a:off x="548640" y="1417320"/>
            <a:ext cx="5760720" cy="3136392"/>
          </a:xfrm>
          <a:prstGeom prst="rect">
            <a:avLst/>
          </a:prstGeom>
          <a:effectLst>
            <a:outerShdw sx="100000" sy="100000" kx="0" ky="0" algn="bl" rotWithShape="0" blurRad="101600" dist="25400" dir="5400000">
              <a:srgbClr val="0D2146">
                <a:alpha val="14000"/>
              </a:srgbClr>
            </a:outerShdw>
          </a:effectLst>
        </p:spPr>
      </p:pic>
      <p:sp>
        <p:nvSpPr>
          <p:cNvPr id="4" name="Case caption"/>
          <p:cNvSpPr/>
          <p:nvPr/>
        </p:nvSpPr>
        <p:spPr>
          <a:xfrm>
            <a:off x="548640" y="4800600"/>
            <a:ext cx="5760720" cy="1417320"/>
          </a:xfrm>
          <a:prstGeom prst="roundRect">
            <a:avLst>
              <a:gd name="adj" fmla="val 7742"/>
            </a:avLst>
          </a:prstGeom>
          <a:solidFill>
            <a:schemeClr val="tx2"/>
          </a:solidFill>
          <a:ln/>
          <a:effectLst>
            <a:outerShdw sx="100000" sy="100000" kx="0" ky="0" algn="bl" rotWithShape="0" blurRad="101600" dist="25400" dir="5400000">
              <a:srgbClr val="0D2146">
                <a:alpha val="14000"/>
              </a:srgbClr>
            </a:outerShdw>
          </a:effectLst>
        </p:spPr>
      </p:sp>
      <p:sp>
        <p:nvSpPr>
          <p:cNvPr id="5" name="Text 2"/>
          <p:cNvSpPr txBox="1"/>
          <p:nvPr/>
        </p:nvSpPr>
        <p:spPr>
          <a:xfrm>
            <a:off x="822960" y="4937760"/>
            <a:ext cx="5212080" cy="457200"/>
          </a:xfrm>
          <a:prstGeom prst="rect">
            <a:avLst/>
          </a:prstGeom>
          <a:noFill/>
          <a:ln/>
        </p:spPr>
        <p:txBody>
          <a:bodyPr wrap="square" lIns="0" tIns="0" rIns="0" bIns="0" rtlCol="0" anchor="t"/>
          <a:lstStyle/>
          <a:p>
            <a:pPr indent="0" marL="0">
              <a:buNone/>
            </a:pPr>
            <a:r>
              <a:rPr lang="en-US" sz="2400" b="1" dirty="0">
                <a:solidFill>
                  <a:schemeClr val="bg1"/>
                </a:solidFill>
              </a:rPr>
              <a:t>Case #01 · Toy Kingdom Inc.</a:t>
            </a:r>
            <a:endParaRPr lang="en-US" sz="2400" dirty="0"/>
          </a:p>
        </p:txBody>
      </p:sp>
      <p:sp>
        <p:nvSpPr>
          <p:cNvPr id="6" name="Text 3"/>
          <p:cNvSpPr txBox="1"/>
          <p:nvPr/>
        </p:nvSpPr>
        <p:spPr>
          <a:xfrm>
            <a:off x="822960" y="5440680"/>
            <a:ext cx="5212080" cy="365760"/>
          </a:xfrm>
          <a:prstGeom prst="rect">
            <a:avLst/>
          </a:prstGeom>
          <a:noFill/>
          <a:ln/>
        </p:spPr>
        <p:txBody>
          <a:bodyPr wrap="square" lIns="0" tIns="0" rIns="0" bIns="0" rtlCol="0" anchor="t"/>
          <a:lstStyle/>
          <a:p>
            <a:pPr indent="0" marL="0">
              <a:buNone/>
            </a:pPr>
            <a:r>
              <a:rPr lang="en-US" sz="2000" dirty="0">
                <a:solidFill>
                  <a:schemeClr val="accent4"/>
                </a:solidFill>
              </a:rPr>
              <a:t>Fictional, inspired by Toys “R” Us</a:t>
            </a:r>
            <a:endParaRPr lang="en-US" sz="2000" dirty="0"/>
          </a:p>
        </p:txBody>
      </p:sp>
      <p:sp>
        <p:nvSpPr>
          <p:cNvPr id="7" name="Text 4"/>
          <p:cNvSpPr txBox="1"/>
          <p:nvPr/>
        </p:nvSpPr>
        <p:spPr>
          <a:xfrm>
            <a:off x="822960" y="5806440"/>
            <a:ext cx="5212080" cy="320040"/>
          </a:xfrm>
          <a:prstGeom prst="rect">
            <a:avLst/>
          </a:prstGeom>
          <a:noFill/>
          <a:ln/>
        </p:spPr>
        <p:txBody>
          <a:bodyPr wrap="square" lIns="0" tIns="0" rIns="0" bIns="0" rtlCol="0" anchor="t"/>
          <a:lstStyle/>
          <a:p>
            <a:pPr indent="0" marL="0">
              <a:buNone/>
            </a:pPr>
            <a:r>
              <a:rPr lang="en-US" sz="1600" dirty="0">
                <a:solidFill>
                  <a:schemeClr val="accent3"/>
                </a:solidFill>
              </a:rPr>
              <a:t>Full playthrough, intake to assessment</a:t>
            </a:r>
            <a:endParaRPr lang="en-US" sz="1600" dirty="0"/>
          </a:p>
        </p:txBody>
      </p:sp>
      <p:sp>
        <p:nvSpPr>
          <p:cNvPr id="8" name="Fact card 1"/>
          <p:cNvSpPr/>
          <p:nvPr/>
        </p:nvSpPr>
        <p:spPr>
          <a:xfrm>
            <a:off x="6629400" y="1417320"/>
            <a:ext cx="5010912"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9" name="Fact 1 badge"/>
          <p:cNvSpPr/>
          <p:nvPr/>
        </p:nvSpPr>
        <p:spPr>
          <a:xfrm>
            <a:off x="6858000" y="1828800"/>
            <a:ext cx="640080" cy="640080"/>
          </a:xfrm>
          <a:prstGeom prst="ellipse">
            <a:avLst/>
          </a:prstGeom>
          <a:solidFill>
            <a:schemeClr val="accent4"/>
          </a:solidFill>
          <a:ln/>
        </p:spPr>
      </p:sp>
      <p:pic>
        <p:nvPicPr>
          <p:cNvPr id="10" name="Fact 1 icon" descr="LayerGroup icon">    </p:cNvPr>
          <p:cNvPicPr>
            <a:picLocks noChangeAspect="1"/>
          </p:cNvPicPr>
          <p:nvPr/>
        </p:nvPicPr>
        <p:blipFill>
          <a:blip r:embed="rId2"/>
          <a:stretch>
            <a:fillRect/>
          </a:stretch>
        </p:blipFill>
        <p:spPr>
          <a:xfrm>
            <a:off x="7018020" y="1988820"/>
            <a:ext cx="320040" cy="320040"/>
          </a:xfrm>
          <a:prstGeom prst="rect">
            <a:avLst/>
          </a:prstGeom>
        </p:spPr>
      </p:pic>
      <p:sp>
        <p:nvSpPr>
          <p:cNvPr id="11" name="Text 7"/>
          <p:cNvSpPr txBox="1"/>
          <p:nvPr/>
        </p:nvSpPr>
        <p:spPr>
          <a:xfrm>
            <a:off x="7680960" y="1554480"/>
            <a:ext cx="3840480" cy="457200"/>
          </a:xfrm>
          <a:prstGeom prst="rect">
            <a:avLst/>
          </a:prstGeom>
          <a:noFill/>
          <a:ln/>
        </p:spPr>
        <p:txBody>
          <a:bodyPr wrap="square" lIns="0" tIns="0" rIns="0" bIns="0" rtlCol="0" anchor="ctr"/>
          <a:lstStyle/>
          <a:p>
            <a:pPr indent="0" marL="0">
              <a:buNone/>
            </a:pPr>
            <a:r>
              <a:rPr lang="en-US" sz="2200" b="1" dirty="0">
                <a:solidFill>
                  <a:schemeClr val="tx2"/>
                </a:solidFill>
              </a:rPr>
              <a:t>13 screens · 6 stages</a:t>
            </a:r>
            <a:endParaRPr lang="en-US" sz="2200" dirty="0"/>
          </a:p>
        </p:txBody>
      </p:sp>
      <p:sp>
        <p:nvSpPr>
          <p:cNvPr id="12" name="Text 8"/>
          <p:cNvSpPr txBox="1"/>
          <p:nvPr/>
        </p:nvSpPr>
        <p:spPr>
          <a:xfrm>
            <a:off x="7680960" y="2039112"/>
            <a:ext cx="3840480" cy="777240"/>
          </a:xfrm>
          <a:prstGeom prst="rect">
            <a:avLst/>
          </a:prstGeom>
          <a:noFill/>
          <a:ln/>
        </p:spPr>
        <p:txBody>
          <a:bodyPr wrap="square" lIns="0" tIns="0" rIns="0" bIns="0" rtlCol="0" anchor="t"/>
          <a:lstStyle/>
          <a:p>
            <a:pPr indent="0" marL="0">
              <a:buNone/>
            </a:pPr>
            <a:r>
              <a:rPr lang="en-US" sz="1600" dirty="0">
                <a:solidFill>
                  <a:schemeClr val="accent2"/>
                </a:solidFill>
              </a:rPr>
              <a:t>From Client Intake &amp; Investigation to Final Assessment</a:t>
            </a:r>
            <a:endParaRPr lang="en-US" sz="1600" dirty="0"/>
          </a:p>
        </p:txBody>
      </p:sp>
      <p:sp>
        <p:nvSpPr>
          <p:cNvPr id="13" name="Fact card 2"/>
          <p:cNvSpPr/>
          <p:nvPr/>
        </p:nvSpPr>
        <p:spPr>
          <a:xfrm>
            <a:off x="6629400" y="3063240"/>
            <a:ext cx="5010912"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Fact 2 badge"/>
          <p:cNvSpPr/>
          <p:nvPr/>
        </p:nvSpPr>
        <p:spPr>
          <a:xfrm>
            <a:off x="6858000" y="3474720"/>
            <a:ext cx="640080" cy="640080"/>
          </a:xfrm>
          <a:prstGeom prst="ellipse">
            <a:avLst/>
          </a:prstGeom>
          <a:solidFill>
            <a:schemeClr val="accent4"/>
          </a:solidFill>
          <a:ln/>
        </p:spPr>
      </p:sp>
      <p:pic>
        <p:nvPicPr>
          <p:cNvPr id="15" name="Fact 2 icon" descr="Lock icon">    </p:cNvPr>
          <p:cNvPicPr>
            <a:picLocks noChangeAspect="1"/>
          </p:cNvPicPr>
          <p:nvPr/>
        </p:nvPicPr>
        <p:blipFill>
          <a:blip r:embed="rId3"/>
          <a:stretch>
            <a:fillRect/>
          </a:stretch>
        </p:blipFill>
        <p:spPr>
          <a:xfrm>
            <a:off x="7018020" y="3634740"/>
            <a:ext cx="320040" cy="320040"/>
          </a:xfrm>
          <a:prstGeom prst="rect">
            <a:avLst/>
          </a:prstGeom>
        </p:spPr>
      </p:pic>
      <p:sp>
        <p:nvSpPr>
          <p:cNvPr id="16" name="Text 11"/>
          <p:cNvSpPr txBox="1"/>
          <p:nvPr/>
        </p:nvSpPr>
        <p:spPr>
          <a:xfrm>
            <a:off x="7680960" y="3200400"/>
            <a:ext cx="3840480" cy="457200"/>
          </a:xfrm>
          <a:prstGeom prst="rect">
            <a:avLst/>
          </a:prstGeom>
          <a:noFill/>
          <a:ln/>
        </p:spPr>
        <p:txBody>
          <a:bodyPr wrap="square" lIns="0" tIns="0" rIns="0" bIns="0" rtlCol="0" anchor="ctr"/>
          <a:lstStyle/>
          <a:p>
            <a:pPr indent="0" marL="0">
              <a:buNone/>
            </a:pPr>
            <a:r>
              <a:rPr lang="en-US" sz="2200" b="1" dirty="0">
                <a:solidFill>
                  <a:schemeClr val="tx2"/>
                </a:solidFill>
              </a:rPr>
              <a:t>3 of 7 files</a:t>
            </a:r>
            <a:endParaRPr lang="en-US" sz="2200" dirty="0"/>
          </a:p>
        </p:txBody>
      </p:sp>
      <p:sp>
        <p:nvSpPr>
          <p:cNvPr id="17" name="Text 12"/>
          <p:cNvSpPr txBox="1"/>
          <p:nvPr/>
        </p:nvSpPr>
        <p:spPr>
          <a:xfrm>
            <a:off x="7680960" y="3685032"/>
            <a:ext cx="3840480" cy="777240"/>
          </a:xfrm>
          <a:prstGeom prst="rect">
            <a:avLst/>
          </a:prstGeom>
          <a:noFill/>
          <a:ln/>
        </p:spPr>
        <p:txBody>
          <a:bodyPr wrap="square" lIns="0" tIns="0" rIns="0" bIns="0" rtlCol="0" anchor="t"/>
          <a:lstStyle/>
          <a:p>
            <a:pPr indent="0" marL="0">
              <a:buNone/>
            </a:pPr>
            <a:r>
              <a:rPr lang="en-US" sz="1600" dirty="0">
                <a:solidFill>
                  <a:schemeClr val="accent2"/>
                </a:solidFill>
              </a:rPr>
              <a:t>Plus 2 follow-ups and 1 final question; the rest stay locked</a:t>
            </a:r>
            <a:endParaRPr lang="en-US" sz="1600" dirty="0"/>
          </a:p>
        </p:txBody>
      </p:sp>
      <p:sp>
        <p:nvSpPr>
          <p:cNvPr id="18" name="Fact card 3"/>
          <p:cNvSpPr/>
          <p:nvPr/>
        </p:nvSpPr>
        <p:spPr>
          <a:xfrm>
            <a:off x="6629400" y="4709160"/>
            <a:ext cx="5010912"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9" name="Fact 3 badge"/>
          <p:cNvSpPr/>
          <p:nvPr/>
        </p:nvSpPr>
        <p:spPr>
          <a:xfrm>
            <a:off x="6858000" y="5120640"/>
            <a:ext cx="640080" cy="640080"/>
          </a:xfrm>
          <a:prstGeom prst="ellipse">
            <a:avLst/>
          </a:prstGeom>
          <a:solidFill>
            <a:schemeClr val="accent4"/>
          </a:solidFill>
          <a:ln/>
        </p:spPr>
      </p:sp>
      <p:pic>
        <p:nvPicPr>
          <p:cNvPr id="20" name="Fact 3 icon" descr="Database icon">    </p:cNvPr>
          <p:cNvPicPr>
            <a:picLocks noChangeAspect="1"/>
          </p:cNvPicPr>
          <p:nvPr/>
        </p:nvPicPr>
        <p:blipFill>
          <a:blip r:embed="rId4"/>
          <a:stretch>
            <a:fillRect/>
          </a:stretch>
        </p:blipFill>
        <p:spPr>
          <a:xfrm>
            <a:off x="7018020" y="5280660"/>
            <a:ext cx="320040" cy="320040"/>
          </a:xfrm>
          <a:prstGeom prst="rect">
            <a:avLst/>
          </a:prstGeom>
        </p:spPr>
      </p:pic>
      <p:sp>
        <p:nvSpPr>
          <p:cNvPr id="21" name="Text 15"/>
          <p:cNvSpPr txBox="1"/>
          <p:nvPr/>
        </p:nvSpPr>
        <p:spPr>
          <a:xfrm>
            <a:off x="7680960" y="4846320"/>
            <a:ext cx="3840480" cy="457200"/>
          </a:xfrm>
          <a:prstGeom prst="rect">
            <a:avLst/>
          </a:prstGeom>
          <a:noFill/>
          <a:ln/>
        </p:spPr>
        <p:txBody>
          <a:bodyPr wrap="square" lIns="0" tIns="0" rIns="0" bIns="0" rtlCol="0" anchor="ctr"/>
          <a:lstStyle/>
          <a:p>
            <a:pPr indent="0" marL="0">
              <a:buNone/>
            </a:pPr>
            <a:r>
              <a:rPr lang="en-US" sz="2200" b="1" dirty="0">
                <a:solidFill>
                  <a:schemeClr val="tx2"/>
                </a:solidFill>
              </a:rPr>
              <a:t>Sourced data S01–S03</a:t>
            </a:r>
            <a:endParaRPr lang="en-US" sz="2200" dirty="0"/>
          </a:p>
        </p:txBody>
      </p:sp>
      <p:sp>
        <p:nvSpPr>
          <p:cNvPr id="22" name="Text 16"/>
          <p:cNvSpPr txBox="1"/>
          <p:nvPr/>
        </p:nvSpPr>
        <p:spPr>
          <a:xfrm>
            <a:off x="7680960" y="5330952"/>
            <a:ext cx="3840480" cy="777240"/>
          </a:xfrm>
          <a:prstGeom prst="rect">
            <a:avLst/>
          </a:prstGeom>
          <a:noFill/>
          <a:ln/>
        </p:spPr>
        <p:txBody>
          <a:bodyPr wrap="square" lIns="0" tIns="0" rIns="0" bIns="0" rtlCol="0" anchor="t"/>
          <a:lstStyle/>
          <a:p>
            <a:pPr indent="0" marL="0">
              <a:buNone/>
            </a:pPr>
            <a:r>
              <a:rPr lang="en-US" sz="1600" dirty="0">
                <a:solidFill>
                  <a:schemeClr val="accent2"/>
                </a:solidFill>
              </a:rPr>
              <a:t>10-K, earnings release, 2005 sale-leaseback. Fiction: A01–A10</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What the product can currently do (2)</a:t>
            </a:r>
            <a:endParaRPr lang="en-US" sz="3600" dirty="0"/>
          </a:p>
        </p:txBody>
      </p:sp>
      <p:sp>
        <p:nvSpPr>
          <p:cNvPr id="3" name="Diagnosis &amp; treatment tile"/>
          <p:cNvSpPr/>
          <p:nvPr/>
        </p:nvSpPr>
        <p:spPr>
          <a:xfrm>
            <a:off x="548640" y="141732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Diagnosis &amp; treatment badge"/>
          <p:cNvSpPr/>
          <p:nvPr/>
        </p:nvSpPr>
        <p:spPr>
          <a:xfrm>
            <a:off x="777240" y="1645920"/>
            <a:ext cx="594360" cy="594360"/>
          </a:xfrm>
          <a:prstGeom prst="ellipse">
            <a:avLst/>
          </a:prstGeom>
          <a:solidFill>
            <a:schemeClr val="accent4"/>
          </a:solidFill>
          <a:ln/>
        </p:spPr>
      </p:sp>
      <p:pic>
        <p:nvPicPr>
          <p:cNvPr id="5" name="Diagnosis &amp; treatment icon" descr="Stethoscope icon">    </p:cNvPr>
          <p:cNvPicPr>
            <a:picLocks noChangeAspect="1"/>
          </p:cNvPicPr>
          <p:nvPr/>
        </p:nvPicPr>
        <p:blipFill>
          <a:blip r:embed="rId1"/>
          <a:stretch>
            <a:fillRect/>
          </a:stretch>
        </p:blipFill>
        <p:spPr>
          <a:xfrm>
            <a:off x="925830" y="1794510"/>
            <a:ext cx="297180" cy="297180"/>
          </a:xfrm>
          <a:prstGeom prst="rect">
            <a:avLst/>
          </a:prstGeom>
        </p:spPr>
      </p:pic>
      <p:sp>
        <p:nvSpPr>
          <p:cNvPr id="6" name="Text 3"/>
          <p:cNvSpPr txBox="1"/>
          <p:nvPr/>
        </p:nvSpPr>
        <p:spPr>
          <a:xfrm>
            <a:off x="1508760"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Diagnosis &amp; treatment</a:t>
            </a:r>
            <a:endParaRPr lang="en-US" sz="2000" dirty="0"/>
          </a:p>
        </p:txBody>
      </p:sp>
      <p:sp>
        <p:nvSpPr>
          <p:cNvPr id="7" name="Text 4"/>
          <p:cNvSpPr txBox="1"/>
          <p:nvPr/>
        </p:nvSpPr>
        <p:spPr>
          <a:xfrm>
            <a:off x="777240" y="2423160"/>
            <a:ext cx="3063240" cy="1051560"/>
          </a:xfrm>
          <a:prstGeom prst="rect">
            <a:avLst/>
          </a:prstGeom>
          <a:noFill/>
          <a:ln/>
        </p:spPr>
        <p:txBody>
          <a:bodyPr wrap="square" lIns="0" tIns="0" rIns="0" bIns="0" rtlCol="0" anchor="t"/>
          <a:lstStyle/>
          <a:p>
            <a:pPr indent="0" marL="0">
              <a:buNone/>
            </a:pPr>
            <a:r>
              <a:rPr lang="en-US" sz="1800" dirty="0">
                <a:solidFill>
                  <a:schemeClr val="tx1"/>
                </a:solidFill>
              </a:rPr>
              <a:t>1 diagnosis, 1 treatment, 1 timing and 3 stakeholder priorities</a:t>
            </a:r>
            <a:endParaRPr lang="en-US" sz="1800" dirty="0"/>
          </a:p>
        </p:txBody>
      </p:sp>
      <p:sp>
        <p:nvSpPr>
          <p:cNvPr id="8" name="Rule-based consequences tile"/>
          <p:cNvSpPr/>
          <p:nvPr/>
        </p:nvSpPr>
        <p:spPr>
          <a:xfrm>
            <a:off x="4334256" y="1417320"/>
            <a:ext cx="3520440" cy="2194560"/>
          </a:xfrm>
          <a:prstGeom prst="roundRect">
            <a:avLst>
              <a:gd name="adj" fmla="val 5000"/>
            </a:avLst>
          </a:prstGeom>
          <a:solidFill>
            <a:schemeClr val="tx2"/>
          </a:solidFill>
          <a:ln/>
          <a:effectLst>
            <a:outerShdw sx="100000" sy="100000" kx="0" ky="0" algn="bl" rotWithShape="0" blurRad="101600" dist="25400" dir="5400000">
              <a:srgbClr val="0D2146">
                <a:alpha val="14000"/>
              </a:srgbClr>
            </a:outerShdw>
          </a:effectLst>
        </p:spPr>
      </p:sp>
      <p:sp>
        <p:nvSpPr>
          <p:cNvPr id="9" name="Rule-based consequences badge"/>
          <p:cNvSpPr/>
          <p:nvPr/>
        </p:nvSpPr>
        <p:spPr>
          <a:xfrm>
            <a:off x="4562856" y="1645920"/>
            <a:ext cx="594360" cy="594360"/>
          </a:xfrm>
          <a:prstGeom prst="ellipse">
            <a:avLst/>
          </a:prstGeom>
          <a:solidFill>
            <a:schemeClr val="accent1"/>
          </a:solidFill>
          <a:ln/>
        </p:spPr>
      </p:sp>
      <p:pic>
        <p:nvPicPr>
          <p:cNvPr id="10" name="Rule-based consequences icon" descr="ProjectDiagram icon">    </p:cNvPr>
          <p:cNvPicPr>
            <a:picLocks noChangeAspect="1"/>
          </p:cNvPicPr>
          <p:nvPr/>
        </p:nvPicPr>
        <p:blipFill>
          <a:blip r:embed="rId2"/>
          <a:stretch>
            <a:fillRect/>
          </a:stretch>
        </p:blipFill>
        <p:spPr>
          <a:xfrm>
            <a:off x="4711446" y="1794510"/>
            <a:ext cx="297180" cy="297180"/>
          </a:xfrm>
          <a:prstGeom prst="rect">
            <a:avLst/>
          </a:prstGeom>
        </p:spPr>
      </p:pic>
      <p:sp>
        <p:nvSpPr>
          <p:cNvPr id="11" name="Text 7"/>
          <p:cNvSpPr txBox="1"/>
          <p:nvPr/>
        </p:nvSpPr>
        <p:spPr>
          <a:xfrm>
            <a:off x="5294376" y="1645920"/>
            <a:ext cx="2377440" cy="594360"/>
          </a:xfrm>
          <a:prstGeom prst="rect">
            <a:avLst/>
          </a:prstGeom>
          <a:noFill/>
          <a:ln/>
        </p:spPr>
        <p:txBody>
          <a:bodyPr wrap="square" lIns="0" tIns="0" rIns="0" bIns="0" rtlCol="0" anchor="ctr"/>
          <a:lstStyle/>
          <a:p>
            <a:pPr indent="0" marL="0">
              <a:buNone/>
            </a:pPr>
            <a:r>
              <a:rPr lang="en-US" sz="2000" b="1" dirty="0">
                <a:solidFill>
                  <a:schemeClr val="bg1"/>
                </a:solidFill>
              </a:rPr>
              <a:t>Rule-based consequences</a:t>
            </a:r>
            <a:endParaRPr lang="en-US" sz="2000" dirty="0"/>
          </a:p>
        </p:txBody>
      </p:sp>
      <p:sp>
        <p:nvSpPr>
          <p:cNvPr id="12" name="Text 8"/>
          <p:cNvSpPr txBox="1"/>
          <p:nvPr/>
        </p:nvSpPr>
        <p:spPr>
          <a:xfrm>
            <a:off x="4562856" y="2423160"/>
            <a:ext cx="3063240" cy="1051560"/>
          </a:xfrm>
          <a:prstGeom prst="rect">
            <a:avLst/>
          </a:prstGeom>
          <a:noFill/>
          <a:ln/>
        </p:spPr>
        <p:txBody>
          <a:bodyPr wrap="square" lIns="0" tIns="0" rIns="0" bIns="0" rtlCol="0" anchor="t"/>
          <a:lstStyle/>
          <a:p>
            <a:pPr indent="0" marL="0">
              <a:buNone/>
            </a:pPr>
            <a:r>
              <a:rPr lang="en-US" sz="1800" dirty="0">
                <a:solidFill>
                  <a:schemeClr val="accent4"/>
                </a:solidFill>
              </a:rPr>
              <a:t>Sales, liquidity, debt, suppliers, stores, digital, governance</a:t>
            </a:r>
            <a:endParaRPr lang="en-US" sz="1800" dirty="0"/>
          </a:p>
        </p:txBody>
      </p:sp>
      <p:sp>
        <p:nvSpPr>
          <p:cNvPr id="13" name="Reassessment tile"/>
          <p:cNvSpPr/>
          <p:nvPr/>
        </p:nvSpPr>
        <p:spPr>
          <a:xfrm>
            <a:off x="8119872" y="141732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Reassessment badge"/>
          <p:cNvSpPr/>
          <p:nvPr/>
        </p:nvSpPr>
        <p:spPr>
          <a:xfrm>
            <a:off x="8348472" y="1645920"/>
            <a:ext cx="594360" cy="594360"/>
          </a:xfrm>
          <a:prstGeom prst="ellipse">
            <a:avLst/>
          </a:prstGeom>
          <a:solidFill>
            <a:schemeClr val="accent4"/>
          </a:solidFill>
          <a:ln/>
        </p:spPr>
      </p:sp>
      <p:pic>
        <p:nvPicPr>
          <p:cNvPr id="15" name="Reassessment icon" descr="Redo icon">    </p:cNvPr>
          <p:cNvPicPr>
            <a:picLocks noChangeAspect="1"/>
          </p:cNvPicPr>
          <p:nvPr/>
        </p:nvPicPr>
        <p:blipFill>
          <a:blip r:embed="rId3"/>
          <a:stretch>
            <a:fillRect/>
          </a:stretch>
        </p:blipFill>
        <p:spPr>
          <a:xfrm>
            <a:off x="8497062" y="1794510"/>
            <a:ext cx="297180" cy="297180"/>
          </a:xfrm>
          <a:prstGeom prst="rect">
            <a:avLst/>
          </a:prstGeom>
        </p:spPr>
      </p:pic>
      <p:sp>
        <p:nvSpPr>
          <p:cNvPr id="16" name="Text 11"/>
          <p:cNvSpPr txBox="1"/>
          <p:nvPr/>
        </p:nvSpPr>
        <p:spPr>
          <a:xfrm>
            <a:off x="9079992"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Reassessment</a:t>
            </a:r>
            <a:endParaRPr lang="en-US" sz="2000" dirty="0"/>
          </a:p>
        </p:txBody>
      </p:sp>
      <p:sp>
        <p:nvSpPr>
          <p:cNvPr id="17" name="Text 12"/>
          <p:cNvSpPr txBox="1"/>
          <p:nvPr/>
        </p:nvSpPr>
        <p:spPr>
          <a:xfrm>
            <a:off x="8348472" y="2423160"/>
            <a:ext cx="3063240" cy="1051560"/>
          </a:xfrm>
          <a:prstGeom prst="rect">
            <a:avLst/>
          </a:prstGeom>
          <a:noFill/>
          <a:ln/>
        </p:spPr>
        <p:txBody>
          <a:bodyPr wrap="square" lIns="0" tIns="0" rIns="0" bIns="0" rtlCol="0" anchor="t"/>
          <a:lstStyle/>
          <a:p>
            <a:pPr indent="0" marL="0">
              <a:buNone/>
            </a:pPr>
            <a:r>
              <a:rPr lang="en-US" sz="1800" dirty="0">
                <a:solidFill>
                  <a:schemeClr val="tx1"/>
                </a:solidFill>
              </a:rPr>
              <a:t>Retain or revise the plan, and explain the reasoning</a:t>
            </a:r>
            <a:endParaRPr lang="en-US" sz="1800" dirty="0"/>
          </a:p>
        </p:txBody>
      </p:sp>
      <p:sp>
        <p:nvSpPr>
          <p:cNvPr id="18" name="Scoring and report tile"/>
          <p:cNvSpPr/>
          <p:nvPr/>
        </p:nvSpPr>
        <p:spPr>
          <a:xfrm>
            <a:off x="548640" y="3840480"/>
            <a:ext cx="3520440" cy="2194560"/>
          </a:xfrm>
          <a:prstGeom prst="roundRect">
            <a:avLst>
              <a:gd name="adj" fmla="val 5000"/>
            </a:avLst>
          </a:prstGeom>
          <a:solidFill>
            <a:schemeClr val="tx2"/>
          </a:solidFill>
          <a:ln/>
          <a:effectLst>
            <a:outerShdw sx="100000" sy="100000" kx="0" ky="0" algn="bl" rotWithShape="0" blurRad="101600" dist="25400" dir="5400000">
              <a:srgbClr val="0D2146">
                <a:alpha val="14000"/>
              </a:srgbClr>
            </a:outerShdw>
          </a:effectLst>
        </p:spPr>
      </p:sp>
      <p:sp>
        <p:nvSpPr>
          <p:cNvPr id="19" name="Scoring and report badge"/>
          <p:cNvSpPr/>
          <p:nvPr/>
        </p:nvSpPr>
        <p:spPr>
          <a:xfrm>
            <a:off x="777240" y="4069080"/>
            <a:ext cx="594360" cy="594360"/>
          </a:xfrm>
          <a:prstGeom prst="ellipse">
            <a:avLst/>
          </a:prstGeom>
          <a:solidFill>
            <a:schemeClr val="accent1"/>
          </a:solidFill>
          <a:ln/>
        </p:spPr>
      </p:sp>
      <p:pic>
        <p:nvPicPr>
          <p:cNvPr id="20" name="Scoring and report icon" descr="FileAlt icon">    </p:cNvPr>
          <p:cNvPicPr>
            <a:picLocks noChangeAspect="1"/>
          </p:cNvPicPr>
          <p:nvPr/>
        </p:nvPicPr>
        <p:blipFill>
          <a:blip r:embed="rId4"/>
          <a:stretch>
            <a:fillRect/>
          </a:stretch>
        </p:blipFill>
        <p:spPr>
          <a:xfrm>
            <a:off x="925830" y="4217670"/>
            <a:ext cx="297180" cy="297180"/>
          </a:xfrm>
          <a:prstGeom prst="rect">
            <a:avLst/>
          </a:prstGeom>
        </p:spPr>
      </p:pic>
      <p:sp>
        <p:nvSpPr>
          <p:cNvPr id="21" name="Text 15"/>
          <p:cNvSpPr txBox="1"/>
          <p:nvPr/>
        </p:nvSpPr>
        <p:spPr>
          <a:xfrm>
            <a:off x="1508760" y="4069080"/>
            <a:ext cx="2377440" cy="594360"/>
          </a:xfrm>
          <a:prstGeom prst="rect">
            <a:avLst/>
          </a:prstGeom>
          <a:noFill/>
          <a:ln/>
        </p:spPr>
        <p:txBody>
          <a:bodyPr wrap="square" lIns="0" tIns="0" rIns="0" bIns="0" rtlCol="0" anchor="ctr"/>
          <a:lstStyle/>
          <a:p>
            <a:pPr indent="0" marL="0">
              <a:buNone/>
            </a:pPr>
            <a:r>
              <a:rPr lang="en-US" sz="2000" b="1" dirty="0">
                <a:solidFill>
                  <a:schemeClr val="bg1"/>
                </a:solidFill>
              </a:rPr>
              <a:t>Scoring and report</a:t>
            </a:r>
            <a:endParaRPr lang="en-US" sz="2000" dirty="0"/>
          </a:p>
        </p:txBody>
      </p:sp>
      <p:sp>
        <p:nvSpPr>
          <p:cNvPr id="22" name="Text 16"/>
          <p:cNvSpPr txBox="1"/>
          <p:nvPr/>
        </p:nvSpPr>
        <p:spPr>
          <a:xfrm>
            <a:off x="777240" y="4846320"/>
            <a:ext cx="3063240" cy="1051560"/>
          </a:xfrm>
          <a:prstGeom prst="rect">
            <a:avLst/>
          </a:prstGeom>
          <a:noFill/>
          <a:ln/>
        </p:spPr>
        <p:txBody>
          <a:bodyPr wrap="square" lIns="0" tIns="0" rIns="0" bIns="0" rtlCol="0" anchor="t"/>
          <a:lstStyle/>
          <a:p>
            <a:pPr indent="0" marL="0">
              <a:buNone/>
            </a:pPr>
            <a:r>
              <a:rPr lang="en-US" sz="1800" dirty="0">
                <a:solidFill>
                  <a:schemeClr val="accent4"/>
                </a:solidFill>
              </a:rPr>
              <a:t>Score /100, Resilience, Stability and Final Ending in a Case Report</a:t>
            </a:r>
            <a:endParaRPr lang="en-US" sz="1800" dirty="0"/>
          </a:p>
        </p:txBody>
      </p:sp>
      <p:sp>
        <p:nvSpPr>
          <p:cNvPr id="23" name="Deployed and tested tile"/>
          <p:cNvSpPr/>
          <p:nvPr/>
        </p:nvSpPr>
        <p:spPr>
          <a:xfrm>
            <a:off x="4334256" y="384048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4" name="Deployed and tested badge"/>
          <p:cNvSpPr/>
          <p:nvPr/>
        </p:nvSpPr>
        <p:spPr>
          <a:xfrm>
            <a:off x="4562856" y="4069080"/>
            <a:ext cx="594360" cy="594360"/>
          </a:xfrm>
          <a:prstGeom prst="ellipse">
            <a:avLst/>
          </a:prstGeom>
          <a:solidFill>
            <a:schemeClr val="accent4"/>
          </a:solidFill>
          <a:ln/>
        </p:spPr>
      </p:sp>
      <p:pic>
        <p:nvPicPr>
          <p:cNvPr id="25" name="Deployed and tested icon" descr="Rocket icon">    </p:cNvPr>
          <p:cNvPicPr>
            <a:picLocks noChangeAspect="1"/>
          </p:cNvPicPr>
          <p:nvPr/>
        </p:nvPicPr>
        <p:blipFill>
          <a:blip r:embed="rId5"/>
          <a:stretch>
            <a:fillRect/>
          </a:stretch>
        </p:blipFill>
        <p:spPr>
          <a:xfrm>
            <a:off x="4711446" y="4217670"/>
            <a:ext cx="297180" cy="297180"/>
          </a:xfrm>
          <a:prstGeom prst="rect">
            <a:avLst/>
          </a:prstGeom>
        </p:spPr>
      </p:pic>
      <p:sp>
        <p:nvSpPr>
          <p:cNvPr id="26" name="Text 19"/>
          <p:cNvSpPr txBox="1"/>
          <p:nvPr/>
        </p:nvSpPr>
        <p:spPr>
          <a:xfrm>
            <a:off x="5294376" y="406908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Deployed and tested</a:t>
            </a:r>
            <a:endParaRPr lang="en-US" sz="2000" dirty="0"/>
          </a:p>
        </p:txBody>
      </p:sp>
      <p:sp>
        <p:nvSpPr>
          <p:cNvPr id="27" name="Text 20"/>
          <p:cNvSpPr txBox="1"/>
          <p:nvPr/>
        </p:nvSpPr>
        <p:spPr>
          <a:xfrm>
            <a:off x="4562856" y="4846320"/>
            <a:ext cx="3063240" cy="1051560"/>
          </a:xfrm>
          <a:prstGeom prst="rect">
            <a:avLst/>
          </a:prstGeom>
          <a:noFill/>
          <a:ln/>
        </p:spPr>
        <p:txBody>
          <a:bodyPr wrap="square" lIns="0" tIns="0" rIns="0" bIns="0" rtlCol="0" anchor="t"/>
          <a:lstStyle/>
          <a:p>
            <a:pPr indent="0" marL="0">
              <a:buNone/>
            </a:pPr>
            <a:r>
              <a:rPr lang="en-US" sz="1800" dirty="0">
                <a:solidFill>
                  <a:schemeClr val="tx1"/>
                </a:solidFill>
              </a:rPr>
              <a:t>Live on GitHub Pages · tests T01–T10 · bug checks B01–B05</a:t>
            </a:r>
            <a:endParaRPr lang="en-US" sz="1800" dirty="0"/>
          </a:p>
        </p:txBody>
      </p:sp>
      <p:pic>
        <p:nvPicPr>
          <p:cNvPr id="28" name="Office mood image" descr="Night office where the counselor works">    </p:cNvPr>
          <p:cNvPicPr>
            <a:picLocks noChangeAspect="1"/>
          </p:cNvPicPr>
          <p:nvPr/>
        </p:nvPicPr>
        <p:blipFill>
          <a:blip r:embed="rId6"/>
          <a:stretch>
            <a:fillRect/>
          </a:stretch>
        </p:blipFill>
        <p:spPr>
          <a:xfrm>
            <a:off x="8119872" y="3840480"/>
            <a:ext cx="3520440" cy="2194560"/>
          </a:xfrm>
          <a:prstGeom prst="rect">
            <a:avLst/>
          </a:prstGeom>
        </p:spPr>
      </p:pic>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Input: what players choose</a:t>
            </a:r>
            <a:endParaRPr lang="en-US" sz="3600" dirty="0"/>
          </a:p>
        </p:txBody>
      </p:sp>
      <p:sp>
        <p:nvSpPr>
          <p:cNvPr id="3" name="Diagnostic Files tile"/>
          <p:cNvSpPr/>
          <p:nvPr/>
        </p:nvSpPr>
        <p:spPr>
          <a:xfrm>
            <a:off x="548640" y="1463040"/>
            <a:ext cx="2587752"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Text 2"/>
          <p:cNvSpPr txBox="1"/>
          <p:nvPr/>
        </p:nvSpPr>
        <p:spPr>
          <a:xfrm>
            <a:off x="777240" y="1645920"/>
            <a:ext cx="2130552" cy="77724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3/7</a:t>
            </a:r>
            <a:endParaRPr lang="en-US" sz="4400" dirty="0"/>
          </a:p>
        </p:txBody>
      </p:sp>
      <p:sp>
        <p:nvSpPr>
          <p:cNvPr id="5" name="Text 3"/>
          <p:cNvSpPr txBox="1"/>
          <p:nvPr/>
        </p:nvSpPr>
        <p:spPr>
          <a:xfrm>
            <a:off x="777240" y="2468880"/>
            <a:ext cx="2130552" cy="640080"/>
          </a:xfrm>
          <a:prstGeom prst="rect">
            <a:avLst/>
          </a:prstGeom>
          <a:noFill/>
          <a:ln/>
        </p:spPr>
        <p:txBody>
          <a:bodyPr wrap="square" lIns="0" tIns="0" rIns="0" bIns="0" rtlCol="0" anchor="t"/>
          <a:lstStyle/>
          <a:p>
            <a:pPr indent="0" marL="0">
              <a:buNone/>
            </a:pPr>
            <a:r>
              <a:rPr lang="en-US" sz="2000" b="1" dirty="0">
                <a:solidFill>
                  <a:schemeClr val="tx2"/>
                </a:solidFill>
              </a:rPr>
              <a:t>Diagnostic Files</a:t>
            </a:r>
            <a:endParaRPr lang="en-US" sz="2000" dirty="0"/>
          </a:p>
        </p:txBody>
      </p:sp>
      <p:sp>
        <p:nvSpPr>
          <p:cNvPr id="6" name="Text 4"/>
          <p:cNvSpPr txBox="1"/>
          <p:nvPr/>
        </p:nvSpPr>
        <p:spPr>
          <a:xfrm>
            <a:off x="777240" y="3108960"/>
            <a:ext cx="2130552" cy="530352"/>
          </a:xfrm>
          <a:prstGeom prst="rect">
            <a:avLst/>
          </a:prstGeom>
          <a:noFill/>
          <a:ln/>
        </p:spPr>
        <p:txBody>
          <a:bodyPr wrap="square" lIns="0" tIns="0" rIns="0" bIns="0" rtlCol="0" anchor="t"/>
          <a:lstStyle/>
          <a:p>
            <a:pPr indent="0" marL="0">
              <a:buNone/>
            </a:pPr>
            <a:r>
              <a:rPr lang="en-US" sz="1600" dirty="0">
                <a:solidFill>
                  <a:schemeClr val="accent2"/>
                </a:solidFill>
              </a:rPr>
              <a:t>e.g. Sales, Liquidity, Capital Structure</a:t>
            </a:r>
            <a:endParaRPr lang="en-US" sz="1600" dirty="0"/>
          </a:p>
        </p:txBody>
      </p:sp>
      <p:sp>
        <p:nvSpPr>
          <p:cNvPr id="7" name="Follow-Up Questions tile"/>
          <p:cNvSpPr/>
          <p:nvPr/>
        </p:nvSpPr>
        <p:spPr>
          <a:xfrm>
            <a:off x="3383280" y="1463040"/>
            <a:ext cx="2587752"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8" name="Text 6"/>
          <p:cNvSpPr txBox="1"/>
          <p:nvPr/>
        </p:nvSpPr>
        <p:spPr>
          <a:xfrm>
            <a:off x="3611880" y="1645920"/>
            <a:ext cx="2130552" cy="77724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2/7</a:t>
            </a:r>
            <a:endParaRPr lang="en-US" sz="4400" dirty="0"/>
          </a:p>
        </p:txBody>
      </p:sp>
      <p:sp>
        <p:nvSpPr>
          <p:cNvPr id="9" name="Text 7"/>
          <p:cNvSpPr txBox="1"/>
          <p:nvPr/>
        </p:nvSpPr>
        <p:spPr>
          <a:xfrm>
            <a:off x="3611880" y="2468880"/>
            <a:ext cx="2130552" cy="640080"/>
          </a:xfrm>
          <a:prstGeom prst="rect">
            <a:avLst/>
          </a:prstGeom>
          <a:noFill/>
          <a:ln/>
        </p:spPr>
        <p:txBody>
          <a:bodyPr wrap="square" lIns="0" tIns="0" rIns="0" bIns="0" rtlCol="0" anchor="t"/>
          <a:lstStyle/>
          <a:p>
            <a:pPr indent="0" marL="0">
              <a:buNone/>
            </a:pPr>
            <a:r>
              <a:rPr lang="en-US" sz="2000" b="1" dirty="0">
                <a:solidFill>
                  <a:schemeClr val="tx2"/>
                </a:solidFill>
              </a:rPr>
              <a:t>Follow-Up Questions</a:t>
            </a:r>
            <a:endParaRPr lang="en-US" sz="2000" dirty="0"/>
          </a:p>
        </p:txBody>
      </p:sp>
      <p:sp>
        <p:nvSpPr>
          <p:cNvPr id="10" name="Text 8"/>
          <p:cNvSpPr txBox="1"/>
          <p:nvPr/>
        </p:nvSpPr>
        <p:spPr>
          <a:xfrm>
            <a:off x="3611880" y="3108960"/>
            <a:ext cx="2130552" cy="530352"/>
          </a:xfrm>
          <a:prstGeom prst="rect">
            <a:avLst/>
          </a:prstGeom>
          <a:noFill/>
          <a:ln/>
        </p:spPr>
        <p:txBody>
          <a:bodyPr wrap="square" lIns="0" tIns="0" rIns="0" bIns="0" rtlCol="0" anchor="t"/>
          <a:lstStyle/>
          <a:p>
            <a:pPr indent="0" marL="0">
              <a:buNone/>
            </a:pPr>
            <a:r>
              <a:rPr lang="en-US" sz="1600" dirty="0">
                <a:solidFill>
                  <a:schemeClr val="accent2"/>
                </a:solidFill>
              </a:rPr>
              <a:t>CH1 group</a:t>
            </a:r>
            <a:endParaRPr lang="en-US" sz="1600" dirty="0"/>
          </a:p>
        </p:txBody>
      </p:sp>
      <p:sp>
        <p:nvSpPr>
          <p:cNvPr id="11" name="Final Question tile"/>
          <p:cNvSpPr/>
          <p:nvPr/>
        </p:nvSpPr>
        <p:spPr>
          <a:xfrm>
            <a:off x="6217920" y="1463040"/>
            <a:ext cx="2587752"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2" name="Text 10"/>
          <p:cNvSpPr txBox="1"/>
          <p:nvPr/>
        </p:nvSpPr>
        <p:spPr>
          <a:xfrm>
            <a:off x="6446520" y="1645920"/>
            <a:ext cx="2130552" cy="77724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1/7</a:t>
            </a:r>
            <a:endParaRPr lang="en-US" sz="4400" dirty="0"/>
          </a:p>
        </p:txBody>
      </p:sp>
      <p:sp>
        <p:nvSpPr>
          <p:cNvPr id="13" name="Text 11"/>
          <p:cNvSpPr txBox="1"/>
          <p:nvPr/>
        </p:nvSpPr>
        <p:spPr>
          <a:xfrm>
            <a:off x="6446520" y="2468880"/>
            <a:ext cx="2130552" cy="640080"/>
          </a:xfrm>
          <a:prstGeom prst="rect">
            <a:avLst/>
          </a:prstGeom>
          <a:noFill/>
          <a:ln/>
        </p:spPr>
        <p:txBody>
          <a:bodyPr wrap="square" lIns="0" tIns="0" rIns="0" bIns="0" rtlCol="0" anchor="t"/>
          <a:lstStyle/>
          <a:p>
            <a:pPr indent="0" marL="0">
              <a:buNone/>
            </a:pPr>
            <a:r>
              <a:rPr lang="en-US" sz="2000" b="1" dirty="0">
                <a:solidFill>
                  <a:schemeClr val="tx2"/>
                </a:solidFill>
              </a:rPr>
              <a:t>Final Question</a:t>
            </a:r>
            <a:endParaRPr lang="en-US" sz="2000" dirty="0"/>
          </a:p>
        </p:txBody>
      </p:sp>
      <p:sp>
        <p:nvSpPr>
          <p:cNvPr id="14" name="Text 12"/>
          <p:cNvSpPr txBox="1"/>
          <p:nvPr/>
        </p:nvSpPr>
        <p:spPr>
          <a:xfrm>
            <a:off x="6446520" y="3108960"/>
            <a:ext cx="2130552" cy="530352"/>
          </a:xfrm>
          <a:prstGeom prst="rect">
            <a:avLst/>
          </a:prstGeom>
          <a:noFill/>
          <a:ln/>
        </p:spPr>
        <p:txBody>
          <a:bodyPr wrap="square" lIns="0" tIns="0" rIns="0" bIns="0" rtlCol="0" anchor="t"/>
          <a:lstStyle/>
          <a:p>
            <a:pPr indent="0" marL="0">
              <a:buNone/>
            </a:pPr>
            <a:r>
              <a:rPr lang="en-US" sz="1600" dirty="0">
                <a:solidFill>
                  <a:schemeClr val="accent2"/>
                </a:solidFill>
              </a:rPr>
              <a:t>CH2 group</a:t>
            </a:r>
            <a:endParaRPr lang="en-US" sz="1600" dirty="0"/>
          </a:p>
        </p:txBody>
      </p:sp>
      <p:sp>
        <p:nvSpPr>
          <p:cNvPr id="15" name="Primary Diagnosis tile"/>
          <p:cNvSpPr/>
          <p:nvPr/>
        </p:nvSpPr>
        <p:spPr>
          <a:xfrm>
            <a:off x="9052560" y="1463040"/>
            <a:ext cx="2587752"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6" name="Text 14"/>
          <p:cNvSpPr txBox="1"/>
          <p:nvPr/>
        </p:nvSpPr>
        <p:spPr>
          <a:xfrm>
            <a:off x="9281160" y="1645920"/>
            <a:ext cx="2130552" cy="77724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1</a:t>
            </a:r>
            <a:endParaRPr lang="en-US" sz="4400" dirty="0"/>
          </a:p>
        </p:txBody>
      </p:sp>
      <p:sp>
        <p:nvSpPr>
          <p:cNvPr id="17" name="Text 15"/>
          <p:cNvSpPr txBox="1"/>
          <p:nvPr/>
        </p:nvSpPr>
        <p:spPr>
          <a:xfrm>
            <a:off x="9281160" y="2468880"/>
            <a:ext cx="2130552" cy="640080"/>
          </a:xfrm>
          <a:prstGeom prst="rect">
            <a:avLst/>
          </a:prstGeom>
          <a:noFill/>
          <a:ln/>
        </p:spPr>
        <p:txBody>
          <a:bodyPr wrap="square" lIns="0" tIns="0" rIns="0" bIns="0" rtlCol="0" anchor="t"/>
          <a:lstStyle/>
          <a:p>
            <a:pPr indent="0" marL="0">
              <a:buNone/>
            </a:pPr>
            <a:r>
              <a:rPr lang="en-US" sz="2000" b="1" dirty="0">
                <a:solidFill>
                  <a:schemeClr val="tx2"/>
                </a:solidFill>
              </a:rPr>
              <a:t>Primary Diagnosis</a:t>
            </a:r>
            <a:endParaRPr lang="en-US" sz="2000" dirty="0"/>
          </a:p>
        </p:txBody>
      </p:sp>
      <p:sp>
        <p:nvSpPr>
          <p:cNvPr id="18" name="Text 16"/>
          <p:cNvSpPr txBox="1"/>
          <p:nvPr/>
        </p:nvSpPr>
        <p:spPr>
          <a:xfrm>
            <a:off x="9281160" y="3108960"/>
            <a:ext cx="2130552" cy="530352"/>
          </a:xfrm>
          <a:prstGeom prst="rect">
            <a:avLst/>
          </a:prstGeom>
          <a:noFill/>
          <a:ln/>
        </p:spPr>
        <p:txBody>
          <a:bodyPr wrap="square" lIns="0" tIns="0" rIns="0" bIns="0" rtlCol="0" anchor="t"/>
          <a:lstStyle/>
          <a:p>
            <a:pPr indent="0" marL="0">
              <a:buNone/>
            </a:pPr>
            <a:r>
              <a:rPr lang="en-US" sz="1600" dirty="0">
                <a:solidFill>
                  <a:schemeClr val="accent2"/>
                </a:solidFill>
              </a:rPr>
              <a:t>One of CD-A–F</a:t>
            </a:r>
            <a:endParaRPr lang="en-US" sz="1600" dirty="0"/>
          </a:p>
        </p:txBody>
      </p:sp>
      <p:sp>
        <p:nvSpPr>
          <p:cNvPr id="19" name="Treatment tile"/>
          <p:cNvSpPr/>
          <p:nvPr/>
        </p:nvSpPr>
        <p:spPr>
          <a:xfrm>
            <a:off x="548640" y="3931920"/>
            <a:ext cx="2587752"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20" name="Text 18"/>
          <p:cNvSpPr txBox="1"/>
          <p:nvPr/>
        </p:nvSpPr>
        <p:spPr>
          <a:xfrm>
            <a:off x="777240" y="4114800"/>
            <a:ext cx="2130552" cy="777240"/>
          </a:xfrm>
          <a:prstGeom prst="rect">
            <a:avLst/>
          </a:prstGeom>
          <a:noFill/>
          <a:ln/>
        </p:spPr>
        <p:txBody>
          <a:bodyPr wrap="square" lIns="0" tIns="0" rIns="0" bIns="0" rtlCol="0" anchor="ctr"/>
          <a:lstStyle/>
          <a:p>
            <a:pPr indent="0" marL="0">
              <a:buNone/>
            </a:pPr>
            <a:r>
              <a:rPr lang="en-US" sz="4400" b="1" dirty="0">
                <a:solidFill>
                  <a:schemeClr val="accent5"/>
                </a:solidFill>
                <a:latin typeface="+mj-lt" pitchFamily="34" charset="0"/>
                <a:ea typeface="+mj-lt" pitchFamily="34" charset="-122"/>
                <a:cs typeface="+mj-lt" pitchFamily="34" charset="-120"/>
              </a:rPr>
              <a:t>1</a:t>
            </a:r>
            <a:endParaRPr lang="en-US" sz="4400" dirty="0"/>
          </a:p>
        </p:txBody>
      </p:sp>
      <p:sp>
        <p:nvSpPr>
          <p:cNvPr id="21" name="Text 19"/>
          <p:cNvSpPr txBox="1"/>
          <p:nvPr/>
        </p:nvSpPr>
        <p:spPr>
          <a:xfrm>
            <a:off x="777240" y="4937760"/>
            <a:ext cx="2130552" cy="640080"/>
          </a:xfrm>
          <a:prstGeom prst="rect">
            <a:avLst/>
          </a:prstGeom>
          <a:noFill/>
          <a:ln/>
        </p:spPr>
        <p:txBody>
          <a:bodyPr wrap="square" lIns="0" tIns="0" rIns="0" bIns="0" rtlCol="0" anchor="t"/>
          <a:lstStyle/>
          <a:p>
            <a:pPr indent="0" marL="0">
              <a:buNone/>
            </a:pPr>
            <a:r>
              <a:rPr lang="en-US" sz="2000" b="1" dirty="0">
                <a:solidFill>
                  <a:schemeClr val="bg1"/>
                </a:solidFill>
              </a:rPr>
              <a:t>Treatment</a:t>
            </a:r>
            <a:endParaRPr lang="en-US" sz="2000" dirty="0"/>
          </a:p>
        </p:txBody>
      </p:sp>
      <p:sp>
        <p:nvSpPr>
          <p:cNvPr id="22" name="Text 20"/>
          <p:cNvSpPr txBox="1"/>
          <p:nvPr/>
        </p:nvSpPr>
        <p:spPr>
          <a:xfrm>
            <a:off x="777240" y="5577840"/>
            <a:ext cx="2130552" cy="530352"/>
          </a:xfrm>
          <a:prstGeom prst="rect">
            <a:avLst/>
          </a:prstGeom>
          <a:noFill/>
          <a:ln/>
        </p:spPr>
        <p:txBody>
          <a:bodyPr wrap="square" lIns="0" tIns="0" rIns="0" bIns="0" rtlCol="0" anchor="t"/>
          <a:lstStyle/>
          <a:p>
            <a:pPr indent="0" marL="0">
              <a:buNone/>
            </a:pPr>
            <a:r>
              <a:rPr lang="en-US" sz="1600" dirty="0">
                <a:solidFill>
                  <a:schemeClr val="accent4"/>
                </a:solidFill>
              </a:rPr>
              <a:t>One of PD-A–F</a:t>
            </a:r>
            <a:endParaRPr lang="en-US" sz="1600" dirty="0"/>
          </a:p>
        </p:txBody>
      </p:sp>
      <p:sp>
        <p:nvSpPr>
          <p:cNvPr id="23" name="Timing tile"/>
          <p:cNvSpPr/>
          <p:nvPr/>
        </p:nvSpPr>
        <p:spPr>
          <a:xfrm>
            <a:off x="3383280" y="3931920"/>
            <a:ext cx="2587752"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24" name="Text 22"/>
          <p:cNvSpPr txBox="1"/>
          <p:nvPr/>
        </p:nvSpPr>
        <p:spPr>
          <a:xfrm>
            <a:off x="3611880" y="4114800"/>
            <a:ext cx="2130552" cy="777240"/>
          </a:xfrm>
          <a:prstGeom prst="rect">
            <a:avLst/>
          </a:prstGeom>
          <a:noFill/>
          <a:ln/>
        </p:spPr>
        <p:txBody>
          <a:bodyPr wrap="square" lIns="0" tIns="0" rIns="0" bIns="0" rtlCol="0" anchor="ctr"/>
          <a:lstStyle/>
          <a:p>
            <a:pPr indent="0" marL="0">
              <a:buNone/>
            </a:pPr>
            <a:r>
              <a:rPr lang="en-US" sz="4400" b="1" dirty="0">
                <a:solidFill>
                  <a:schemeClr val="accent5"/>
                </a:solidFill>
                <a:latin typeface="+mj-lt" pitchFamily="34" charset="0"/>
                <a:ea typeface="+mj-lt" pitchFamily="34" charset="-122"/>
                <a:cs typeface="+mj-lt" pitchFamily="34" charset="-120"/>
              </a:rPr>
              <a:t>1</a:t>
            </a:r>
            <a:endParaRPr lang="en-US" sz="4400" dirty="0"/>
          </a:p>
        </p:txBody>
      </p:sp>
      <p:sp>
        <p:nvSpPr>
          <p:cNvPr id="25" name="Text 23"/>
          <p:cNvSpPr txBox="1"/>
          <p:nvPr/>
        </p:nvSpPr>
        <p:spPr>
          <a:xfrm>
            <a:off x="3611880" y="4937760"/>
            <a:ext cx="2130552" cy="640080"/>
          </a:xfrm>
          <a:prstGeom prst="rect">
            <a:avLst/>
          </a:prstGeom>
          <a:noFill/>
          <a:ln/>
        </p:spPr>
        <p:txBody>
          <a:bodyPr wrap="square" lIns="0" tIns="0" rIns="0" bIns="0" rtlCol="0" anchor="t"/>
          <a:lstStyle/>
          <a:p>
            <a:pPr indent="0" marL="0">
              <a:buNone/>
            </a:pPr>
            <a:r>
              <a:rPr lang="en-US" sz="2000" b="1" dirty="0">
                <a:solidFill>
                  <a:schemeClr val="bg1"/>
                </a:solidFill>
              </a:rPr>
              <a:t>Timing</a:t>
            </a:r>
            <a:endParaRPr lang="en-US" sz="2000" dirty="0"/>
          </a:p>
        </p:txBody>
      </p:sp>
      <p:sp>
        <p:nvSpPr>
          <p:cNvPr id="26" name="Text 24"/>
          <p:cNvSpPr txBox="1"/>
          <p:nvPr/>
        </p:nvSpPr>
        <p:spPr>
          <a:xfrm>
            <a:off x="3611880" y="5577840"/>
            <a:ext cx="2130552" cy="530352"/>
          </a:xfrm>
          <a:prstGeom prst="rect">
            <a:avLst/>
          </a:prstGeom>
          <a:noFill/>
          <a:ln/>
        </p:spPr>
        <p:txBody>
          <a:bodyPr wrap="square" lIns="0" tIns="0" rIns="0" bIns="0" rtlCol="0" anchor="t"/>
          <a:lstStyle/>
          <a:p>
            <a:pPr indent="0" marL="0">
              <a:buNone/>
            </a:pPr>
            <a:r>
              <a:rPr lang="en-US" sz="1600" dirty="0">
                <a:solidFill>
                  <a:schemeClr val="accent4"/>
                </a:solidFill>
              </a:rPr>
              <a:t>One of TG-A–D</a:t>
            </a:r>
            <a:endParaRPr lang="en-US" sz="1600" dirty="0"/>
          </a:p>
        </p:txBody>
      </p:sp>
      <p:sp>
        <p:nvSpPr>
          <p:cNvPr id="27" name="Stakeholder priorities tile"/>
          <p:cNvSpPr/>
          <p:nvPr/>
        </p:nvSpPr>
        <p:spPr>
          <a:xfrm>
            <a:off x="6217920" y="3931920"/>
            <a:ext cx="2587752"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28" name="Text 26"/>
          <p:cNvSpPr txBox="1"/>
          <p:nvPr/>
        </p:nvSpPr>
        <p:spPr>
          <a:xfrm>
            <a:off x="6446520" y="4114800"/>
            <a:ext cx="2130552" cy="777240"/>
          </a:xfrm>
          <a:prstGeom prst="rect">
            <a:avLst/>
          </a:prstGeom>
          <a:noFill/>
          <a:ln/>
        </p:spPr>
        <p:txBody>
          <a:bodyPr wrap="square" lIns="0" tIns="0" rIns="0" bIns="0" rtlCol="0" anchor="ctr"/>
          <a:lstStyle/>
          <a:p>
            <a:pPr indent="0" marL="0">
              <a:buNone/>
            </a:pPr>
            <a:r>
              <a:rPr lang="en-US" sz="4400" b="1" dirty="0">
                <a:solidFill>
                  <a:schemeClr val="accent5"/>
                </a:solidFill>
                <a:latin typeface="+mj-lt" pitchFamily="34" charset="0"/>
                <a:ea typeface="+mj-lt" pitchFamily="34" charset="-122"/>
                <a:cs typeface="+mj-lt" pitchFamily="34" charset="-120"/>
              </a:rPr>
              <a:t>3</a:t>
            </a:r>
            <a:endParaRPr lang="en-US" sz="4400" dirty="0"/>
          </a:p>
        </p:txBody>
      </p:sp>
      <p:sp>
        <p:nvSpPr>
          <p:cNvPr id="29" name="Text 27"/>
          <p:cNvSpPr txBox="1"/>
          <p:nvPr/>
        </p:nvSpPr>
        <p:spPr>
          <a:xfrm>
            <a:off x="6446520" y="4937760"/>
            <a:ext cx="2130552" cy="640080"/>
          </a:xfrm>
          <a:prstGeom prst="rect">
            <a:avLst/>
          </a:prstGeom>
          <a:noFill/>
          <a:ln/>
        </p:spPr>
        <p:txBody>
          <a:bodyPr wrap="square" lIns="0" tIns="0" rIns="0" bIns="0" rtlCol="0" anchor="t"/>
          <a:lstStyle/>
          <a:p>
            <a:pPr indent="0" marL="0">
              <a:buNone/>
            </a:pPr>
            <a:r>
              <a:rPr lang="en-US" sz="2000" b="1" dirty="0">
                <a:solidFill>
                  <a:schemeClr val="bg1"/>
                </a:solidFill>
              </a:rPr>
              <a:t>Stakeholder priorities</a:t>
            </a:r>
            <a:endParaRPr lang="en-US" sz="2000" dirty="0"/>
          </a:p>
        </p:txBody>
      </p:sp>
      <p:sp>
        <p:nvSpPr>
          <p:cNvPr id="30" name="Text 28"/>
          <p:cNvSpPr txBox="1"/>
          <p:nvPr/>
        </p:nvSpPr>
        <p:spPr>
          <a:xfrm>
            <a:off x="6446520" y="5577840"/>
            <a:ext cx="2130552" cy="530352"/>
          </a:xfrm>
          <a:prstGeom prst="rect">
            <a:avLst/>
          </a:prstGeom>
          <a:noFill/>
          <a:ln/>
        </p:spPr>
        <p:txBody>
          <a:bodyPr wrap="square" lIns="0" tIns="0" rIns="0" bIns="0" rtlCol="0" anchor="t"/>
          <a:lstStyle/>
          <a:p>
            <a:pPr indent="0" marL="0">
              <a:buNone/>
            </a:pPr>
            <a:r>
              <a:rPr lang="en-US" sz="1600" dirty="0">
                <a:solidFill>
                  <a:schemeClr val="accent4"/>
                </a:solidFill>
              </a:rPr>
              <a:t>e.g. Creditors, Suppliers</a:t>
            </a:r>
            <a:endParaRPr lang="en-US" sz="1600" dirty="0"/>
          </a:p>
        </p:txBody>
      </p:sp>
      <p:sp>
        <p:nvSpPr>
          <p:cNvPr id="31" name="Reassessment tile"/>
          <p:cNvSpPr/>
          <p:nvPr/>
        </p:nvSpPr>
        <p:spPr>
          <a:xfrm>
            <a:off x="9052560" y="3931920"/>
            <a:ext cx="2587752"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32" name="Reassessment badge"/>
          <p:cNvSpPr/>
          <p:nvPr/>
        </p:nvSpPr>
        <p:spPr>
          <a:xfrm>
            <a:off x="9235440" y="4160520"/>
            <a:ext cx="640080" cy="640080"/>
          </a:xfrm>
          <a:prstGeom prst="ellipse">
            <a:avLst/>
          </a:prstGeom>
          <a:solidFill>
            <a:schemeClr val="accent1"/>
          </a:solidFill>
          <a:ln/>
        </p:spPr>
      </p:sp>
      <p:pic>
        <p:nvPicPr>
          <p:cNvPr id="33" name="Reassessment icon" descr="Redo icon">    </p:cNvPr>
          <p:cNvPicPr>
            <a:picLocks noChangeAspect="1"/>
          </p:cNvPicPr>
          <p:nvPr/>
        </p:nvPicPr>
        <p:blipFill>
          <a:blip r:embed="rId1"/>
          <a:stretch>
            <a:fillRect/>
          </a:stretch>
        </p:blipFill>
        <p:spPr>
          <a:xfrm>
            <a:off x="9395460" y="4320540"/>
            <a:ext cx="320040" cy="320040"/>
          </a:xfrm>
          <a:prstGeom prst="rect">
            <a:avLst/>
          </a:prstGeom>
        </p:spPr>
      </p:pic>
      <p:sp>
        <p:nvSpPr>
          <p:cNvPr id="34" name="Text 31"/>
          <p:cNvSpPr txBox="1"/>
          <p:nvPr/>
        </p:nvSpPr>
        <p:spPr>
          <a:xfrm>
            <a:off x="9281160" y="4937760"/>
            <a:ext cx="2130552" cy="640080"/>
          </a:xfrm>
          <a:prstGeom prst="rect">
            <a:avLst/>
          </a:prstGeom>
          <a:noFill/>
          <a:ln/>
        </p:spPr>
        <p:txBody>
          <a:bodyPr wrap="square" lIns="0" tIns="0" rIns="0" bIns="0" rtlCol="0" anchor="t"/>
          <a:lstStyle/>
          <a:p>
            <a:pPr indent="0" marL="0">
              <a:buNone/>
            </a:pPr>
            <a:r>
              <a:rPr lang="en-US" sz="2000" b="1" dirty="0">
                <a:solidFill>
                  <a:schemeClr val="bg1"/>
                </a:solidFill>
              </a:rPr>
              <a:t>Reassessment</a:t>
            </a:r>
            <a:endParaRPr lang="en-US" sz="2000" dirty="0"/>
          </a:p>
        </p:txBody>
      </p:sp>
      <p:sp>
        <p:nvSpPr>
          <p:cNvPr id="35" name="Text 32"/>
          <p:cNvSpPr txBox="1"/>
          <p:nvPr/>
        </p:nvSpPr>
        <p:spPr>
          <a:xfrm>
            <a:off x="9281160" y="5577840"/>
            <a:ext cx="2130552" cy="530352"/>
          </a:xfrm>
          <a:prstGeom prst="rect">
            <a:avLst/>
          </a:prstGeom>
          <a:noFill/>
          <a:ln/>
        </p:spPr>
        <p:txBody>
          <a:bodyPr wrap="square" lIns="0" tIns="0" rIns="0" bIns="0" rtlCol="0" anchor="t"/>
          <a:lstStyle/>
          <a:p>
            <a:pPr indent="0" marL="0">
              <a:buNone/>
            </a:pPr>
            <a:r>
              <a:rPr lang="en-US" sz="1600" dirty="0">
                <a:solidFill>
                  <a:schemeClr val="accent4"/>
                </a:solidFill>
              </a:rPr>
              <a:t>Retain or revise, with a rationale</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Input: fixed case data</a:t>
            </a:r>
            <a:endParaRPr lang="en-US" sz="3600" dirty="0"/>
          </a:p>
        </p:txBody>
      </p:sp>
      <p:sp>
        <p:nvSpPr>
          <p:cNvPr id="3" name="Chart card"/>
          <p:cNvSpPr/>
          <p:nvPr/>
        </p:nvSpPr>
        <p:spPr>
          <a:xfrm>
            <a:off x="548640" y="1417320"/>
            <a:ext cx="7223760" cy="4800600"/>
          </a:xfrm>
          <a:prstGeom prst="roundRect">
            <a:avLst>
              <a:gd name="adj" fmla="val 2286"/>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Text 2"/>
          <p:cNvSpPr txBox="1"/>
          <p:nvPr/>
        </p:nvSpPr>
        <p:spPr>
          <a:xfrm>
            <a:off x="822960" y="1554480"/>
            <a:ext cx="2743200" cy="320040"/>
          </a:xfrm>
          <a:prstGeom prst="rect">
            <a:avLst/>
          </a:prstGeom>
          <a:noFill/>
          <a:ln/>
        </p:spPr>
        <p:txBody>
          <a:bodyPr wrap="square" lIns="0" tIns="0" rIns="0" bIns="0" rtlCol="0" anchor="t"/>
          <a:lstStyle/>
          <a:p>
            <a:pPr indent="0" marL="0">
              <a:buNone/>
            </a:pPr>
            <a:r>
              <a:rPr lang="en-US" sz="1600" dirty="0">
                <a:solidFill>
                  <a:schemeClr val="accent2"/>
                </a:solidFill>
              </a:rPr>
              <a:t>USD millions</a:t>
            </a:r>
            <a:endParaRPr lang="en-US" sz="1600" dirty="0"/>
          </a:p>
        </p:txBody>
      </p:sp>
      <p:graphicFrame>
        <p:nvGraphicFramePr>
          <p:cNvPr id="5" name="Chart 0" descr=""/>
          <p:cNvGraphicFramePr/>
          <p:nvPr/>
        </p:nvGraphicFramePr>
        <p:xfrm>
          <a:off x="731520" y="1874520"/>
          <a:ext cx="6858000" cy="4251960"/>
        </p:xfrm>
        <a:graphic xmlns:a="http://schemas.openxmlformats.org/drawingml/2006/main">
          <a:graphicData uri="http://schemas.openxmlformats.org/drawingml/2006/chart">
            <c:chart xmlns:c="http://schemas.openxmlformats.org/drawingml/2006/chart" r:id="rId1"/>
          </a:graphicData>
        </a:graphic>
      </p:graphicFrame>
      <p:sp>
        <p:nvSpPr>
          <p:cNvPr id="6" name="Fixed data card"/>
          <p:cNvSpPr/>
          <p:nvPr/>
        </p:nvSpPr>
        <p:spPr>
          <a:xfrm>
            <a:off x="8046720" y="1417320"/>
            <a:ext cx="3593592" cy="2286000"/>
          </a:xfrm>
          <a:prstGeom prst="roundRect">
            <a:avLst>
              <a:gd name="adj" fmla="val 4800"/>
            </a:avLst>
          </a:prstGeom>
          <a:solidFill>
            <a:schemeClr val="tx2"/>
          </a:solidFill>
          <a:ln/>
          <a:effectLst>
            <a:outerShdw sx="100000" sy="100000" kx="0" ky="0" algn="bl" rotWithShape="0" blurRad="101600" dist="25400" dir="5400000">
              <a:srgbClr val="0D2146">
                <a:alpha val="14000"/>
              </a:srgbClr>
            </a:outerShdw>
          </a:effectLst>
        </p:spPr>
      </p:sp>
      <p:sp>
        <p:nvSpPr>
          <p:cNvPr id="7" name="Fixed badge"/>
          <p:cNvSpPr/>
          <p:nvPr/>
        </p:nvSpPr>
        <p:spPr>
          <a:xfrm>
            <a:off x="8275320" y="1645920"/>
            <a:ext cx="594360" cy="594360"/>
          </a:xfrm>
          <a:prstGeom prst="ellipse">
            <a:avLst/>
          </a:prstGeom>
          <a:solidFill>
            <a:schemeClr val="accent1"/>
          </a:solidFill>
          <a:ln/>
        </p:spPr>
      </p:sp>
      <p:pic>
        <p:nvPicPr>
          <p:cNvPr id="8" name="Fixed icon" descr="Lock icon">    </p:cNvPr>
          <p:cNvPicPr>
            <a:picLocks noChangeAspect="1"/>
          </p:cNvPicPr>
          <p:nvPr/>
        </p:nvPicPr>
        <p:blipFill>
          <a:blip r:embed="rId2"/>
          <a:stretch>
            <a:fillRect/>
          </a:stretch>
        </p:blipFill>
        <p:spPr>
          <a:xfrm>
            <a:off x="8423910" y="1794510"/>
            <a:ext cx="297180" cy="297180"/>
          </a:xfrm>
          <a:prstGeom prst="rect">
            <a:avLst/>
          </a:prstGeom>
        </p:spPr>
      </p:pic>
      <p:sp>
        <p:nvSpPr>
          <p:cNvPr id="9" name="Text 5"/>
          <p:cNvSpPr txBox="1"/>
          <p:nvPr/>
        </p:nvSpPr>
        <p:spPr>
          <a:xfrm>
            <a:off x="9052560" y="1645920"/>
            <a:ext cx="2377440" cy="594360"/>
          </a:xfrm>
          <a:prstGeom prst="rect">
            <a:avLst/>
          </a:prstGeom>
          <a:noFill/>
          <a:ln/>
        </p:spPr>
        <p:txBody>
          <a:bodyPr wrap="square" lIns="0" tIns="0" rIns="0" bIns="0" rtlCol="0" anchor="ctr"/>
          <a:lstStyle/>
          <a:p>
            <a:pPr indent="0" marL="0">
              <a:buNone/>
            </a:pPr>
            <a:r>
              <a:rPr lang="en-US" sz="2400" b="1" dirty="0">
                <a:solidFill>
                  <a:schemeClr val="bg1"/>
                </a:solidFill>
              </a:rPr>
              <a:t>Fixed</a:t>
            </a:r>
            <a:endParaRPr lang="en-US" sz="2400" dirty="0"/>
          </a:p>
        </p:txBody>
      </p:sp>
      <p:sp>
        <p:nvSpPr>
          <p:cNvPr id="10" name="Text 6"/>
          <p:cNvSpPr txBox="1"/>
          <p:nvPr/>
        </p:nvSpPr>
        <p:spPr>
          <a:xfrm>
            <a:off x="8275320" y="2377440"/>
            <a:ext cx="3154680" cy="1234440"/>
          </a:xfrm>
          <a:prstGeom prst="rect">
            <a:avLst/>
          </a:prstGeom>
          <a:noFill/>
          <a:ln/>
        </p:spPr>
        <p:txBody>
          <a:bodyPr wrap="square" lIns="0" tIns="0" rIns="0" bIns="0" rtlCol="0" anchor="t"/>
          <a:lstStyle/>
          <a:p>
            <a:pPr indent="0" marL="0">
              <a:buNone/>
            </a:pPr>
            <a:r>
              <a:rPr lang="en-US" sz="1800" dirty="0">
                <a:solidFill>
                  <a:schemeClr val="accent4"/>
                </a:solidFill>
              </a:rPr>
              <a:t>Case numbers are set by the case. Players do not enter them.</a:t>
            </a:r>
            <a:endParaRPr lang="en-US" sz="1800" dirty="0"/>
          </a:p>
        </p:txBody>
      </p:sp>
      <p:sp>
        <p:nvSpPr>
          <p:cNvPr id="11" name="Variation card"/>
          <p:cNvSpPr/>
          <p:nvPr/>
        </p:nvSpPr>
        <p:spPr>
          <a:xfrm>
            <a:off x="8046720" y="3931920"/>
            <a:ext cx="3593592" cy="2286000"/>
          </a:xfrm>
          <a:prstGeom prst="roundRect">
            <a:avLst>
              <a:gd name="adj" fmla="val 4800"/>
            </a:avLst>
          </a:prstGeom>
          <a:solidFill>
            <a:schemeClr val="accent4"/>
          </a:solidFill>
          <a:ln/>
        </p:spPr>
      </p:sp>
      <p:sp>
        <p:nvSpPr>
          <p:cNvPr id="12" name="Variation badge"/>
          <p:cNvSpPr/>
          <p:nvPr/>
        </p:nvSpPr>
        <p:spPr>
          <a:xfrm>
            <a:off x="8275320" y="4160520"/>
            <a:ext cx="594360" cy="594360"/>
          </a:xfrm>
          <a:prstGeom prst="ellipse">
            <a:avLst/>
          </a:prstGeom>
          <a:solidFill>
            <a:schemeClr val="tx2"/>
          </a:solidFill>
          <a:ln/>
        </p:spPr>
      </p:sp>
      <p:pic>
        <p:nvPicPr>
          <p:cNvPr id="13" name="Variation icon" descr="Random icon">    </p:cNvPr>
          <p:cNvPicPr>
            <a:picLocks noChangeAspect="1"/>
          </p:cNvPicPr>
          <p:nvPr/>
        </p:nvPicPr>
        <p:blipFill>
          <a:blip r:embed="rId3"/>
          <a:stretch>
            <a:fillRect/>
          </a:stretch>
        </p:blipFill>
        <p:spPr>
          <a:xfrm>
            <a:off x="8423910" y="4309110"/>
            <a:ext cx="297180" cy="297180"/>
          </a:xfrm>
          <a:prstGeom prst="rect">
            <a:avLst/>
          </a:prstGeom>
        </p:spPr>
      </p:pic>
      <p:sp>
        <p:nvSpPr>
          <p:cNvPr id="14" name="Text 9"/>
          <p:cNvSpPr txBox="1"/>
          <p:nvPr/>
        </p:nvSpPr>
        <p:spPr>
          <a:xfrm>
            <a:off x="9052560" y="4160520"/>
            <a:ext cx="2377440" cy="594360"/>
          </a:xfrm>
          <a:prstGeom prst="rect">
            <a:avLst/>
          </a:prstGeom>
          <a:noFill/>
          <a:ln/>
        </p:spPr>
        <p:txBody>
          <a:bodyPr wrap="square" lIns="0" tIns="0" rIns="0" bIns="0" rtlCol="0" anchor="ctr"/>
          <a:lstStyle/>
          <a:p>
            <a:pPr indent="0" marL="0">
              <a:buNone/>
            </a:pPr>
            <a:r>
              <a:rPr lang="en-US" sz="2400" b="1" dirty="0">
                <a:solidFill>
                  <a:schemeClr val="tx2"/>
                </a:solidFill>
              </a:rPr>
              <a:t>Variation</a:t>
            </a:r>
            <a:endParaRPr lang="en-US" sz="2400" dirty="0"/>
          </a:p>
        </p:txBody>
      </p:sp>
      <p:sp>
        <p:nvSpPr>
          <p:cNvPr id="15" name="Text 10"/>
          <p:cNvSpPr txBox="1"/>
          <p:nvPr/>
        </p:nvSpPr>
        <p:spPr>
          <a:xfrm>
            <a:off x="8275320" y="4892040"/>
            <a:ext cx="3154680" cy="1234440"/>
          </a:xfrm>
          <a:prstGeom prst="rect">
            <a:avLst/>
          </a:prstGeom>
          <a:noFill/>
          <a:ln/>
        </p:spPr>
        <p:txBody>
          <a:bodyPr wrap="square" lIns="0" tIns="0" rIns="0" bIns="0" rtlCol="0" anchor="t"/>
          <a:lstStyle/>
          <a:p>
            <a:pPr indent="0" marL="0">
              <a:buNone/>
            </a:pPr>
            <a:r>
              <a:rPr lang="en-US" sz="1800" dirty="0">
                <a:solidFill>
                  <a:schemeClr val="tx1"/>
                </a:solidFill>
              </a:rPr>
              <a:t>Same-store and holiday sales stress move within permitted ranges.</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Logic: financial metrics as evidence</a:t>
            </a:r>
            <a:endParaRPr lang="en-US" sz="3600" dirty="0"/>
          </a:p>
        </p:txBody>
      </p:sp>
      <p:sp>
        <p:nvSpPr>
          <p:cNvPr id="3" name="Interest Coverage tile"/>
          <p:cNvSpPr/>
          <p:nvPr/>
        </p:nvSpPr>
        <p:spPr>
          <a:xfrm>
            <a:off x="548640" y="1417320"/>
            <a:ext cx="3520440" cy="1600200"/>
          </a:xfrm>
          <a:prstGeom prst="roundRect">
            <a:avLst>
              <a:gd name="adj" fmla="val 6857"/>
            </a:avLst>
          </a:prstGeom>
          <a:solidFill>
            <a:schemeClr val="tx2"/>
          </a:solidFill>
          <a:ln/>
          <a:effectLst>
            <a:outerShdw sx="100000" sy="100000" kx="0" ky="0" algn="bl" rotWithShape="0" blurRad="101600" dist="25400" dir="5400000">
              <a:srgbClr val="0D2146">
                <a:alpha val="14000"/>
              </a:srgbClr>
            </a:outerShdw>
          </a:effectLst>
        </p:spPr>
      </p:sp>
      <p:sp>
        <p:nvSpPr>
          <p:cNvPr id="4" name="Text 2"/>
          <p:cNvSpPr txBox="1"/>
          <p:nvPr/>
        </p:nvSpPr>
        <p:spPr>
          <a:xfrm>
            <a:off x="822960" y="1527048"/>
            <a:ext cx="2971800" cy="731520"/>
          </a:xfrm>
          <a:prstGeom prst="rect">
            <a:avLst/>
          </a:prstGeom>
          <a:noFill/>
          <a:ln/>
        </p:spPr>
        <p:txBody>
          <a:bodyPr wrap="square" lIns="0" tIns="0" rIns="0" bIns="0" rtlCol="0" anchor="ctr"/>
          <a:lstStyle/>
          <a:p>
            <a:pPr indent="0" marL="0">
              <a:buNone/>
            </a:pPr>
            <a:r>
              <a:rPr lang="en-US" sz="4000" b="1" dirty="0">
                <a:solidFill>
                  <a:schemeClr val="accent5"/>
                </a:solidFill>
                <a:latin typeface="+mj-lt" pitchFamily="34" charset="0"/>
                <a:ea typeface="+mj-lt" pitchFamily="34" charset="-122"/>
                <a:cs typeface="+mj-lt" pitchFamily="34" charset="-120"/>
              </a:rPr>
              <a:t>≈ 1.01x</a:t>
            </a:r>
            <a:endParaRPr lang="en-US" sz="4000" dirty="0"/>
          </a:p>
        </p:txBody>
      </p:sp>
      <p:sp>
        <p:nvSpPr>
          <p:cNvPr id="5" name="Text 3"/>
          <p:cNvSpPr txBox="1"/>
          <p:nvPr/>
        </p:nvSpPr>
        <p:spPr>
          <a:xfrm>
            <a:off x="822960" y="2286000"/>
            <a:ext cx="2971800" cy="347472"/>
          </a:xfrm>
          <a:prstGeom prst="rect">
            <a:avLst/>
          </a:prstGeom>
          <a:noFill/>
          <a:ln/>
        </p:spPr>
        <p:txBody>
          <a:bodyPr wrap="square" lIns="0" tIns="0" rIns="0" bIns="0" rtlCol="0" anchor="t"/>
          <a:lstStyle/>
          <a:p>
            <a:pPr indent="0" marL="0">
              <a:buNone/>
            </a:pPr>
            <a:r>
              <a:rPr lang="en-US" sz="2000" b="1" dirty="0">
                <a:solidFill>
                  <a:schemeClr val="bg1"/>
                </a:solidFill>
              </a:rPr>
              <a:t>Interest Coverage</a:t>
            </a:r>
            <a:endParaRPr lang="en-US" sz="2000" dirty="0"/>
          </a:p>
        </p:txBody>
      </p:sp>
      <p:sp>
        <p:nvSpPr>
          <p:cNvPr id="6" name="Text 4"/>
          <p:cNvSpPr txBox="1"/>
          <p:nvPr/>
        </p:nvSpPr>
        <p:spPr>
          <a:xfrm>
            <a:off x="822960" y="2624328"/>
            <a:ext cx="2971800" cy="320040"/>
          </a:xfrm>
          <a:prstGeom prst="rect">
            <a:avLst/>
          </a:prstGeom>
          <a:noFill/>
          <a:ln/>
        </p:spPr>
        <p:txBody>
          <a:bodyPr wrap="square" lIns="0" tIns="0" rIns="0" bIns="0" rtlCol="0" anchor="t"/>
          <a:lstStyle/>
          <a:p>
            <a:pPr indent="0" marL="0">
              <a:buNone/>
            </a:pPr>
            <a:r>
              <a:rPr lang="en-US" sz="1600" dirty="0">
                <a:solidFill>
                  <a:schemeClr val="accent4"/>
                </a:solidFill>
              </a:rPr>
              <a:t>= 460 / 457</a:t>
            </a:r>
            <a:endParaRPr lang="en-US" sz="1600" dirty="0"/>
          </a:p>
        </p:txBody>
      </p:sp>
      <p:sp>
        <p:nvSpPr>
          <p:cNvPr id="7" name="Debt / EBITDA tile"/>
          <p:cNvSpPr/>
          <p:nvPr/>
        </p:nvSpPr>
        <p:spPr>
          <a:xfrm>
            <a:off x="4334256" y="1417320"/>
            <a:ext cx="3520440" cy="1600200"/>
          </a:xfrm>
          <a:prstGeom prst="roundRect">
            <a:avLst>
              <a:gd name="adj" fmla="val 6857"/>
            </a:avLst>
          </a:prstGeom>
          <a:solidFill>
            <a:schemeClr val="tx2"/>
          </a:solidFill>
          <a:ln/>
          <a:effectLst>
            <a:outerShdw sx="100000" sy="100000" kx="0" ky="0" algn="bl" rotWithShape="0" blurRad="101600" dist="25400" dir="5400000">
              <a:srgbClr val="0D2146">
                <a:alpha val="14000"/>
              </a:srgbClr>
            </a:outerShdw>
          </a:effectLst>
        </p:spPr>
      </p:sp>
      <p:sp>
        <p:nvSpPr>
          <p:cNvPr id="8" name="Text 6"/>
          <p:cNvSpPr txBox="1"/>
          <p:nvPr/>
        </p:nvSpPr>
        <p:spPr>
          <a:xfrm>
            <a:off x="4608576" y="1527048"/>
            <a:ext cx="2971800" cy="731520"/>
          </a:xfrm>
          <a:prstGeom prst="rect">
            <a:avLst/>
          </a:prstGeom>
          <a:noFill/>
          <a:ln/>
        </p:spPr>
        <p:txBody>
          <a:bodyPr wrap="square" lIns="0" tIns="0" rIns="0" bIns="0" rtlCol="0" anchor="ctr"/>
          <a:lstStyle/>
          <a:p>
            <a:pPr indent="0" marL="0">
              <a:buNone/>
            </a:pPr>
            <a:r>
              <a:rPr lang="en-US" sz="4000" b="1" dirty="0">
                <a:solidFill>
                  <a:schemeClr val="accent5"/>
                </a:solidFill>
                <a:latin typeface="+mj-lt" pitchFamily="34" charset="0"/>
                <a:ea typeface="+mj-lt" pitchFamily="34" charset="-122"/>
                <a:cs typeface="+mj-lt" pitchFamily="34" charset="-120"/>
              </a:rPr>
              <a:t>≈ 6.06x</a:t>
            </a:r>
            <a:endParaRPr lang="en-US" sz="4000" dirty="0"/>
          </a:p>
        </p:txBody>
      </p:sp>
      <p:sp>
        <p:nvSpPr>
          <p:cNvPr id="9" name="Text 7"/>
          <p:cNvSpPr txBox="1"/>
          <p:nvPr/>
        </p:nvSpPr>
        <p:spPr>
          <a:xfrm>
            <a:off x="4608576" y="2286000"/>
            <a:ext cx="2971800" cy="347472"/>
          </a:xfrm>
          <a:prstGeom prst="rect">
            <a:avLst/>
          </a:prstGeom>
          <a:noFill/>
          <a:ln/>
        </p:spPr>
        <p:txBody>
          <a:bodyPr wrap="square" lIns="0" tIns="0" rIns="0" bIns="0" rtlCol="0" anchor="t"/>
          <a:lstStyle/>
          <a:p>
            <a:pPr indent="0" marL="0">
              <a:buNone/>
            </a:pPr>
            <a:r>
              <a:rPr lang="en-US" sz="2000" b="1" dirty="0">
                <a:solidFill>
                  <a:schemeClr val="bg1"/>
                </a:solidFill>
              </a:rPr>
              <a:t>Debt / EBITDA</a:t>
            </a:r>
            <a:endParaRPr lang="en-US" sz="2000" dirty="0"/>
          </a:p>
        </p:txBody>
      </p:sp>
      <p:sp>
        <p:nvSpPr>
          <p:cNvPr id="10" name="Text 8"/>
          <p:cNvSpPr txBox="1"/>
          <p:nvPr/>
        </p:nvSpPr>
        <p:spPr>
          <a:xfrm>
            <a:off x="4608576" y="2624328"/>
            <a:ext cx="2971800" cy="320040"/>
          </a:xfrm>
          <a:prstGeom prst="rect">
            <a:avLst/>
          </a:prstGeom>
          <a:noFill/>
          <a:ln/>
        </p:spPr>
        <p:txBody>
          <a:bodyPr wrap="square" lIns="0" tIns="0" rIns="0" bIns="0" rtlCol="0" anchor="t"/>
          <a:lstStyle/>
          <a:p>
            <a:pPr indent="0" marL="0">
              <a:buNone/>
            </a:pPr>
            <a:r>
              <a:rPr lang="en-US" sz="1600" dirty="0">
                <a:solidFill>
                  <a:schemeClr val="accent4"/>
                </a:solidFill>
              </a:rPr>
              <a:t>= 4,800 / 792</a:t>
            </a:r>
            <a:endParaRPr lang="en-US" sz="1600" dirty="0"/>
          </a:p>
        </p:txBody>
      </p:sp>
      <p:sp>
        <p:nvSpPr>
          <p:cNvPr id="11" name="Net Debt / EBITDA tile"/>
          <p:cNvSpPr/>
          <p:nvPr/>
        </p:nvSpPr>
        <p:spPr>
          <a:xfrm>
            <a:off x="8119872" y="1417320"/>
            <a:ext cx="3520440" cy="1600200"/>
          </a:xfrm>
          <a:prstGeom prst="roundRect">
            <a:avLst>
              <a:gd name="adj" fmla="val 6857"/>
            </a:avLst>
          </a:prstGeom>
          <a:solidFill>
            <a:schemeClr val="tx2"/>
          </a:solidFill>
          <a:ln/>
          <a:effectLst>
            <a:outerShdw sx="100000" sy="100000" kx="0" ky="0" algn="bl" rotWithShape="0" blurRad="101600" dist="25400" dir="5400000">
              <a:srgbClr val="0D2146">
                <a:alpha val="14000"/>
              </a:srgbClr>
            </a:outerShdw>
          </a:effectLst>
        </p:spPr>
      </p:sp>
      <p:sp>
        <p:nvSpPr>
          <p:cNvPr id="12" name="Text 10"/>
          <p:cNvSpPr txBox="1"/>
          <p:nvPr/>
        </p:nvSpPr>
        <p:spPr>
          <a:xfrm>
            <a:off x="8394192" y="1527048"/>
            <a:ext cx="2971800" cy="731520"/>
          </a:xfrm>
          <a:prstGeom prst="rect">
            <a:avLst/>
          </a:prstGeom>
          <a:noFill/>
          <a:ln/>
        </p:spPr>
        <p:txBody>
          <a:bodyPr wrap="square" lIns="0" tIns="0" rIns="0" bIns="0" rtlCol="0" anchor="ctr"/>
          <a:lstStyle/>
          <a:p>
            <a:pPr indent="0" marL="0">
              <a:buNone/>
            </a:pPr>
            <a:r>
              <a:rPr lang="en-US" sz="4000" b="1" dirty="0">
                <a:solidFill>
                  <a:schemeClr val="accent5"/>
                </a:solidFill>
                <a:latin typeface="+mj-lt" pitchFamily="34" charset="0"/>
                <a:ea typeface="+mj-lt" pitchFamily="34" charset="-122"/>
                <a:cs typeface="+mj-lt" pitchFamily="34" charset="-120"/>
              </a:rPr>
              <a:t>≈ 5.35x</a:t>
            </a:r>
            <a:endParaRPr lang="en-US" sz="4000" dirty="0"/>
          </a:p>
        </p:txBody>
      </p:sp>
      <p:sp>
        <p:nvSpPr>
          <p:cNvPr id="13" name="Text 11"/>
          <p:cNvSpPr txBox="1"/>
          <p:nvPr/>
        </p:nvSpPr>
        <p:spPr>
          <a:xfrm>
            <a:off x="8394192" y="2286000"/>
            <a:ext cx="2971800" cy="347472"/>
          </a:xfrm>
          <a:prstGeom prst="rect">
            <a:avLst/>
          </a:prstGeom>
          <a:noFill/>
          <a:ln/>
        </p:spPr>
        <p:txBody>
          <a:bodyPr wrap="square" lIns="0" tIns="0" rIns="0" bIns="0" rtlCol="0" anchor="t"/>
          <a:lstStyle/>
          <a:p>
            <a:pPr indent="0" marL="0">
              <a:buNone/>
            </a:pPr>
            <a:r>
              <a:rPr lang="en-US" sz="2000" b="1" dirty="0">
                <a:solidFill>
                  <a:schemeClr val="bg1"/>
                </a:solidFill>
              </a:rPr>
              <a:t>Net Debt / EBITDA</a:t>
            </a:r>
            <a:endParaRPr lang="en-US" sz="2000" dirty="0"/>
          </a:p>
        </p:txBody>
      </p:sp>
      <p:sp>
        <p:nvSpPr>
          <p:cNvPr id="14" name="Text 12"/>
          <p:cNvSpPr txBox="1"/>
          <p:nvPr/>
        </p:nvSpPr>
        <p:spPr>
          <a:xfrm>
            <a:off x="8394192" y="2624328"/>
            <a:ext cx="2971800" cy="320040"/>
          </a:xfrm>
          <a:prstGeom prst="rect">
            <a:avLst/>
          </a:prstGeom>
          <a:noFill/>
          <a:ln/>
        </p:spPr>
        <p:txBody>
          <a:bodyPr wrap="square" lIns="0" tIns="0" rIns="0" bIns="0" rtlCol="0" anchor="t"/>
          <a:lstStyle/>
          <a:p>
            <a:pPr indent="0" marL="0">
              <a:buNone/>
            </a:pPr>
            <a:r>
              <a:rPr lang="en-US" sz="1600" dirty="0">
                <a:solidFill>
                  <a:schemeClr val="accent4"/>
                </a:solidFill>
              </a:rPr>
              <a:t>= (4,800 − 566) / 792</a:t>
            </a:r>
            <a:endParaRPr lang="en-US" sz="1600" dirty="0"/>
          </a:p>
        </p:txBody>
      </p:sp>
      <p:sp>
        <p:nvSpPr>
          <p:cNvPr id="15" name="EBIT margin tile"/>
          <p:cNvSpPr/>
          <p:nvPr/>
        </p:nvSpPr>
        <p:spPr>
          <a:xfrm>
            <a:off x="548640" y="3200400"/>
            <a:ext cx="3520440"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6" name="Text 14"/>
          <p:cNvSpPr txBox="1"/>
          <p:nvPr/>
        </p:nvSpPr>
        <p:spPr>
          <a:xfrm>
            <a:off x="822960" y="3310128"/>
            <a:ext cx="297180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 4.0%</a:t>
            </a:r>
            <a:endParaRPr lang="en-US" sz="4000" dirty="0"/>
          </a:p>
        </p:txBody>
      </p:sp>
      <p:sp>
        <p:nvSpPr>
          <p:cNvPr id="17" name="Text 15"/>
          <p:cNvSpPr txBox="1"/>
          <p:nvPr/>
        </p:nvSpPr>
        <p:spPr>
          <a:xfrm>
            <a:off x="822960" y="4069080"/>
            <a:ext cx="2971800" cy="347472"/>
          </a:xfrm>
          <a:prstGeom prst="rect">
            <a:avLst/>
          </a:prstGeom>
          <a:noFill/>
          <a:ln/>
        </p:spPr>
        <p:txBody>
          <a:bodyPr wrap="square" lIns="0" tIns="0" rIns="0" bIns="0" rtlCol="0" anchor="t"/>
          <a:lstStyle/>
          <a:p>
            <a:pPr indent="0" marL="0">
              <a:buNone/>
            </a:pPr>
            <a:r>
              <a:rPr lang="en-US" sz="2000" b="1" dirty="0">
                <a:solidFill>
                  <a:schemeClr val="tx2"/>
                </a:solidFill>
              </a:rPr>
              <a:t>EBIT margin</a:t>
            </a:r>
            <a:endParaRPr lang="en-US" sz="2000" dirty="0"/>
          </a:p>
        </p:txBody>
      </p:sp>
      <p:sp>
        <p:nvSpPr>
          <p:cNvPr id="18" name="Gross margin tile"/>
          <p:cNvSpPr/>
          <p:nvPr/>
        </p:nvSpPr>
        <p:spPr>
          <a:xfrm>
            <a:off x="4334256" y="3200400"/>
            <a:ext cx="3520440"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9" name="Text 17"/>
          <p:cNvSpPr txBox="1"/>
          <p:nvPr/>
        </p:nvSpPr>
        <p:spPr>
          <a:xfrm>
            <a:off x="4608576" y="3310128"/>
            <a:ext cx="297180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 35.6%</a:t>
            </a:r>
            <a:endParaRPr lang="en-US" sz="4000" dirty="0"/>
          </a:p>
        </p:txBody>
      </p:sp>
      <p:sp>
        <p:nvSpPr>
          <p:cNvPr id="20" name="Text 18"/>
          <p:cNvSpPr txBox="1"/>
          <p:nvPr/>
        </p:nvSpPr>
        <p:spPr>
          <a:xfrm>
            <a:off x="4608576" y="4069080"/>
            <a:ext cx="2971800" cy="347472"/>
          </a:xfrm>
          <a:prstGeom prst="rect">
            <a:avLst/>
          </a:prstGeom>
          <a:noFill/>
          <a:ln/>
        </p:spPr>
        <p:txBody>
          <a:bodyPr wrap="square" lIns="0" tIns="0" rIns="0" bIns="0" rtlCol="0" anchor="t"/>
          <a:lstStyle/>
          <a:p>
            <a:pPr indent="0" marL="0">
              <a:buNone/>
            </a:pPr>
            <a:r>
              <a:rPr lang="en-US" sz="2000" b="1" dirty="0">
                <a:solidFill>
                  <a:schemeClr val="tx2"/>
                </a:solidFill>
              </a:rPr>
              <a:t>Gross margin</a:t>
            </a:r>
            <a:endParaRPr lang="en-US" sz="2000" dirty="0"/>
          </a:p>
        </p:txBody>
      </p:sp>
      <p:sp>
        <p:nvSpPr>
          <p:cNvPr id="21" name="Revenue growth tile"/>
          <p:cNvSpPr/>
          <p:nvPr/>
        </p:nvSpPr>
        <p:spPr>
          <a:xfrm>
            <a:off x="8119872" y="3200400"/>
            <a:ext cx="3520440"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2" name="Text 20"/>
          <p:cNvSpPr txBox="1"/>
          <p:nvPr/>
        </p:nvSpPr>
        <p:spPr>
          <a:xfrm>
            <a:off x="8394192" y="3310128"/>
            <a:ext cx="297180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 −2.2%</a:t>
            </a:r>
            <a:endParaRPr lang="en-US" sz="4000" dirty="0"/>
          </a:p>
        </p:txBody>
      </p:sp>
      <p:sp>
        <p:nvSpPr>
          <p:cNvPr id="23" name="Text 21"/>
          <p:cNvSpPr txBox="1"/>
          <p:nvPr/>
        </p:nvSpPr>
        <p:spPr>
          <a:xfrm>
            <a:off x="8394192" y="4069080"/>
            <a:ext cx="2971800" cy="347472"/>
          </a:xfrm>
          <a:prstGeom prst="rect">
            <a:avLst/>
          </a:prstGeom>
          <a:noFill/>
          <a:ln/>
        </p:spPr>
        <p:txBody>
          <a:bodyPr wrap="square" lIns="0" tIns="0" rIns="0" bIns="0" rtlCol="0" anchor="t"/>
          <a:lstStyle/>
          <a:p>
            <a:pPr indent="0" marL="0">
              <a:buNone/>
            </a:pPr>
            <a:r>
              <a:rPr lang="en-US" sz="2000" b="1" dirty="0">
                <a:solidFill>
                  <a:schemeClr val="tx2"/>
                </a:solidFill>
              </a:rPr>
              <a:t>Revenue growth</a:t>
            </a:r>
            <a:endParaRPr lang="en-US" sz="2000" dirty="0"/>
          </a:p>
        </p:txBody>
      </p:sp>
      <p:sp>
        <p:nvSpPr>
          <p:cNvPr id="24" name="Insight banner"/>
          <p:cNvSpPr/>
          <p:nvPr/>
        </p:nvSpPr>
        <p:spPr>
          <a:xfrm>
            <a:off x="548640" y="5029200"/>
            <a:ext cx="11091672" cy="1188720"/>
          </a:xfrm>
          <a:prstGeom prst="roundRect">
            <a:avLst>
              <a:gd name="adj" fmla="val 9231"/>
            </a:avLst>
          </a:prstGeom>
          <a:solidFill>
            <a:schemeClr val="accent4"/>
          </a:solidFill>
          <a:ln/>
        </p:spPr>
      </p:sp>
      <p:sp>
        <p:nvSpPr>
          <p:cNvPr id="25" name="Insight badge"/>
          <p:cNvSpPr/>
          <p:nvPr/>
        </p:nvSpPr>
        <p:spPr>
          <a:xfrm>
            <a:off x="822960" y="5321808"/>
            <a:ext cx="603504" cy="603504"/>
          </a:xfrm>
          <a:prstGeom prst="ellipse">
            <a:avLst/>
          </a:prstGeom>
          <a:solidFill>
            <a:schemeClr val="tx2"/>
          </a:solidFill>
          <a:ln/>
        </p:spPr>
      </p:sp>
      <p:pic>
        <p:nvPicPr>
          <p:cNvPr id="26" name="Insight icon" descr="Lightbulb icon">    </p:cNvPr>
          <p:cNvPicPr>
            <a:picLocks noChangeAspect="1"/>
          </p:cNvPicPr>
          <p:nvPr/>
        </p:nvPicPr>
        <p:blipFill>
          <a:blip r:embed="rId1"/>
          <a:stretch>
            <a:fillRect/>
          </a:stretch>
        </p:blipFill>
        <p:spPr>
          <a:xfrm>
            <a:off x="973836" y="5472684"/>
            <a:ext cx="301752" cy="301752"/>
          </a:xfrm>
          <a:prstGeom prst="rect">
            <a:avLst/>
          </a:prstGeom>
        </p:spPr>
      </p:pic>
      <p:sp>
        <p:nvSpPr>
          <p:cNvPr id="27" name="Text 24"/>
          <p:cNvSpPr txBox="1"/>
          <p:nvPr/>
        </p:nvSpPr>
        <p:spPr>
          <a:xfrm>
            <a:off x="1691640" y="5029200"/>
            <a:ext cx="9692640" cy="1188720"/>
          </a:xfrm>
          <a:prstGeom prst="rect">
            <a:avLst/>
          </a:prstGeom>
          <a:noFill/>
          <a:ln/>
        </p:spPr>
        <p:txBody>
          <a:bodyPr wrap="square" lIns="0" tIns="0" rIns="0" bIns="0" rtlCol="0" anchor="ctr"/>
          <a:lstStyle/>
          <a:p>
            <a:pPr indent="0" marL="0">
              <a:buNone/>
            </a:pPr>
            <a:r>
              <a:rPr lang="en-US" sz="2200" b="1" dirty="0">
                <a:solidFill>
                  <a:srgbClr val="0D2146"/>
                </a:solidFill>
              </a:rPr>
              <a:t>Financing pressure outweighs the revenue dip.</a:t>
            </a:r>
            <a:endParaRPr lang="en-US" sz="1800" dirty="0"/>
          </a:p>
          <a:p>
            <a:pPr indent="0" marL="0">
              <a:buNone/>
            </a:pPr>
            <a:r>
              <a:rPr lang="en-US" sz="1800" dirty="0">
                <a:solidFill>
                  <a:srgbClr val="14213A"/>
                </a:solidFill>
              </a:rPr>
              <a:t>Evidence → Reasoning → Classification → Score. Metrics are not scored directly.</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Logic: overall Counselor Score</a:t>
            </a:r>
            <a:endParaRPr lang="en-US" sz="3600" dirty="0"/>
          </a:p>
        </p:txBody>
      </p:sp>
      <p:graphicFrame>
        <p:nvGraphicFramePr>
          <p:cNvPr id="3" name="Chart 0" descr=""/>
          <p:cNvGraphicFramePr/>
          <p:nvPr/>
        </p:nvGraphicFramePr>
        <p:xfrm>
          <a:off x="548640" y="137160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2194560" y="2788920"/>
            <a:ext cx="2011680" cy="1371600"/>
          </a:xfrm>
          <a:prstGeom prst="rect">
            <a:avLst/>
          </a:prstGeom>
          <a:noFill/>
          <a:ln/>
        </p:spPr>
        <p:txBody>
          <a:bodyPr wrap="square" lIns="0" tIns="0" rIns="0" bIns="0" rtlCol="0" anchor="ctr"/>
          <a:lstStyle/>
          <a:p>
            <a:pPr algn="ctr" indent="0" marL="0">
              <a:buNone/>
            </a:pPr>
            <a:r>
              <a:rPr lang="en-US" sz="3600" b="1" dirty="0">
                <a:solidFill>
                  <a:srgbClr val="0D2146"/>
                </a:solidFill>
                <a:latin typeface="+mj-lt" pitchFamily="34" charset="0"/>
                <a:ea typeface="+mj-lt" pitchFamily="34" charset="-122"/>
                <a:cs typeface="+mj-lt" pitchFamily="34" charset="-120"/>
              </a:rPr>
              <a:t>/100</a:t>
            </a:r>
            <a:endParaRPr lang="en-US" sz="1800" dirty="0"/>
          </a:p>
          <a:p>
            <a:pPr algn="ctr" indent="0" marL="0">
              <a:buNone/>
            </a:pPr>
            <a:r>
              <a:rPr lang="en-US" sz="1600" dirty="0">
                <a:solidFill>
                  <a:srgbClr val="447194"/>
                </a:solidFill>
              </a:rPr>
              <a:t>Counselor</a:t>
            </a:r>
            <a:endParaRPr lang="en-US" sz="1800" dirty="0"/>
          </a:p>
          <a:p>
            <a:pPr algn="ctr" indent="0" marL="0">
              <a:buNone/>
            </a:pPr>
            <a:r>
              <a:rPr lang="en-US" sz="1600" dirty="0">
                <a:solidFill>
                  <a:srgbClr val="447194"/>
                </a:solidFill>
              </a:rPr>
              <a:t>Score</a:t>
            </a:r>
            <a:endParaRPr lang="en-US" sz="1800" dirty="0"/>
          </a:p>
        </p:txBody>
      </p:sp>
      <p:sp>
        <p:nvSpPr>
          <p:cNvPr id="5" name="Not scored badge"/>
          <p:cNvSpPr/>
          <p:nvPr/>
        </p:nvSpPr>
        <p:spPr>
          <a:xfrm>
            <a:off x="548640" y="5760720"/>
            <a:ext cx="457200" cy="457200"/>
          </a:xfrm>
          <a:prstGeom prst="ellipse">
            <a:avLst/>
          </a:prstGeom>
          <a:solidFill>
            <a:schemeClr val="accent4"/>
          </a:solidFill>
          <a:ln/>
        </p:spPr>
      </p:sp>
      <p:pic>
        <p:nvPicPr>
          <p:cNvPr id="6" name="Not scored icon" descr="Eye icon">    </p:cNvPr>
          <p:cNvPicPr>
            <a:picLocks noChangeAspect="1"/>
          </p:cNvPicPr>
          <p:nvPr/>
        </p:nvPicPr>
        <p:blipFill>
          <a:blip r:embed="rId2"/>
          <a:stretch>
            <a:fillRect/>
          </a:stretch>
        </p:blipFill>
        <p:spPr>
          <a:xfrm>
            <a:off x="662940" y="5875020"/>
            <a:ext cx="228600" cy="228600"/>
          </a:xfrm>
          <a:prstGeom prst="rect">
            <a:avLst/>
          </a:prstGeom>
        </p:spPr>
      </p:pic>
      <p:sp>
        <p:nvSpPr>
          <p:cNvPr id="7" name="Text 3"/>
          <p:cNvSpPr txBox="1"/>
          <p:nvPr/>
        </p:nvSpPr>
        <p:spPr>
          <a:xfrm>
            <a:off x="1143000" y="5760720"/>
            <a:ext cx="4754880" cy="457200"/>
          </a:xfrm>
          <a:prstGeom prst="rect">
            <a:avLst/>
          </a:prstGeom>
          <a:noFill/>
          <a:ln/>
        </p:spPr>
        <p:txBody>
          <a:bodyPr wrap="square" lIns="0" tIns="0" rIns="0" bIns="0" rtlCol="0" anchor="ctr"/>
          <a:lstStyle/>
          <a:p>
            <a:pPr indent="0" marL="0">
              <a:buNone/>
            </a:pPr>
            <a:r>
              <a:rPr lang="en-US" sz="1800" dirty="0">
                <a:solidFill>
                  <a:schemeClr val="tx1"/>
                </a:solidFill>
              </a:rPr>
              <a:t>Screen 10 (Consequence) is not scored</a:t>
            </a:r>
            <a:endParaRPr lang="en-US" sz="1800" dirty="0"/>
          </a:p>
        </p:txBody>
      </p:sp>
      <p:sp>
        <p:nvSpPr>
          <p:cNvPr id="8" name="Legend row Investigation"/>
          <p:cNvSpPr/>
          <p:nvPr/>
        </p:nvSpPr>
        <p:spPr>
          <a:xfrm>
            <a:off x="6309360" y="1463040"/>
            <a:ext cx="5330952" cy="475488"/>
          </a:xfrm>
          <a:prstGeom prst="roundRect">
            <a:avLst>
              <a:gd name="adj" fmla="val 19231"/>
            </a:avLst>
          </a:prstGeom>
          <a:solidFill>
            <a:schemeClr val="bg1"/>
          </a:solidFill>
          <a:ln w="9525">
            <a:solidFill>
              <a:schemeClr val="accent6"/>
            </a:solidFill>
            <a:prstDash val="solid"/>
          </a:ln>
        </p:spPr>
      </p:sp>
      <p:sp>
        <p:nvSpPr>
          <p:cNvPr id="9" name="Legend dot Investigation"/>
          <p:cNvSpPr/>
          <p:nvPr/>
        </p:nvSpPr>
        <p:spPr>
          <a:xfrm>
            <a:off x="6492240" y="1581912"/>
            <a:ext cx="237744" cy="237744"/>
          </a:xfrm>
          <a:prstGeom prst="ellipse">
            <a:avLst/>
          </a:prstGeom>
          <a:solidFill>
            <a:srgbClr val="0D2146"/>
          </a:solidFill>
          <a:ln/>
        </p:spPr>
      </p:sp>
      <p:sp>
        <p:nvSpPr>
          <p:cNvPr id="10" name="Text 6"/>
          <p:cNvSpPr txBox="1"/>
          <p:nvPr/>
        </p:nvSpPr>
        <p:spPr>
          <a:xfrm>
            <a:off x="6903720" y="1463040"/>
            <a:ext cx="3291840" cy="475488"/>
          </a:xfrm>
          <a:prstGeom prst="rect">
            <a:avLst/>
          </a:prstGeom>
          <a:noFill/>
          <a:ln/>
        </p:spPr>
        <p:txBody>
          <a:bodyPr wrap="square" lIns="0" tIns="0" rIns="0" bIns="0" rtlCol="0" anchor="ctr"/>
          <a:lstStyle/>
          <a:p>
            <a:pPr indent="0" marL="0">
              <a:buNone/>
            </a:pPr>
            <a:r>
              <a:rPr lang="en-US" sz="2000" dirty="0">
                <a:solidFill>
                  <a:schemeClr val="tx1"/>
                </a:solidFill>
              </a:rPr>
              <a:t>Investigation</a:t>
            </a:r>
            <a:endParaRPr lang="en-US" sz="2000" dirty="0"/>
          </a:p>
        </p:txBody>
      </p:sp>
      <p:sp>
        <p:nvSpPr>
          <p:cNvPr id="11" name="Text 7"/>
          <p:cNvSpPr txBox="1"/>
          <p:nvPr/>
        </p:nvSpPr>
        <p:spPr>
          <a:xfrm>
            <a:off x="10424160" y="1463040"/>
            <a:ext cx="1005840" cy="475488"/>
          </a:xfrm>
          <a:prstGeom prst="rect">
            <a:avLst/>
          </a:prstGeom>
          <a:noFill/>
          <a:ln/>
        </p:spPr>
        <p:txBody>
          <a:bodyPr wrap="square" lIns="0" tIns="0" rIns="0" bIns="0" rtlCol="0" anchor="ctr"/>
          <a:lstStyle/>
          <a:p>
            <a:pPr algn="r" indent="0" marL="0">
              <a:buNone/>
            </a:pPr>
            <a:r>
              <a:rPr lang="en-US" sz="2200" b="1" dirty="0">
                <a:solidFill>
                  <a:schemeClr val="tx2"/>
                </a:solidFill>
              </a:rPr>
              <a:t>20%</a:t>
            </a:r>
            <a:endParaRPr lang="en-US" sz="2200" dirty="0"/>
          </a:p>
        </p:txBody>
      </p:sp>
      <p:sp>
        <p:nvSpPr>
          <p:cNvPr id="12" name="Legend row Diagnosis"/>
          <p:cNvSpPr/>
          <p:nvPr/>
        </p:nvSpPr>
        <p:spPr>
          <a:xfrm>
            <a:off x="6309360" y="2011680"/>
            <a:ext cx="5330952" cy="475488"/>
          </a:xfrm>
          <a:prstGeom prst="roundRect">
            <a:avLst>
              <a:gd name="adj" fmla="val 19231"/>
            </a:avLst>
          </a:prstGeom>
          <a:solidFill>
            <a:schemeClr val="bg1"/>
          </a:solidFill>
          <a:ln w="9525">
            <a:solidFill>
              <a:schemeClr val="accent6"/>
            </a:solidFill>
            <a:prstDash val="solid"/>
          </a:ln>
        </p:spPr>
      </p:sp>
      <p:sp>
        <p:nvSpPr>
          <p:cNvPr id="13" name="Legend dot Diagnosis"/>
          <p:cNvSpPr/>
          <p:nvPr/>
        </p:nvSpPr>
        <p:spPr>
          <a:xfrm>
            <a:off x="6492240" y="2130552"/>
            <a:ext cx="237744" cy="237744"/>
          </a:xfrm>
          <a:prstGeom prst="ellipse">
            <a:avLst/>
          </a:prstGeom>
          <a:solidFill>
            <a:srgbClr val="1D3F73"/>
          </a:solidFill>
          <a:ln/>
        </p:spPr>
      </p:sp>
      <p:sp>
        <p:nvSpPr>
          <p:cNvPr id="14" name="Text 10"/>
          <p:cNvSpPr txBox="1"/>
          <p:nvPr/>
        </p:nvSpPr>
        <p:spPr>
          <a:xfrm>
            <a:off x="6903720" y="2011680"/>
            <a:ext cx="3291840" cy="475488"/>
          </a:xfrm>
          <a:prstGeom prst="rect">
            <a:avLst/>
          </a:prstGeom>
          <a:noFill/>
          <a:ln/>
        </p:spPr>
        <p:txBody>
          <a:bodyPr wrap="square" lIns="0" tIns="0" rIns="0" bIns="0" rtlCol="0" anchor="ctr"/>
          <a:lstStyle/>
          <a:p>
            <a:pPr indent="0" marL="0">
              <a:buNone/>
            </a:pPr>
            <a:r>
              <a:rPr lang="en-US" sz="2000" dirty="0">
                <a:solidFill>
                  <a:schemeClr val="tx1"/>
                </a:solidFill>
              </a:rPr>
              <a:t>Diagnosis</a:t>
            </a:r>
            <a:endParaRPr lang="en-US" sz="2000" dirty="0"/>
          </a:p>
        </p:txBody>
      </p:sp>
      <p:sp>
        <p:nvSpPr>
          <p:cNvPr id="15" name="Text 11"/>
          <p:cNvSpPr txBox="1"/>
          <p:nvPr/>
        </p:nvSpPr>
        <p:spPr>
          <a:xfrm>
            <a:off x="10424160" y="2011680"/>
            <a:ext cx="1005840" cy="475488"/>
          </a:xfrm>
          <a:prstGeom prst="rect">
            <a:avLst/>
          </a:prstGeom>
          <a:noFill/>
          <a:ln/>
        </p:spPr>
        <p:txBody>
          <a:bodyPr wrap="square" lIns="0" tIns="0" rIns="0" bIns="0" rtlCol="0" anchor="ctr"/>
          <a:lstStyle/>
          <a:p>
            <a:pPr algn="r" indent="0" marL="0">
              <a:buNone/>
            </a:pPr>
            <a:r>
              <a:rPr lang="en-US" sz="2200" b="1" dirty="0">
                <a:solidFill>
                  <a:schemeClr val="tx2"/>
                </a:solidFill>
              </a:rPr>
              <a:t>30%</a:t>
            </a:r>
            <a:endParaRPr lang="en-US" sz="2200" dirty="0"/>
          </a:p>
        </p:txBody>
      </p:sp>
      <p:sp>
        <p:nvSpPr>
          <p:cNvPr id="16" name="Legend row Treatment"/>
          <p:cNvSpPr/>
          <p:nvPr/>
        </p:nvSpPr>
        <p:spPr>
          <a:xfrm>
            <a:off x="6309360" y="2560320"/>
            <a:ext cx="5330952" cy="475488"/>
          </a:xfrm>
          <a:prstGeom prst="roundRect">
            <a:avLst>
              <a:gd name="adj" fmla="val 19231"/>
            </a:avLst>
          </a:prstGeom>
          <a:solidFill>
            <a:schemeClr val="bg1"/>
          </a:solidFill>
          <a:ln w="9525">
            <a:solidFill>
              <a:schemeClr val="accent6"/>
            </a:solidFill>
            <a:prstDash val="solid"/>
          </a:ln>
        </p:spPr>
      </p:sp>
      <p:sp>
        <p:nvSpPr>
          <p:cNvPr id="17" name="Legend dot Treatment"/>
          <p:cNvSpPr/>
          <p:nvPr/>
        </p:nvSpPr>
        <p:spPr>
          <a:xfrm>
            <a:off x="6492240" y="2679192"/>
            <a:ext cx="237744" cy="237744"/>
          </a:xfrm>
          <a:prstGeom prst="ellipse">
            <a:avLst/>
          </a:prstGeom>
          <a:solidFill>
            <a:srgbClr val="447194"/>
          </a:solidFill>
          <a:ln/>
        </p:spPr>
      </p:sp>
      <p:sp>
        <p:nvSpPr>
          <p:cNvPr id="18" name="Text 14"/>
          <p:cNvSpPr txBox="1"/>
          <p:nvPr/>
        </p:nvSpPr>
        <p:spPr>
          <a:xfrm>
            <a:off x="6903720" y="2560320"/>
            <a:ext cx="3291840" cy="475488"/>
          </a:xfrm>
          <a:prstGeom prst="rect">
            <a:avLst/>
          </a:prstGeom>
          <a:noFill/>
          <a:ln/>
        </p:spPr>
        <p:txBody>
          <a:bodyPr wrap="square" lIns="0" tIns="0" rIns="0" bIns="0" rtlCol="0" anchor="ctr"/>
          <a:lstStyle/>
          <a:p>
            <a:pPr indent="0" marL="0">
              <a:buNone/>
            </a:pPr>
            <a:r>
              <a:rPr lang="en-US" sz="2000" dirty="0">
                <a:solidFill>
                  <a:schemeClr val="tx1"/>
                </a:solidFill>
              </a:rPr>
              <a:t>Treatment</a:t>
            </a:r>
            <a:endParaRPr lang="en-US" sz="2000" dirty="0"/>
          </a:p>
        </p:txBody>
      </p:sp>
      <p:sp>
        <p:nvSpPr>
          <p:cNvPr id="19" name="Text 15"/>
          <p:cNvSpPr txBox="1"/>
          <p:nvPr/>
        </p:nvSpPr>
        <p:spPr>
          <a:xfrm>
            <a:off x="10424160" y="2560320"/>
            <a:ext cx="1005840" cy="475488"/>
          </a:xfrm>
          <a:prstGeom prst="rect">
            <a:avLst/>
          </a:prstGeom>
          <a:noFill/>
          <a:ln/>
        </p:spPr>
        <p:txBody>
          <a:bodyPr wrap="square" lIns="0" tIns="0" rIns="0" bIns="0" rtlCol="0" anchor="ctr"/>
          <a:lstStyle/>
          <a:p>
            <a:pPr algn="r" indent="0" marL="0">
              <a:buNone/>
            </a:pPr>
            <a:r>
              <a:rPr lang="en-US" sz="2200" b="1" dirty="0">
                <a:solidFill>
                  <a:schemeClr val="tx2"/>
                </a:solidFill>
              </a:rPr>
              <a:t>20%</a:t>
            </a:r>
            <a:endParaRPr lang="en-US" sz="2200" dirty="0"/>
          </a:p>
        </p:txBody>
      </p:sp>
      <p:sp>
        <p:nvSpPr>
          <p:cNvPr id="20" name="Legend row Execution"/>
          <p:cNvSpPr/>
          <p:nvPr/>
        </p:nvSpPr>
        <p:spPr>
          <a:xfrm>
            <a:off x="6309360" y="3108960"/>
            <a:ext cx="5330952" cy="475488"/>
          </a:xfrm>
          <a:prstGeom prst="roundRect">
            <a:avLst>
              <a:gd name="adj" fmla="val 19231"/>
            </a:avLst>
          </a:prstGeom>
          <a:solidFill>
            <a:schemeClr val="bg1"/>
          </a:solidFill>
          <a:ln w="9525">
            <a:solidFill>
              <a:schemeClr val="accent6"/>
            </a:solidFill>
            <a:prstDash val="solid"/>
          </a:ln>
        </p:spPr>
      </p:sp>
      <p:sp>
        <p:nvSpPr>
          <p:cNvPr id="21" name="Legend dot Execution"/>
          <p:cNvSpPr/>
          <p:nvPr/>
        </p:nvSpPr>
        <p:spPr>
          <a:xfrm>
            <a:off x="6492240" y="3227832"/>
            <a:ext cx="237744" cy="237744"/>
          </a:xfrm>
          <a:prstGeom prst="ellipse">
            <a:avLst/>
          </a:prstGeom>
          <a:solidFill>
            <a:srgbClr val="779EBD"/>
          </a:solidFill>
          <a:ln/>
        </p:spPr>
      </p:sp>
      <p:sp>
        <p:nvSpPr>
          <p:cNvPr id="22" name="Text 18"/>
          <p:cNvSpPr txBox="1"/>
          <p:nvPr/>
        </p:nvSpPr>
        <p:spPr>
          <a:xfrm>
            <a:off x="6903720" y="3108960"/>
            <a:ext cx="3291840" cy="475488"/>
          </a:xfrm>
          <a:prstGeom prst="rect">
            <a:avLst/>
          </a:prstGeom>
          <a:noFill/>
          <a:ln/>
        </p:spPr>
        <p:txBody>
          <a:bodyPr wrap="square" lIns="0" tIns="0" rIns="0" bIns="0" rtlCol="0" anchor="ctr"/>
          <a:lstStyle/>
          <a:p>
            <a:pPr indent="0" marL="0">
              <a:buNone/>
            </a:pPr>
            <a:r>
              <a:rPr lang="en-US" sz="2000" dirty="0">
                <a:solidFill>
                  <a:schemeClr val="tx1"/>
                </a:solidFill>
              </a:rPr>
              <a:t>Execution</a:t>
            </a:r>
            <a:endParaRPr lang="en-US" sz="2000" dirty="0"/>
          </a:p>
        </p:txBody>
      </p:sp>
      <p:sp>
        <p:nvSpPr>
          <p:cNvPr id="23" name="Text 19"/>
          <p:cNvSpPr txBox="1"/>
          <p:nvPr/>
        </p:nvSpPr>
        <p:spPr>
          <a:xfrm>
            <a:off x="10424160" y="3108960"/>
            <a:ext cx="1005840" cy="475488"/>
          </a:xfrm>
          <a:prstGeom prst="rect">
            <a:avLst/>
          </a:prstGeom>
          <a:noFill/>
          <a:ln/>
        </p:spPr>
        <p:txBody>
          <a:bodyPr wrap="square" lIns="0" tIns="0" rIns="0" bIns="0" rtlCol="0" anchor="ctr"/>
          <a:lstStyle/>
          <a:p>
            <a:pPr algn="r" indent="0" marL="0">
              <a:buNone/>
            </a:pPr>
            <a:r>
              <a:rPr lang="en-US" sz="2200" b="1" dirty="0">
                <a:solidFill>
                  <a:schemeClr val="tx2"/>
                </a:solidFill>
              </a:rPr>
              <a:t>15%</a:t>
            </a:r>
            <a:endParaRPr lang="en-US" sz="2200" dirty="0"/>
          </a:p>
        </p:txBody>
      </p:sp>
      <p:sp>
        <p:nvSpPr>
          <p:cNvPr id="24" name="Legend row Reassessment"/>
          <p:cNvSpPr/>
          <p:nvPr/>
        </p:nvSpPr>
        <p:spPr>
          <a:xfrm>
            <a:off x="6309360" y="3657600"/>
            <a:ext cx="5330952" cy="475488"/>
          </a:xfrm>
          <a:prstGeom prst="roundRect">
            <a:avLst>
              <a:gd name="adj" fmla="val 19231"/>
            </a:avLst>
          </a:prstGeom>
          <a:solidFill>
            <a:schemeClr val="bg1"/>
          </a:solidFill>
          <a:ln w="9525">
            <a:solidFill>
              <a:schemeClr val="accent6"/>
            </a:solidFill>
            <a:prstDash val="solid"/>
          </a:ln>
        </p:spPr>
      </p:sp>
      <p:sp>
        <p:nvSpPr>
          <p:cNvPr id="25" name="Legend dot Reassessment"/>
          <p:cNvSpPr/>
          <p:nvPr/>
        </p:nvSpPr>
        <p:spPr>
          <a:xfrm>
            <a:off x="6492240" y="3776472"/>
            <a:ext cx="237744" cy="237744"/>
          </a:xfrm>
          <a:prstGeom prst="ellipse">
            <a:avLst/>
          </a:prstGeom>
          <a:solidFill>
            <a:srgbClr val="F2A33A"/>
          </a:solidFill>
          <a:ln/>
        </p:spPr>
      </p:sp>
      <p:sp>
        <p:nvSpPr>
          <p:cNvPr id="26" name="Text 22"/>
          <p:cNvSpPr txBox="1"/>
          <p:nvPr/>
        </p:nvSpPr>
        <p:spPr>
          <a:xfrm>
            <a:off x="6903720" y="3657600"/>
            <a:ext cx="3291840" cy="475488"/>
          </a:xfrm>
          <a:prstGeom prst="rect">
            <a:avLst/>
          </a:prstGeom>
          <a:noFill/>
          <a:ln/>
        </p:spPr>
        <p:txBody>
          <a:bodyPr wrap="square" lIns="0" tIns="0" rIns="0" bIns="0" rtlCol="0" anchor="ctr"/>
          <a:lstStyle/>
          <a:p>
            <a:pPr indent="0" marL="0">
              <a:buNone/>
            </a:pPr>
            <a:r>
              <a:rPr lang="en-US" sz="2000" dirty="0">
                <a:solidFill>
                  <a:schemeClr val="tx1"/>
                </a:solidFill>
              </a:rPr>
              <a:t>Reassessment</a:t>
            </a:r>
            <a:endParaRPr lang="en-US" sz="2000" dirty="0"/>
          </a:p>
        </p:txBody>
      </p:sp>
      <p:sp>
        <p:nvSpPr>
          <p:cNvPr id="27" name="Text 23"/>
          <p:cNvSpPr txBox="1"/>
          <p:nvPr/>
        </p:nvSpPr>
        <p:spPr>
          <a:xfrm>
            <a:off x="10424160" y="3657600"/>
            <a:ext cx="1005840" cy="475488"/>
          </a:xfrm>
          <a:prstGeom prst="rect">
            <a:avLst/>
          </a:prstGeom>
          <a:noFill/>
          <a:ln/>
        </p:spPr>
        <p:txBody>
          <a:bodyPr wrap="square" lIns="0" tIns="0" rIns="0" bIns="0" rtlCol="0" anchor="ctr"/>
          <a:lstStyle/>
          <a:p>
            <a:pPr algn="r" indent="0" marL="0">
              <a:buNone/>
            </a:pPr>
            <a:r>
              <a:rPr lang="en-US" sz="2200" b="1" dirty="0">
                <a:solidFill>
                  <a:schemeClr val="tx2"/>
                </a:solidFill>
              </a:rPr>
              <a:t>15%</a:t>
            </a:r>
            <a:endParaRPr lang="en-US" sz="2200" dirty="0"/>
          </a:p>
        </p:txBody>
      </p:sp>
      <p:sp>
        <p:nvSpPr>
          <p:cNvPr id="28" name="Test example"/>
          <p:cNvSpPr/>
          <p:nvPr/>
        </p:nvSpPr>
        <p:spPr>
          <a:xfrm>
            <a:off x="6309360" y="4343400"/>
            <a:ext cx="5330952" cy="1874520"/>
          </a:xfrm>
          <a:prstGeom prst="roundRect">
            <a:avLst>
              <a:gd name="adj" fmla="val 5854"/>
            </a:avLst>
          </a:prstGeom>
          <a:solidFill>
            <a:schemeClr val="tx2"/>
          </a:solidFill>
          <a:ln/>
          <a:effectLst>
            <a:outerShdw sx="100000" sy="100000" kx="0" ky="0" algn="bl" rotWithShape="0" blurRad="101600" dist="25400" dir="5400000">
              <a:srgbClr val="0D2146">
                <a:alpha val="14000"/>
              </a:srgbClr>
            </a:outerShdw>
          </a:effectLst>
        </p:spPr>
      </p:sp>
      <p:sp>
        <p:nvSpPr>
          <p:cNvPr id="29" name="Text 25"/>
          <p:cNvSpPr txBox="1"/>
          <p:nvPr/>
        </p:nvSpPr>
        <p:spPr>
          <a:xfrm>
            <a:off x="6537960" y="4462272"/>
            <a:ext cx="4846320" cy="320040"/>
          </a:xfrm>
          <a:prstGeom prst="rect">
            <a:avLst/>
          </a:prstGeom>
          <a:noFill/>
          <a:ln/>
        </p:spPr>
        <p:txBody>
          <a:bodyPr wrap="square" lIns="0" tIns="0" rIns="0" bIns="0" rtlCol="0" anchor="t"/>
          <a:lstStyle/>
          <a:p>
            <a:pPr indent="0" marL="0">
              <a:buNone/>
            </a:pPr>
            <a:r>
              <a:rPr lang="en-US" sz="1800" b="1" dirty="0">
                <a:solidFill>
                  <a:schemeClr val="accent3"/>
                </a:solidFill>
              </a:rPr>
              <a:t>Test example</a:t>
            </a:r>
            <a:endParaRPr lang="en-US" sz="1800" dirty="0"/>
          </a:p>
        </p:txBody>
      </p:sp>
      <p:sp>
        <p:nvSpPr>
          <p:cNvPr id="30" name="Score 86"/>
          <p:cNvSpPr/>
          <p:nvPr/>
        </p:nvSpPr>
        <p:spPr>
          <a:xfrm>
            <a:off x="6537960" y="4864608"/>
            <a:ext cx="731520" cy="731520"/>
          </a:xfrm>
          <a:prstGeom prst="ellipse">
            <a:avLst/>
          </a:prstGeom>
          <a:solidFill>
            <a:schemeClr val="accent1"/>
          </a:solidFill>
          <a:ln w="12700">
            <a:solidFill>
              <a:schemeClr val="accent3"/>
            </a:solidFill>
            <a:prstDash val="solid"/>
          </a:ln>
        </p:spPr>
      </p:sp>
      <p:sp>
        <p:nvSpPr>
          <p:cNvPr id="31" name="Text 27"/>
          <p:cNvSpPr txBox="1"/>
          <p:nvPr/>
        </p:nvSpPr>
        <p:spPr>
          <a:xfrm>
            <a:off x="6537960" y="4864608"/>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86</a:t>
            </a:r>
            <a:endParaRPr lang="en-US" sz="2000" dirty="0"/>
          </a:p>
        </p:txBody>
      </p:sp>
      <p:sp>
        <p:nvSpPr>
          <p:cNvPr id="32" name="Score 87"/>
          <p:cNvSpPr/>
          <p:nvPr/>
        </p:nvSpPr>
        <p:spPr>
          <a:xfrm>
            <a:off x="7452360" y="4864608"/>
            <a:ext cx="731520" cy="731520"/>
          </a:xfrm>
          <a:prstGeom prst="ellipse">
            <a:avLst/>
          </a:prstGeom>
          <a:solidFill>
            <a:schemeClr val="accent1"/>
          </a:solidFill>
          <a:ln w="12700">
            <a:solidFill>
              <a:schemeClr val="accent3"/>
            </a:solidFill>
            <a:prstDash val="solid"/>
          </a:ln>
        </p:spPr>
      </p:sp>
      <p:sp>
        <p:nvSpPr>
          <p:cNvPr id="33" name="Text 29"/>
          <p:cNvSpPr txBox="1"/>
          <p:nvPr/>
        </p:nvSpPr>
        <p:spPr>
          <a:xfrm>
            <a:off x="7452360" y="4864608"/>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87</a:t>
            </a:r>
            <a:endParaRPr lang="en-US" sz="2000" dirty="0"/>
          </a:p>
        </p:txBody>
      </p:sp>
      <p:sp>
        <p:nvSpPr>
          <p:cNvPr id="34" name="Score 88"/>
          <p:cNvSpPr/>
          <p:nvPr/>
        </p:nvSpPr>
        <p:spPr>
          <a:xfrm>
            <a:off x="8366760" y="4864608"/>
            <a:ext cx="731520" cy="731520"/>
          </a:xfrm>
          <a:prstGeom prst="ellipse">
            <a:avLst/>
          </a:prstGeom>
          <a:solidFill>
            <a:schemeClr val="accent1"/>
          </a:solidFill>
          <a:ln w="12700">
            <a:solidFill>
              <a:schemeClr val="accent3"/>
            </a:solidFill>
            <a:prstDash val="solid"/>
          </a:ln>
        </p:spPr>
      </p:sp>
      <p:sp>
        <p:nvSpPr>
          <p:cNvPr id="35" name="Text 31"/>
          <p:cNvSpPr txBox="1"/>
          <p:nvPr/>
        </p:nvSpPr>
        <p:spPr>
          <a:xfrm>
            <a:off x="8366760" y="4864608"/>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88</a:t>
            </a:r>
            <a:endParaRPr lang="en-US" sz="2000" dirty="0"/>
          </a:p>
        </p:txBody>
      </p:sp>
      <p:sp>
        <p:nvSpPr>
          <p:cNvPr id="36" name="Score 92"/>
          <p:cNvSpPr/>
          <p:nvPr/>
        </p:nvSpPr>
        <p:spPr>
          <a:xfrm>
            <a:off x="9281160" y="4864608"/>
            <a:ext cx="731520" cy="731520"/>
          </a:xfrm>
          <a:prstGeom prst="ellipse">
            <a:avLst/>
          </a:prstGeom>
          <a:solidFill>
            <a:schemeClr val="accent1"/>
          </a:solidFill>
          <a:ln w="12700">
            <a:solidFill>
              <a:schemeClr val="accent3"/>
            </a:solidFill>
            <a:prstDash val="solid"/>
          </a:ln>
        </p:spPr>
      </p:sp>
      <p:sp>
        <p:nvSpPr>
          <p:cNvPr id="37" name="Text 33"/>
          <p:cNvSpPr txBox="1"/>
          <p:nvPr/>
        </p:nvSpPr>
        <p:spPr>
          <a:xfrm>
            <a:off x="9281160" y="4864608"/>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92</a:t>
            </a:r>
            <a:endParaRPr lang="en-US" sz="2000" dirty="0"/>
          </a:p>
        </p:txBody>
      </p:sp>
      <p:sp>
        <p:nvSpPr>
          <p:cNvPr id="38" name="Score 94"/>
          <p:cNvSpPr/>
          <p:nvPr/>
        </p:nvSpPr>
        <p:spPr>
          <a:xfrm>
            <a:off x="10195560" y="4864608"/>
            <a:ext cx="731520" cy="731520"/>
          </a:xfrm>
          <a:prstGeom prst="ellipse">
            <a:avLst/>
          </a:prstGeom>
          <a:solidFill>
            <a:schemeClr val="accent1"/>
          </a:solidFill>
          <a:ln w="12700">
            <a:solidFill>
              <a:schemeClr val="accent3"/>
            </a:solidFill>
            <a:prstDash val="solid"/>
          </a:ln>
        </p:spPr>
      </p:sp>
      <p:sp>
        <p:nvSpPr>
          <p:cNvPr id="39" name="Text 35"/>
          <p:cNvSpPr txBox="1"/>
          <p:nvPr/>
        </p:nvSpPr>
        <p:spPr>
          <a:xfrm>
            <a:off x="10195560" y="4864608"/>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94</a:t>
            </a:r>
            <a:endParaRPr lang="en-US" sz="2000" dirty="0"/>
          </a:p>
        </p:txBody>
      </p:sp>
      <p:sp>
        <p:nvSpPr>
          <p:cNvPr id="40" name="Text 36"/>
          <p:cNvSpPr txBox="1"/>
          <p:nvPr/>
        </p:nvSpPr>
        <p:spPr>
          <a:xfrm>
            <a:off x="6537960" y="5715000"/>
            <a:ext cx="4846320" cy="411480"/>
          </a:xfrm>
          <a:prstGeom prst="rect">
            <a:avLst/>
          </a:prstGeom>
          <a:noFill/>
          <a:ln/>
        </p:spPr>
        <p:txBody>
          <a:bodyPr wrap="square" lIns="0" tIns="0" rIns="0" bIns="0" rtlCol="0" anchor="ctr"/>
          <a:lstStyle/>
          <a:p>
            <a:pPr indent="0" marL="0">
              <a:buNone/>
            </a:pPr>
            <a:r>
              <a:rPr lang="en-US" sz="2800" b="1" dirty="0">
                <a:solidFill>
                  <a:schemeClr val="accent5"/>
                </a:solidFill>
                <a:latin typeface="+mj-lt" pitchFamily="34" charset="0"/>
                <a:ea typeface="+mj-lt" pitchFamily="34" charset="-122"/>
                <a:cs typeface="+mj-lt" pitchFamily="34" charset="-120"/>
              </a:rPr>
              <a:t>= 88.8 ≈ 89 / 100</a:t>
            </a:r>
            <a:endParaRPr lang="en-US" sz="2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Logic: how each stage is scored (0–100)</a:t>
            </a:r>
            <a:endParaRPr lang="en-US" sz="3600" dirty="0"/>
          </a:p>
        </p:txBody>
      </p:sp>
      <p:sp>
        <p:nvSpPr>
          <p:cNvPr id="3" name="Text 1"/>
          <p:cNvSpPr txBox="1"/>
          <p:nvPr/>
        </p:nvSpPr>
        <p:spPr>
          <a:xfrm>
            <a:off x="548640" y="1463040"/>
            <a:ext cx="2286000" cy="804672"/>
          </a:xfrm>
          <a:prstGeom prst="rect">
            <a:avLst/>
          </a:prstGeom>
          <a:noFill/>
          <a:ln/>
        </p:spPr>
        <p:txBody>
          <a:bodyPr wrap="square" lIns="0" tIns="0" rIns="0" bIns="0" rtlCol="0" anchor="ctr"/>
          <a:lstStyle/>
          <a:p>
            <a:pPr indent="0" marL="0">
              <a:buNone/>
            </a:pPr>
            <a:r>
              <a:rPr lang="en-US" sz="2200" b="1" dirty="0">
                <a:solidFill>
                  <a:schemeClr val="tx2"/>
                </a:solidFill>
              </a:rPr>
              <a:t>Investigation</a:t>
            </a:r>
            <a:endParaRPr lang="en-US" sz="2200" dirty="0"/>
          </a:p>
        </p:txBody>
      </p:sp>
      <p:sp>
        <p:nvSpPr>
          <p:cNvPr id="4" name="Investigation – Files"/>
          <p:cNvSpPr/>
          <p:nvPr/>
        </p:nvSpPr>
        <p:spPr>
          <a:xfrm>
            <a:off x="2926080" y="1463040"/>
            <a:ext cx="4311396" cy="804672"/>
          </a:xfrm>
          <a:prstGeom prst="roundRect">
            <a:avLst>
              <a:gd name="adj" fmla="val 9091"/>
            </a:avLst>
          </a:prstGeom>
          <a:solidFill>
            <a:schemeClr val="tx2"/>
          </a:solidFill>
          <a:ln/>
        </p:spPr>
      </p:sp>
      <p:sp>
        <p:nvSpPr>
          <p:cNvPr id="5" name="Text 3"/>
          <p:cNvSpPr txBox="1"/>
          <p:nvPr/>
        </p:nvSpPr>
        <p:spPr>
          <a:xfrm>
            <a:off x="2999232" y="1463040"/>
            <a:ext cx="4165092" cy="804672"/>
          </a:xfrm>
          <a:prstGeom prst="rect">
            <a:avLst/>
          </a:prstGeom>
          <a:noFill/>
          <a:ln/>
        </p:spPr>
        <p:txBody>
          <a:bodyPr wrap="square" lIns="0" tIns="0" rIns="0" bIns="0" rtlCol="0" anchor="ctr"/>
          <a:lstStyle/>
          <a:p>
            <a:pPr algn="ctr" indent="0" marL="0">
              <a:buNone/>
            </a:pPr>
            <a:r>
              <a:rPr lang="en-US" sz="1600" b="1" dirty="0">
                <a:solidFill>
                  <a:schemeClr val="bg1"/>
                </a:solidFill>
              </a:rPr>
              <a:t>Files</a:t>
            </a:r>
            <a:endParaRPr lang="en-US" sz="1600" dirty="0"/>
          </a:p>
          <a:p>
            <a:pPr algn="ctr" indent="0" marL="0">
              <a:buNone/>
            </a:pPr>
            <a:r>
              <a:rPr lang="en-US" sz="1600" dirty="0">
                <a:solidFill>
                  <a:schemeClr val="bg1"/>
                </a:solidFill>
              </a:rPr>
              <a:t>50%</a:t>
            </a:r>
            <a:endParaRPr lang="en-US" sz="1600" dirty="0"/>
          </a:p>
        </p:txBody>
      </p:sp>
      <p:sp>
        <p:nvSpPr>
          <p:cNvPr id="6" name="Investigation – Follow-Up"/>
          <p:cNvSpPr/>
          <p:nvPr/>
        </p:nvSpPr>
        <p:spPr>
          <a:xfrm>
            <a:off x="7283196" y="1463040"/>
            <a:ext cx="2586838" cy="804672"/>
          </a:xfrm>
          <a:prstGeom prst="roundRect">
            <a:avLst>
              <a:gd name="adj" fmla="val 9091"/>
            </a:avLst>
          </a:prstGeom>
          <a:solidFill>
            <a:schemeClr val="accent1"/>
          </a:solidFill>
          <a:ln/>
        </p:spPr>
      </p:sp>
      <p:sp>
        <p:nvSpPr>
          <p:cNvPr id="7" name="Text 5"/>
          <p:cNvSpPr txBox="1"/>
          <p:nvPr/>
        </p:nvSpPr>
        <p:spPr>
          <a:xfrm>
            <a:off x="7356348" y="1463040"/>
            <a:ext cx="2440534" cy="804672"/>
          </a:xfrm>
          <a:prstGeom prst="rect">
            <a:avLst/>
          </a:prstGeom>
          <a:noFill/>
          <a:ln/>
        </p:spPr>
        <p:txBody>
          <a:bodyPr wrap="square" lIns="0" tIns="0" rIns="0" bIns="0" rtlCol="0" anchor="ctr"/>
          <a:lstStyle/>
          <a:p>
            <a:pPr algn="ctr" indent="0" marL="0">
              <a:buNone/>
            </a:pPr>
            <a:r>
              <a:rPr lang="en-US" sz="1600" b="1" dirty="0">
                <a:solidFill>
                  <a:schemeClr val="bg1"/>
                </a:solidFill>
              </a:rPr>
              <a:t>Follow-Up</a:t>
            </a:r>
            <a:endParaRPr lang="en-US" sz="1600" dirty="0"/>
          </a:p>
          <a:p>
            <a:pPr algn="ctr" indent="0" marL="0">
              <a:buNone/>
            </a:pPr>
            <a:r>
              <a:rPr lang="en-US" sz="1600" dirty="0">
                <a:solidFill>
                  <a:schemeClr val="bg1"/>
                </a:solidFill>
              </a:rPr>
              <a:t>30%</a:t>
            </a:r>
            <a:endParaRPr lang="en-US" sz="1600" dirty="0"/>
          </a:p>
        </p:txBody>
      </p:sp>
      <p:sp>
        <p:nvSpPr>
          <p:cNvPr id="8" name="Investigation – Final Question"/>
          <p:cNvSpPr/>
          <p:nvPr/>
        </p:nvSpPr>
        <p:spPr>
          <a:xfrm>
            <a:off x="9915754" y="1463040"/>
            <a:ext cx="1724558" cy="804672"/>
          </a:xfrm>
          <a:prstGeom prst="roundRect">
            <a:avLst>
              <a:gd name="adj" fmla="val 9091"/>
            </a:avLst>
          </a:prstGeom>
          <a:solidFill>
            <a:schemeClr val="accent2"/>
          </a:solidFill>
          <a:ln/>
        </p:spPr>
      </p:sp>
      <p:sp>
        <p:nvSpPr>
          <p:cNvPr id="9" name="Text 7"/>
          <p:cNvSpPr txBox="1"/>
          <p:nvPr/>
        </p:nvSpPr>
        <p:spPr>
          <a:xfrm>
            <a:off x="9988906" y="1463040"/>
            <a:ext cx="1578254" cy="804672"/>
          </a:xfrm>
          <a:prstGeom prst="rect">
            <a:avLst/>
          </a:prstGeom>
          <a:noFill/>
          <a:ln/>
        </p:spPr>
        <p:txBody>
          <a:bodyPr wrap="square" lIns="0" tIns="0" rIns="0" bIns="0" rtlCol="0" anchor="ctr"/>
          <a:lstStyle/>
          <a:p>
            <a:pPr algn="ctr" indent="0" marL="0">
              <a:buNone/>
            </a:pPr>
            <a:r>
              <a:rPr lang="en-US" sz="1600" b="1" dirty="0">
                <a:solidFill>
                  <a:schemeClr val="bg1"/>
                </a:solidFill>
              </a:rPr>
              <a:t>Final Question</a:t>
            </a:r>
            <a:endParaRPr lang="en-US" sz="1600" dirty="0"/>
          </a:p>
          <a:p>
            <a:pPr algn="ctr" indent="0" marL="0">
              <a:buNone/>
            </a:pPr>
            <a:r>
              <a:rPr lang="en-US" sz="1600" dirty="0">
                <a:solidFill>
                  <a:schemeClr val="bg1"/>
                </a:solidFill>
              </a:rPr>
              <a:t>20%</a:t>
            </a:r>
            <a:endParaRPr lang="en-US" sz="1600" dirty="0"/>
          </a:p>
        </p:txBody>
      </p:sp>
      <p:sp>
        <p:nvSpPr>
          <p:cNvPr id="10" name="Text 8"/>
          <p:cNvSpPr txBox="1"/>
          <p:nvPr/>
        </p:nvSpPr>
        <p:spPr>
          <a:xfrm>
            <a:off x="548640" y="2404872"/>
            <a:ext cx="2286000" cy="804672"/>
          </a:xfrm>
          <a:prstGeom prst="rect">
            <a:avLst/>
          </a:prstGeom>
          <a:noFill/>
          <a:ln/>
        </p:spPr>
        <p:txBody>
          <a:bodyPr wrap="square" lIns="0" tIns="0" rIns="0" bIns="0" rtlCol="0" anchor="ctr"/>
          <a:lstStyle/>
          <a:p>
            <a:pPr indent="0" marL="0">
              <a:buNone/>
            </a:pPr>
            <a:r>
              <a:rPr lang="en-US" sz="2200" b="1" dirty="0">
                <a:solidFill>
                  <a:schemeClr val="tx2"/>
                </a:solidFill>
              </a:rPr>
              <a:t>Diagnosis</a:t>
            </a:r>
            <a:endParaRPr lang="en-US" sz="2200" dirty="0"/>
          </a:p>
        </p:txBody>
      </p:sp>
      <p:sp>
        <p:nvSpPr>
          <p:cNvPr id="11" name="Diagnosis – Problem Identification"/>
          <p:cNvSpPr/>
          <p:nvPr/>
        </p:nvSpPr>
        <p:spPr>
          <a:xfrm>
            <a:off x="2926080" y="2404872"/>
            <a:ext cx="3449117" cy="804672"/>
          </a:xfrm>
          <a:prstGeom prst="roundRect">
            <a:avLst>
              <a:gd name="adj" fmla="val 9091"/>
            </a:avLst>
          </a:prstGeom>
          <a:solidFill>
            <a:schemeClr val="tx2"/>
          </a:solidFill>
          <a:ln/>
        </p:spPr>
      </p:sp>
      <p:sp>
        <p:nvSpPr>
          <p:cNvPr id="12" name="Text 10"/>
          <p:cNvSpPr txBox="1"/>
          <p:nvPr/>
        </p:nvSpPr>
        <p:spPr>
          <a:xfrm>
            <a:off x="2999232" y="2404872"/>
            <a:ext cx="3302813" cy="804672"/>
          </a:xfrm>
          <a:prstGeom prst="rect">
            <a:avLst/>
          </a:prstGeom>
          <a:noFill/>
          <a:ln/>
        </p:spPr>
        <p:txBody>
          <a:bodyPr wrap="square" lIns="0" tIns="0" rIns="0" bIns="0" rtlCol="0" anchor="ctr"/>
          <a:lstStyle/>
          <a:p>
            <a:pPr algn="ctr" indent="0" marL="0">
              <a:buNone/>
            </a:pPr>
            <a:r>
              <a:rPr lang="en-US" sz="1600" b="1" dirty="0">
                <a:solidFill>
                  <a:schemeClr val="bg1"/>
                </a:solidFill>
              </a:rPr>
              <a:t>Problem Identification</a:t>
            </a:r>
            <a:endParaRPr lang="en-US" sz="1600" dirty="0"/>
          </a:p>
          <a:p>
            <a:pPr algn="ctr" indent="0" marL="0">
              <a:buNone/>
            </a:pPr>
            <a:r>
              <a:rPr lang="en-US" sz="1600" dirty="0">
                <a:solidFill>
                  <a:schemeClr val="bg1"/>
                </a:solidFill>
              </a:rPr>
              <a:t>40%</a:t>
            </a:r>
            <a:endParaRPr lang="en-US" sz="1600" dirty="0"/>
          </a:p>
        </p:txBody>
      </p:sp>
      <p:sp>
        <p:nvSpPr>
          <p:cNvPr id="13" name="Diagnosis – Primary Diagnosis"/>
          <p:cNvSpPr/>
          <p:nvPr/>
        </p:nvSpPr>
        <p:spPr>
          <a:xfrm>
            <a:off x="6420917" y="2404872"/>
            <a:ext cx="3017977" cy="804672"/>
          </a:xfrm>
          <a:prstGeom prst="roundRect">
            <a:avLst>
              <a:gd name="adj" fmla="val 9091"/>
            </a:avLst>
          </a:prstGeom>
          <a:solidFill>
            <a:schemeClr val="accent1"/>
          </a:solidFill>
          <a:ln/>
        </p:spPr>
      </p:sp>
      <p:sp>
        <p:nvSpPr>
          <p:cNvPr id="14" name="Text 12"/>
          <p:cNvSpPr txBox="1"/>
          <p:nvPr/>
        </p:nvSpPr>
        <p:spPr>
          <a:xfrm>
            <a:off x="6494069" y="2404872"/>
            <a:ext cx="2871673" cy="804672"/>
          </a:xfrm>
          <a:prstGeom prst="rect">
            <a:avLst/>
          </a:prstGeom>
          <a:noFill/>
          <a:ln/>
        </p:spPr>
        <p:txBody>
          <a:bodyPr wrap="square" lIns="0" tIns="0" rIns="0" bIns="0" rtlCol="0" anchor="ctr"/>
          <a:lstStyle/>
          <a:p>
            <a:pPr algn="ctr" indent="0" marL="0">
              <a:buNone/>
            </a:pPr>
            <a:r>
              <a:rPr lang="en-US" sz="1600" b="1" dirty="0">
                <a:solidFill>
                  <a:schemeClr val="bg1"/>
                </a:solidFill>
              </a:rPr>
              <a:t>Primary Diagnosis</a:t>
            </a:r>
            <a:endParaRPr lang="en-US" sz="1600" dirty="0"/>
          </a:p>
          <a:p>
            <a:pPr algn="ctr" indent="0" marL="0">
              <a:buNone/>
            </a:pPr>
            <a:r>
              <a:rPr lang="en-US" sz="1600" dirty="0">
                <a:solidFill>
                  <a:schemeClr val="bg1"/>
                </a:solidFill>
              </a:rPr>
              <a:t>35%</a:t>
            </a:r>
            <a:endParaRPr lang="en-US" sz="1600" dirty="0"/>
          </a:p>
        </p:txBody>
      </p:sp>
      <p:sp>
        <p:nvSpPr>
          <p:cNvPr id="15" name="Diagnosis – Evidence Support"/>
          <p:cNvSpPr/>
          <p:nvPr/>
        </p:nvSpPr>
        <p:spPr>
          <a:xfrm>
            <a:off x="9484614" y="2404872"/>
            <a:ext cx="2155698" cy="804672"/>
          </a:xfrm>
          <a:prstGeom prst="roundRect">
            <a:avLst>
              <a:gd name="adj" fmla="val 9091"/>
            </a:avLst>
          </a:prstGeom>
          <a:solidFill>
            <a:schemeClr val="accent2"/>
          </a:solidFill>
          <a:ln/>
        </p:spPr>
      </p:sp>
      <p:sp>
        <p:nvSpPr>
          <p:cNvPr id="16" name="Text 14"/>
          <p:cNvSpPr txBox="1"/>
          <p:nvPr/>
        </p:nvSpPr>
        <p:spPr>
          <a:xfrm>
            <a:off x="9557766" y="2404872"/>
            <a:ext cx="2009394" cy="804672"/>
          </a:xfrm>
          <a:prstGeom prst="rect">
            <a:avLst/>
          </a:prstGeom>
          <a:noFill/>
          <a:ln/>
        </p:spPr>
        <p:txBody>
          <a:bodyPr wrap="square" lIns="0" tIns="0" rIns="0" bIns="0" rtlCol="0" anchor="ctr"/>
          <a:lstStyle/>
          <a:p>
            <a:pPr algn="ctr" indent="0" marL="0">
              <a:buNone/>
            </a:pPr>
            <a:r>
              <a:rPr lang="en-US" sz="1600" b="1" dirty="0">
                <a:solidFill>
                  <a:schemeClr val="bg1"/>
                </a:solidFill>
              </a:rPr>
              <a:t>Evidence Support</a:t>
            </a:r>
            <a:endParaRPr lang="en-US" sz="1600" dirty="0"/>
          </a:p>
          <a:p>
            <a:pPr algn="ctr" indent="0" marL="0">
              <a:buNone/>
            </a:pPr>
            <a:r>
              <a:rPr lang="en-US" sz="1600" dirty="0">
                <a:solidFill>
                  <a:schemeClr val="bg1"/>
                </a:solidFill>
              </a:rPr>
              <a:t>25%</a:t>
            </a:r>
            <a:endParaRPr lang="en-US" sz="1600" dirty="0"/>
          </a:p>
        </p:txBody>
      </p:sp>
      <p:sp>
        <p:nvSpPr>
          <p:cNvPr id="17" name="Text 15"/>
          <p:cNvSpPr txBox="1"/>
          <p:nvPr/>
        </p:nvSpPr>
        <p:spPr>
          <a:xfrm>
            <a:off x="548640" y="3346704"/>
            <a:ext cx="2286000" cy="804672"/>
          </a:xfrm>
          <a:prstGeom prst="rect">
            <a:avLst/>
          </a:prstGeom>
          <a:noFill/>
          <a:ln/>
        </p:spPr>
        <p:txBody>
          <a:bodyPr wrap="square" lIns="0" tIns="0" rIns="0" bIns="0" rtlCol="0" anchor="ctr"/>
          <a:lstStyle/>
          <a:p>
            <a:pPr indent="0" marL="0">
              <a:buNone/>
            </a:pPr>
            <a:r>
              <a:rPr lang="en-US" sz="2200" b="1" dirty="0">
                <a:solidFill>
                  <a:schemeClr val="tx2"/>
                </a:solidFill>
              </a:rPr>
              <a:t>Treatment</a:t>
            </a:r>
            <a:endParaRPr lang="en-US" sz="2200" dirty="0"/>
          </a:p>
        </p:txBody>
      </p:sp>
      <p:sp>
        <p:nvSpPr>
          <p:cNvPr id="18" name="Treatment – Root-Cause Fit"/>
          <p:cNvSpPr/>
          <p:nvPr/>
        </p:nvSpPr>
        <p:spPr>
          <a:xfrm>
            <a:off x="2926080" y="3346704"/>
            <a:ext cx="4311396" cy="804672"/>
          </a:xfrm>
          <a:prstGeom prst="roundRect">
            <a:avLst>
              <a:gd name="adj" fmla="val 9091"/>
            </a:avLst>
          </a:prstGeom>
          <a:solidFill>
            <a:schemeClr val="tx2"/>
          </a:solidFill>
          <a:ln/>
        </p:spPr>
      </p:sp>
      <p:sp>
        <p:nvSpPr>
          <p:cNvPr id="19" name="Text 17"/>
          <p:cNvSpPr txBox="1"/>
          <p:nvPr/>
        </p:nvSpPr>
        <p:spPr>
          <a:xfrm>
            <a:off x="2999232" y="3346704"/>
            <a:ext cx="4165092" cy="804672"/>
          </a:xfrm>
          <a:prstGeom prst="rect">
            <a:avLst/>
          </a:prstGeom>
          <a:noFill/>
          <a:ln/>
        </p:spPr>
        <p:txBody>
          <a:bodyPr wrap="square" lIns="0" tIns="0" rIns="0" bIns="0" rtlCol="0" anchor="ctr"/>
          <a:lstStyle/>
          <a:p>
            <a:pPr algn="ctr" indent="0" marL="0">
              <a:buNone/>
            </a:pPr>
            <a:r>
              <a:rPr lang="en-US" sz="1600" b="1" dirty="0">
                <a:solidFill>
                  <a:schemeClr val="bg1"/>
                </a:solidFill>
              </a:rPr>
              <a:t>Root-Cause Fit</a:t>
            </a:r>
            <a:endParaRPr lang="en-US" sz="1600" dirty="0"/>
          </a:p>
          <a:p>
            <a:pPr algn="ctr" indent="0" marL="0">
              <a:buNone/>
            </a:pPr>
            <a:r>
              <a:rPr lang="en-US" sz="1600" dirty="0">
                <a:solidFill>
                  <a:schemeClr val="bg1"/>
                </a:solidFill>
              </a:rPr>
              <a:t>50%</a:t>
            </a:r>
            <a:endParaRPr lang="en-US" sz="1600" dirty="0"/>
          </a:p>
        </p:txBody>
      </p:sp>
      <p:sp>
        <p:nvSpPr>
          <p:cNvPr id="20" name="Treatment – Feasibility"/>
          <p:cNvSpPr/>
          <p:nvPr/>
        </p:nvSpPr>
        <p:spPr>
          <a:xfrm>
            <a:off x="7283196" y="3346704"/>
            <a:ext cx="2586838" cy="804672"/>
          </a:xfrm>
          <a:prstGeom prst="roundRect">
            <a:avLst>
              <a:gd name="adj" fmla="val 9091"/>
            </a:avLst>
          </a:prstGeom>
          <a:solidFill>
            <a:schemeClr val="accent1"/>
          </a:solidFill>
          <a:ln/>
        </p:spPr>
      </p:sp>
      <p:sp>
        <p:nvSpPr>
          <p:cNvPr id="21" name="Text 19"/>
          <p:cNvSpPr txBox="1"/>
          <p:nvPr/>
        </p:nvSpPr>
        <p:spPr>
          <a:xfrm>
            <a:off x="7356348" y="3346704"/>
            <a:ext cx="2440534" cy="804672"/>
          </a:xfrm>
          <a:prstGeom prst="rect">
            <a:avLst/>
          </a:prstGeom>
          <a:noFill/>
          <a:ln/>
        </p:spPr>
        <p:txBody>
          <a:bodyPr wrap="square" lIns="0" tIns="0" rIns="0" bIns="0" rtlCol="0" anchor="ctr"/>
          <a:lstStyle/>
          <a:p>
            <a:pPr algn="ctr" indent="0" marL="0">
              <a:buNone/>
            </a:pPr>
            <a:r>
              <a:rPr lang="en-US" sz="1600" b="1" dirty="0">
                <a:solidFill>
                  <a:schemeClr val="bg1"/>
                </a:solidFill>
              </a:rPr>
              <a:t>Feasibility</a:t>
            </a:r>
            <a:endParaRPr lang="en-US" sz="1600" dirty="0"/>
          </a:p>
          <a:p>
            <a:pPr algn="ctr" indent="0" marL="0">
              <a:buNone/>
            </a:pPr>
            <a:r>
              <a:rPr lang="en-US" sz="1600" dirty="0">
                <a:solidFill>
                  <a:schemeClr val="bg1"/>
                </a:solidFill>
              </a:rPr>
              <a:t>30%</a:t>
            </a:r>
            <a:endParaRPr lang="en-US" sz="1600" dirty="0"/>
          </a:p>
        </p:txBody>
      </p:sp>
      <p:sp>
        <p:nvSpPr>
          <p:cNvPr id="22" name="Treatment – Risk Awareness"/>
          <p:cNvSpPr/>
          <p:nvPr/>
        </p:nvSpPr>
        <p:spPr>
          <a:xfrm>
            <a:off x="9915754" y="3346704"/>
            <a:ext cx="1724558" cy="804672"/>
          </a:xfrm>
          <a:prstGeom prst="roundRect">
            <a:avLst>
              <a:gd name="adj" fmla="val 9091"/>
            </a:avLst>
          </a:prstGeom>
          <a:solidFill>
            <a:schemeClr val="accent2"/>
          </a:solidFill>
          <a:ln/>
        </p:spPr>
      </p:sp>
      <p:sp>
        <p:nvSpPr>
          <p:cNvPr id="23" name="Text 21"/>
          <p:cNvSpPr txBox="1"/>
          <p:nvPr/>
        </p:nvSpPr>
        <p:spPr>
          <a:xfrm>
            <a:off x="9988906" y="3346704"/>
            <a:ext cx="1578254" cy="804672"/>
          </a:xfrm>
          <a:prstGeom prst="rect">
            <a:avLst/>
          </a:prstGeom>
          <a:noFill/>
          <a:ln/>
        </p:spPr>
        <p:txBody>
          <a:bodyPr wrap="square" lIns="0" tIns="0" rIns="0" bIns="0" rtlCol="0" anchor="ctr"/>
          <a:lstStyle/>
          <a:p>
            <a:pPr algn="ctr" indent="0" marL="0">
              <a:buNone/>
            </a:pPr>
            <a:r>
              <a:rPr lang="en-US" sz="1600" b="1" dirty="0">
                <a:solidFill>
                  <a:schemeClr val="bg1"/>
                </a:solidFill>
              </a:rPr>
              <a:t>Risk Awareness</a:t>
            </a:r>
            <a:endParaRPr lang="en-US" sz="1600" dirty="0"/>
          </a:p>
          <a:p>
            <a:pPr algn="ctr" indent="0" marL="0">
              <a:buNone/>
            </a:pPr>
            <a:r>
              <a:rPr lang="en-US" sz="1600" dirty="0">
                <a:solidFill>
                  <a:schemeClr val="bg1"/>
                </a:solidFill>
              </a:rPr>
              <a:t>20%</a:t>
            </a:r>
            <a:endParaRPr lang="en-US" sz="1600" dirty="0"/>
          </a:p>
        </p:txBody>
      </p:sp>
      <p:sp>
        <p:nvSpPr>
          <p:cNvPr id="24" name="Text 22"/>
          <p:cNvSpPr txBox="1"/>
          <p:nvPr/>
        </p:nvSpPr>
        <p:spPr>
          <a:xfrm>
            <a:off x="548640" y="4288536"/>
            <a:ext cx="2286000" cy="804672"/>
          </a:xfrm>
          <a:prstGeom prst="rect">
            <a:avLst/>
          </a:prstGeom>
          <a:noFill/>
          <a:ln/>
        </p:spPr>
        <p:txBody>
          <a:bodyPr wrap="square" lIns="0" tIns="0" rIns="0" bIns="0" rtlCol="0" anchor="ctr"/>
          <a:lstStyle/>
          <a:p>
            <a:pPr indent="0" marL="0">
              <a:buNone/>
            </a:pPr>
            <a:r>
              <a:rPr lang="en-US" sz="2200" b="1" dirty="0">
                <a:solidFill>
                  <a:schemeClr val="tx2"/>
                </a:solidFill>
              </a:rPr>
              <a:t>Execution</a:t>
            </a:r>
            <a:endParaRPr lang="en-US" sz="2200" dirty="0"/>
          </a:p>
        </p:txBody>
      </p:sp>
      <p:sp>
        <p:nvSpPr>
          <p:cNvPr id="25" name="Execution – Timing"/>
          <p:cNvSpPr/>
          <p:nvPr/>
        </p:nvSpPr>
        <p:spPr>
          <a:xfrm>
            <a:off x="2926080" y="4288536"/>
            <a:ext cx="3467405" cy="804672"/>
          </a:xfrm>
          <a:prstGeom prst="roundRect">
            <a:avLst>
              <a:gd name="adj" fmla="val 9091"/>
            </a:avLst>
          </a:prstGeom>
          <a:solidFill>
            <a:schemeClr val="tx2"/>
          </a:solidFill>
          <a:ln/>
        </p:spPr>
      </p:sp>
      <p:sp>
        <p:nvSpPr>
          <p:cNvPr id="26" name="Text 24"/>
          <p:cNvSpPr txBox="1"/>
          <p:nvPr/>
        </p:nvSpPr>
        <p:spPr>
          <a:xfrm>
            <a:off x="2999232" y="4288536"/>
            <a:ext cx="3321101" cy="804672"/>
          </a:xfrm>
          <a:prstGeom prst="rect">
            <a:avLst/>
          </a:prstGeom>
          <a:noFill/>
          <a:ln/>
        </p:spPr>
        <p:txBody>
          <a:bodyPr wrap="square" lIns="0" tIns="0" rIns="0" bIns="0" rtlCol="0" anchor="ctr"/>
          <a:lstStyle/>
          <a:p>
            <a:pPr algn="ctr" indent="0" marL="0">
              <a:buNone/>
            </a:pPr>
            <a:r>
              <a:rPr lang="en-US" sz="1600" b="1" dirty="0">
                <a:solidFill>
                  <a:schemeClr val="bg1"/>
                </a:solidFill>
              </a:rPr>
              <a:t>Timing</a:t>
            </a:r>
            <a:endParaRPr lang="en-US" sz="1600" dirty="0"/>
          </a:p>
          <a:p>
            <a:pPr algn="ctr" indent="0" marL="0">
              <a:buNone/>
            </a:pPr>
            <a:r>
              <a:rPr lang="en-US" sz="1600" dirty="0">
                <a:solidFill>
                  <a:schemeClr val="bg1"/>
                </a:solidFill>
              </a:rPr>
              <a:t>40%</a:t>
            </a:r>
            <a:endParaRPr lang="en-US" sz="1600" dirty="0"/>
          </a:p>
        </p:txBody>
      </p:sp>
      <p:sp>
        <p:nvSpPr>
          <p:cNvPr id="27" name="Execution – Stakeholder Preparation"/>
          <p:cNvSpPr/>
          <p:nvPr/>
        </p:nvSpPr>
        <p:spPr>
          <a:xfrm>
            <a:off x="6439205" y="4288536"/>
            <a:ext cx="5201107" cy="804672"/>
          </a:xfrm>
          <a:prstGeom prst="roundRect">
            <a:avLst>
              <a:gd name="adj" fmla="val 9091"/>
            </a:avLst>
          </a:prstGeom>
          <a:solidFill>
            <a:schemeClr val="accent1"/>
          </a:solidFill>
          <a:ln/>
        </p:spPr>
      </p:sp>
      <p:sp>
        <p:nvSpPr>
          <p:cNvPr id="28" name="Text 26"/>
          <p:cNvSpPr txBox="1"/>
          <p:nvPr/>
        </p:nvSpPr>
        <p:spPr>
          <a:xfrm>
            <a:off x="6512357" y="4288536"/>
            <a:ext cx="5054803" cy="804672"/>
          </a:xfrm>
          <a:prstGeom prst="rect">
            <a:avLst/>
          </a:prstGeom>
          <a:noFill/>
          <a:ln/>
        </p:spPr>
        <p:txBody>
          <a:bodyPr wrap="square" lIns="0" tIns="0" rIns="0" bIns="0" rtlCol="0" anchor="ctr"/>
          <a:lstStyle/>
          <a:p>
            <a:pPr algn="ctr" indent="0" marL="0">
              <a:buNone/>
            </a:pPr>
            <a:r>
              <a:rPr lang="en-US" sz="1600" b="1" dirty="0">
                <a:solidFill>
                  <a:schemeClr val="bg1"/>
                </a:solidFill>
              </a:rPr>
              <a:t>Stakeholder Preparation</a:t>
            </a:r>
            <a:endParaRPr lang="en-US" sz="1600" dirty="0"/>
          </a:p>
          <a:p>
            <a:pPr algn="ctr" indent="0" marL="0">
              <a:buNone/>
            </a:pPr>
            <a:r>
              <a:rPr lang="en-US" sz="1600" dirty="0">
                <a:solidFill>
                  <a:schemeClr val="bg1"/>
                </a:solidFill>
              </a:rPr>
              <a:t>60%</a:t>
            </a:r>
            <a:endParaRPr lang="en-US" sz="1600" dirty="0"/>
          </a:p>
        </p:txBody>
      </p:sp>
      <p:sp>
        <p:nvSpPr>
          <p:cNvPr id="29" name="Text 27"/>
          <p:cNvSpPr txBox="1"/>
          <p:nvPr/>
        </p:nvSpPr>
        <p:spPr>
          <a:xfrm>
            <a:off x="548640" y="5230368"/>
            <a:ext cx="2286000" cy="804672"/>
          </a:xfrm>
          <a:prstGeom prst="rect">
            <a:avLst/>
          </a:prstGeom>
          <a:noFill/>
          <a:ln/>
        </p:spPr>
        <p:txBody>
          <a:bodyPr wrap="square" lIns="0" tIns="0" rIns="0" bIns="0" rtlCol="0" anchor="ctr"/>
          <a:lstStyle/>
          <a:p>
            <a:pPr indent="0" marL="0">
              <a:buNone/>
            </a:pPr>
            <a:r>
              <a:rPr lang="en-US" sz="2200" b="1" dirty="0">
                <a:solidFill>
                  <a:schemeClr val="tx2"/>
                </a:solidFill>
              </a:rPr>
              <a:t>Reassessment</a:t>
            </a:r>
            <a:endParaRPr lang="en-US" sz="2200" dirty="0"/>
          </a:p>
        </p:txBody>
      </p:sp>
      <p:sp>
        <p:nvSpPr>
          <p:cNvPr id="30" name="Reassessment – Evidence Response"/>
          <p:cNvSpPr/>
          <p:nvPr/>
        </p:nvSpPr>
        <p:spPr>
          <a:xfrm>
            <a:off x="2926080" y="5230368"/>
            <a:ext cx="4311396" cy="804672"/>
          </a:xfrm>
          <a:prstGeom prst="roundRect">
            <a:avLst>
              <a:gd name="adj" fmla="val 9091"/>
            </a:avLst>
          </a:prstGeom>
          <a:solidFill>
            <a:schemeClr val="tx2"/>
          </a:solidFill>
          <a:ln/>
        </p:spPr>
      </p:sp>
      <p:sp>
        <p:nvSpPr>
          <p:cNvPr id="31" name="Text 29"/>
          <p:cNvSpPr txBox="1"/>
          <p:nvPr/>
        </p:nvSpPr>
        <p:spPr>
          <a:xfrm>
            <a:off x="2999232" y="5230368"/>
            <a:ext cx="4165092" cy="804672"/>
          </a:xfrm>
          <a:prstGeom prst="rect">
            <a:avLst/>
          </a:prstGeom>
          <a:noFill/>
          <a:ln/>
        </p:spPr>
        <p:txBody>
          <a:bodyPr wrap="square" lIns="0" tIns="0" rIns="0" bIns="0" rtlCol="0" anchor="ctr"/>
          <a:lstStyle/>
          <a:p>
            <a:pPr algn="ctr" indent="0" marL="0">
              <a:buNone/>
            </a:pPr>
            <a:r>
              <a:rPr lang="en-US" sz="1600" b="1" dirty="0">
                <a:solidFill>
                  <a:schemeClr val="bg1"/>
                </a:solidFill>
              </a:rPr>
              <a:t>Evidence Response</a:t>
            </a:r>
            <a:endParaRPr lang="en-US" sz="1600" dirty="0"/>
          </a:p>
          <a:p>
            <a:pPr algn="ctr" indent="0" marL="0">
              <a:buNone/>
            </a:pPr>
            <a:r>
              <a:rPr lang="en-US" sz="1600" dirty="0">
                <a:solidFill>
                  <a:schemeClr val="bg1"/>
                </a:solidFill>
              </a:rPr>
              <a:t>50%</a:t>
            </a:r>
            <a:endParaRPr lang="en-US" sz="1600" dirty="0"/>
          </a:p>
        </p:txBody>
      </p:sp>
      <p:sp>
        <p:nvSpPr>
          <p:cNvPr id="32" name="Reassessment – Decision Consistency"/>
          <p:cNvSpPr/>
          <p:nvPr/>
        </p:nvSpPr>
        <p:spPr>
          <a:xfrm>
            <a:off x="7283196" y="5230368"/>
            <a:ext cx="2586838" cy="804672"/>
          </a:xfrm>
          <a:prstGeom prst="roundRect">
            <a:avLst>
              <a:gd name="adj" fmla="val 9091"/>
            </a:avLst>
          </a:prstGeom>
          <a:solidFill>
            <a:schemeClr val="accent1"/>
          </a:solidFill>
          <a:ln/>
        </p:spPr>
      </p:sp>
      <p:sp>
        <p:nvSpPr>
          <p:cNvPr id="33" name="Text 31"/>
          <p:cNvSpPr txBox="1"/>
          <p:nvPr/>
        </p:nvSpPr>
        <p:spPr>
          <a:xfrm>
            <a:off x="7356348" y="5230368"/>
            <a:ext cx="2440534" cy="804672"/>
          </a:xfrm>
          <a:prstGeom prst="rect">
            <a:avLst/>
          </a:prstGeom>
          <a:noFill/>
          <a:ln/>
        </p:spPr>
        <p:txBody>
          <a:bodyPr wrap="square" lIns="0" tIns="0" rIns="0" bIns="0" rtlCol="0" anchor="ctr"/>
          <a:lstStyle/>
          <a:p>
            <a:pPr algn="ctr" indent="0" marL="0">
              <a:buNone/>
            </a:pPr>
            <a:r>
              <a:rPr lang="en-US" sz="1600" b="1" dirty="0">
                <a:solidFill>
                  <a:schemeClr val="bg1"/>
                </a:solidFill>
              </a:rPr>
              <a:t>Decision Consistency</a:t>
            </a:r>
            <a:endParaRPr lang="en-US" sz="1600" dirty="0"/>
          </a:p>
          <a:p>
            <a:pPr algn="ctr" indent="0" marL="0">
              <a:buNone/>
            </a:pPr>
            <a:r>
              <a:rPr lang="en-US" sz="1600" dirty="0">
                <a:solidFill>
                  <a:schemeClr val="bg1"/>
                </a:solidFill>
              </a:rPr>
              <a:t>30%</a:t>
            </a:r>
            <a:endParaRPr lang="en-US" sz="1600" dirty="0"/>
          </a:p>
        </p:txBody>
      </p:sp>
      <p:sp>
        <p:nvSpPr>
          <p:cNvPr id="34" name="Reassessment – Risk Recognition"/>
          <p:cNvSpPr/>
          <p:nvPr/>
        </p:nvSpPr>
        <p:spPr>
          <a:xfrm>
            <a:off x="9915754" y="5230368"/>
            <a:ext cx="1724558" cy="804672"/>
          </a:xfrm>
          <a:prstGeom prst="roundRect">
            <a:avLst>
              <a:gd name="adj" fmla="val 9091"/>
            </a:avLst>
          </a:prstGeom>
          <a:solidFill>
            <a:schemeClr val="accent2"/>
          </a:solidFill>
          <a:ln/>
        </p:spPr>
      </p:sp>
      <p:sp>
        <p:nvSpPr>
          <p:cNvPr id="35" name="Text 33"/>
          <p:cNvSpPr txBox="1"/>
          <p:nvPr/>
        </p:nvSpPr>
        <p:spPr>
          <a:xfrm>
            <a:off x="9988906" y="5230368"/>
            <a:ext cx="1578254" cy="804672"/>
          </a:xfrm>
          <a:prstGeom prst="rect">
            <a:avLst/>
          </a:prstGeom>
          <a:noFill/>
          <a:ln/>
        </p:spPr>
        <p:txBody>
          <a:bodyPr wrap="square" lIns="0" tIns="0" rIns="0" bIns="0" rtlCol="0" anchor="ctr"/>
          <a:lstStyle/>
          <a:p>
            <a:pPr algn="ctr" indent="0" marL="0">
              <a:buNone/>
            </a:pPr>
            <a:r>
              <a:rPr lang="en-US" sz="1600" b="1" dirty="0">
                <a:solidFill>
                  <a:schemeClr val="bg1"/>
                </a:solidFill>
              </a:rPr>
              <a:t>Risk Recognition</a:t>
            </a:r>
            <a:endParaRPr lang="en-US" sz="1600" dirty="0"/>
          </a:p>
          <a:p>
            <a:pPr algn="ctr" indent="0" marL="0">
              <a:buNone/>
            </a:pPr>
            <a:r>
              <a:rPr lang="en-US" sz="1600" dirty="0">
                <a:solidFill>
                  <a:schemeClr val="bg1"/>
                </a:solidFill>
              </a:rPr>
              <a:t>20%</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Logic: important rules</a:t>
            </a:r>
            <a:endParaRPr lang="en-US" sz="3600" dirty="0"/>
          </a:p>
        </p:txBody>
      </p:sp>
      <p:sp>
        <p:nvSpPr>
          <p:cNvPr id="3" name="Evidence Support card"/>
          <p:cNvSpPr/>
          <p:nvPr/>
        </p:nvSpPr>
        <p:spPr>
          <a:xfrm>
            <a:off x="548640" y="1463040"/>
            <a:ext cx="5349240"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Evidence Support badge"/>
          <p:cNvSpPr/>
          <p:nvPr/>
        </p:nvSpPr>
        <p:spPr>
          <a:xfrm>
            <a:off x="822960" y="1737360"/>
            <a:ext cx="731520" cy="731520"/>
          </a:xfrm>
          <a:prstGeom prst="ellipse">
            <a:avLst/>
          </a:prstGeom>
          <a:solidFill>
            <a:schemeClr val="accent4"/>
          </a:solidFill>
          <a:ln/>
        </p:spPr>
      </p:sp>
      <p:pic>
        <p:nvPicPr>
          <p:cNvPr id="5" name="Evidence Support icon" descr="Eye icon">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83080" y="1737360"/>
            <a:ext cx="3886200" cy="731520"/>
          </a:xfrm>
          <a:prstGeom prst="rect">
            <a:avLst/>
          </a:prstGeom>
          <a:noFill/>
          <a:ln/>
        </p:spPr>
        <p:txBody>
          <a:bodyPr wrap="square" lIns="0" tIns="0" rIns="0" bIns="0" rtlCol="0" anchor="ctr"/>
          <a:lstStyle/>
          <a:p>
            <a:pPr indent="0" marL="0">
              <a:buNone/>
            </a:pPr>
            <a:r>
              <a:rPr lang="en-US" sz="2200" b="1" dirty="0">
                <a:solidFill>
                  <a:schemeClr val="tx2"/>
                </a:solidFill>
              </a:rPr>
              <a:t>Evidence Support</a:t>
            </a:r>
            <a:endParaRPr lang="en-US" sz="2200" dirty="0"/>
          </a:p>
        </p:txBody>
      </p:sp>
      <p:sp>
        <p:nvSpPr>
          <p:cNvPr id="7" name="Text 4"/>
          <p:cNvSpPr txBox="1"/>
          <p:nvPr/>
        </p:nvSpPr>
        <p:spPr>
          <a:xfrm>
            <a:off x="822960" y="2651760"/>
            <a:ext cx="4800600" cy="960120"/>
          </a:xfrm>
          <a:prstGeom prst="rect">
            <a:avLst/>
          </a:prstGeom>
          <a:noFill/>
          <a:ln/>
        </p:spPr>
        <p:txBody>
          <a:bodyPr wrap="square" lIns="0" tIns="0" rIns="0" bIns="0" rtlCol="0" anchor="t"/>
          <a:lstStyle/>
          <a:p>
            <a:pPr indent="0" marL="0">
              <a:buNone/>
            </a:pPr>
            <a:r>
              <a:rPr lang="en-US" sz="1800" dirty="0">
                <a:solidFill>
                  <a:schemeClr val="tx1"/>
                </a:solidFill>
              </a:rPr>
              <a:t>Counts only if the player actually opened the evidence (bug B02 fixed).</a:t>
            </a:r>
            <a:endParaRPr lang="en-US" sz="1800" dirty="0"/>
          </a:p>
        </p:txBody>
      </p:sp>
      <p:sp>
        <p:nvSpPr>
          <p:cNvPr id="8" name="Context, not one answer card"/>
          <p:cNvSpPr/>
          <p:nvPr/>
        </p:nvSpPr>
        <p:spPr>
          <a:xfrm>
            <a:off x="6291072" y="1463040"/>
            <a:ext cx="5349240"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9" name="Context, not one answer badge"/>
          <p:cNvSpPr/>
          <p:nvPr/>
        </p:nvSpPr>
        <p:spPr>
          <a:xfrm>
            <a:off x="6565392" y="1737360"/>
            <a:ext cx="731520" cy="731520"/>
          </a:xfrm>
          <a:prstGeom prst="ellipse">
            <a:avLst/>
          </a:prstGeom>
          <a:solidFill>
            <a:schemeClr val="accent1"/>
          </a:solidFill>
          <a:ln/>
        </p:spPr>
      </p:sp>
      <p:pic>
        <p:nvPicPr>
          <p:cNvPr id="10" name="Context, not one answer icon" descr="PuzzlePiece icon">    </p:cNvPr>
          <p:cNvPicPr>
            <a:picLocks noChangeAspect="1"/>
          </p:cNvPicPr>
          <p:nvPr/>
        </p:nvPicPr>
        <p:blipFill>
          <a:blip r:embed="rId2"/>
          <a:stretch>
            <a:fillRect/>
          </a:stretch>
        </p:blipFill>
        <p:spPr>
          <a:xfrm>
            <a:off x="6748272" y="1920240"/>
            <a:ext cx="365760" cy="365760"/>
          </a:xfrm>
          <a:prstGeom prst="rect">
            <a:avLst/>
          </a:prstGeom>
        </p:spPr>
      </p:pic>
      <p:sp>
        <p:nvSpPr>
          <p:cNvPr id="11" name="Text 7"/>
          <p:cNvSpPr txBox="1"/>
          <p:nvPr/>
        </p:nvSpPr>
        <p:spPr>
          <a:xfrm>
            <a:off x="7525512" y="1737360"/>
            <a:ext cx="3886200" cy="731520"/>
          </a:xfrm>
          <a:prstGeom prst="rect">
            <a:avLst/>
          </a:prstGeom>
          <a:noFill/>
          <a:ln/>
        </p:spPr>
        <p:txBody>
          <a:bodyPr wrap="square" lIns="0" tIns="0" rIns="0" bIns="0" rtlCol="0" anchor="ctr"/>
          <a:lstStyle/>
          <a:p>
            <a:pPr indent="0" marL="0">
              <a:buNone/>
            </a:pPr>
            <a:r>
              <a:rPr lang="en-US" sz="2200" b="1" dirty="0">
                <a:solidFill>
                  <a:schemeClr val="bg1"/>
                </a:solidFill>
              </a:rPr>
              <a:t>Context, not one answer</a:t>
            </a:r>
            <a:endParaRPr lang="en-US" sz="2200" dirty="0"/>
          </a:p>
        </p:txBody>
      </p:sp>
      <p:sp>
        <p:nvSpPr>
          <p:cNvPr id="12" name="Text 8"/>
          <p:cNvSpPr txBox="1"/>
          <p:nvPr/>
        </p:nvSpPr>
        <p:spPr>
          <a:xfrm>
            <a:off x="6565392" y="2651760"/>
            <a:ext cx="4800600" cy="960120"/>
          </a:xfrm>
          <a:prstGeom prst="rect">
            <a:avLst/>
          </a:prstGeom>
          <a:noFill/>
          <a:ln/>
        </p:spPr>
        <p:txBody>
          <a:bodyPr wrap="square" lIns="0" tIns="0" rIns="0" bIns="0" rtlCol="0" anchor="t"/>
          <a:lstStyle/>
          <a:p>
            <a:pPr indent="0" marL="0">
              <a:buNone/>
            </a:pPr>
            <a:r>
              <a:rPr lang="en-US" sz="1800" dirty="0">
                <a:solidFill>
                  <a:schemeClr val="accent4"/>
                </a:solidFill>
              </a:rPr>
              <a:t>Treatment, timing and stakeholders are judged in context.</a:t>
            </a:r>
            <a:endParaRPr lang="en-US" sz="1800" dirty="0"/>
          </a:p>
        </p:txBody>
      </p:sp>
      <p:sp>
        <p:nvSpPr>
          <p:cNvPr id="13" name="Reassessment card"/>
          <p:cNvSpPr/>
          <p:nvPr/>
        </p:nvSpPr>
        <p:spPr>
          <a:xfrm>
            <a:off x="548640" y="3931920"/>
            <a:ext cx="5349240" cy="2240280"/>
          </a:xfrm>
          <a:prstGeom prst="roundRect">
            <a:avLst>
              <a:gd name="adj" fmla="val 4898"/>
            </a:avLst>
          </a:prstGeom>
          <a:solidFill>
            <a:schemeClr val="tx2"/>
          </a:solidFill>
          <a:ln/>
          <a:effectLst>
            <a:outerShdw sx="100000" sy="100000" kx="0" ky="0" algn="bl" rotWithShape="0" blurRad="101600" dist="25400" dir="5400000">
              <a:srgbClr val="0D2146">
                <a:alpha val="14000"/>
              </a:srgbClr>
            </a:outerShdw>
          </a:effectLst>
        </p:spPr>
      </p:sp>
      <p:sp>
        <p:nvSpPr>
          <p:cNvPr id="14" name="Reassessment badge"/>
          <p:cNvSpPr/>
          <p:nvPr/>
        </p:nvSpPr>
        <p:spPr>
          <a:xfrm>
            <a:off x="822960" y="4206240"/>
            <a:ext cx="731520" cy="731520"/>
          </a:xfrm>
          <a:prstGeom prst="ellipse">
            <a:avLst/>
          </a:prstGeom>
          <a:solidFill>
            <a:schemeClr val="accent1"/>
          </a:solidFill>
          <a:ln/>
        </p:spPr>
      </p:sp>
      <p:pic>
        <p:nvPicPr>
          <p:cNvPr id="15" name="Reassessment icon" descr="Redo icon">    </p:cNvPr>
          <p:cNvPicPr>
            <a:picLocks noChangeAspect="1"/>
          </p:cNvPicPr>
          <p:nvPr/>
        </p:nvPicPr>
        <p:blipFill>
          <a:blip r:embed="rId3"/>
          <a:stretch>
            <a:fillRect/>
          </a:stretch>
        </p:blipFill>
        <p:spPr>
          <a:xfrm>
            <a:off x="1005840" y="4389120"/>
            <a:ext cx="365760" cy="365760"/>
          </a:xfrm>
          <a:prstGeom prst="rect">
            <a:avLst/>
          </a:prstGeom>
        </p:spPr>
      </p:pic>
      <p:sp>
        <p:nvSpPr>
          <p:cNvPr id="16" name="Text 11"/>
          <p:cNvSpPr txBox="1"/>
          <p:nvPr/>
        </p:nvSpPr>
        <p:spPr>
          <a:xfrm>
            <a:off x="1783080" y="4206240"/>
            <a:ext cx="3886200" cy="731520"/>
          </a:xfrm>
          <a:prstGeom prst="rect">
            <a:avLst/>
          </a:prstGeom>
          <a:noFill/>
          <a:ln/>
        </p:spPr>
        <p:txBody>
          <a:bodyPr wrap="square" lIns="0" tIns="0" rIns="0" bIns="0" rtlCol="0" anchor="ctr"/>
          <a:lstStyle/>
          <a:p>
            <a:pPr indent="0" marL="0">
              <a:buNone/>
            </a:pPr>
            <a:r>
              <a:rPr lang="en-US" sz="2200" b="1" dirty="0">
                <a:solidFill>
                  <a:schemeClr val="bg1"/>
                </a:solidFill>
              </a:rPr>
              <a:t>Reassessment</a:t>
            </a:r>
            <a:endParaRPr lang="en-US" sz="2200" dirty="0"/>
          </a:p>
        </p:txBody>
      </p:sp>
      <p:sp>
        <p:nvSpPr>
          <p:cNvPr id="17" name="Text 12"/>
          <p:cNvSpPr txBox="1"/>
          <p:nvPr/>
        </p:nvSpPr>
        <p:spPr>
          <a:xfrm>
            <a:off x="822960" y="5120640"/>
            <a:ext cx="4800600" cy="960120"/>
          </a:xfrm>
          <a:prstGeom prst="rect">
            <a:avLst/>
          </a:prstGeom>
          <a:noFill/>
          <a:ln/>
        </p:spPr>
        <p:txBody>
          <a:bodyPr wrap="square" lIns="0" tIns="0" rIns="0" bIns="0" rtlCol="0" anchor="t"/>
          <a:lstStyle/>
          <a:p>
            <a:pPr indent="0" marL="0">
              <a:buNone/>
            </a:pPr>
            <a:r>
              <a:rPr lang="en-US" sz="1800" dirty="0">
                <a:solidFill>
                  <a:schemeClr val="accent4"/>
                </a:solidFill>
              </a:rPr>
              <a:t>Retaining or changing a decision can both be valid. Only evidence-based reasoning earns points.</a:t>
            </a:r>
            <a:endParaRPr lang="en-US" sz="1800" dirty="0"/>
          </a:p>
        </p:txBody>
      </p:sp>
      <p:sp>
        <p:nvSpPr>
          <p:cNvPr id="18" name="Credibility card"/>
          <p:cNvSpPr/>
          <p:nvPr/>
        </p:nvSpPr>
        <p:spPr>
          <a:xfrm>
            <a:off x="6291072" y="3931920"/>
            <a:ext cx="5349240" cy="2240280"/>
          </a:xfrm>
          <a:prstGeom prst="roundRect">
            <a:avLst>
              <a:gd name="adj" fmla="val 4898"/>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9" name="Credibility badge"/>
          <p:cNvSpPr/>
          <p:nvPr/>
        </p:nvSpPr>
        <p:spPr>
          <a:xfrm>
            <a:off x="6565392" y="4206240"/>
            <a:ext cx="731520" cy="731520"/>
          </a:xfrm>
          <a:prstGeom prst="ellipse">
            <a:avLst/>
          </a:prstGeom>
          <a:solidFill>
            <a:schemeClr val="accent4"/>
          </a:solidFill>
          <a:ln/>
        </p:spPr>
      </p:sp>
      <p:pic>
        <p:nvPicPr>
          <p:cNvPr id="20" name="Credibility icon" descr="ShieldAlt icon">    </p:cNvPr>
          <p:cNvPicPr>
            <a:picLocks noChangeAspect="1"/>
          </p:cNvPicPr>
          <p:nvPr/>
        </p:nvPicPr>
        <p:blipFill>
          <a:blip r:embed="rId4"/>
          <a:stretch>
            <a:fillRect/>
          </a:stretch>
        </p:blipFill>
        <p:spPr>
          <a:xfrm>
            <a:off x="6748272" y="4389120"/>
            <a:ext cx="365760" cy="365760"/>
          </a:xfrm>
          <a:prstGeom prst="rect">
            <a:avLst/>
          </a:prstGeom>
        </p:spPr>
      </p:pic>
      <p:sp>
        <p:nvSpPr>
          <p:cNvPr id="21" name="Text 15"/>
          <p:cNvSpPr txBox="1"/>
          <p:nvPr/>
        </p:nvSpPr>
        <p:spPr>
          <a:xfrm>
            <a:off x="7525512" y="4206240"/>
            <a:ext cx="3886200" cy="731520"/>
          </a:xfrm>
          <a:prstGeom prst="rect">
            <a:avLst/>
          </a:prstGeom>
          <a:noFill/>
          <a:ln/>
        </p:spPr>
        <p:txBody>
          <a:bodyPr wrap="square" lIns="0" tIns="0" rIns="0" bIns="0" rtlCol="0" anchor="ctr"/>
          <a:lstStyle/>
          <a:p>
            <a:pPr indent="0" marL="0">
              <a:buNone/>
            </a:pPr>
            <a:r>
              <a:rPr lang="en-US" sz="2200" b="1" dirty="0">
                <a:solidFill>
                  <a:schemeClr val="tx2"/>
                </a:solidFill>
              </a:rPr>
              <a:t>Credibility</a:t>
            </a:r>
            <a:endParaRPr lang="en-US" sz="2200" dirty="0"/>
          </a:p>
        </p:txBody>
      </p:sp>
      <p:sp>
        <p:nvSpPr>
          <p:cNvPr id="22" name="Text 16"/>
          <p:cNvSpPr txBox="1"/>
          <p:nvPr/>
        </p:nvSpPr>
        <p:spPr>
          <a:xfrm>
            <a:off x="6565392" y="5120640"/>
            <a:ext cx="4800600" cy="960120"/>
          </a:xfrm>
          <a:prstGeom prst="rect">
            <a:avLst/>
          </a:prstGeom>
          <a:noFill/>
          <a:ln/>
        </p:spPr>
        <p:txBody>
          <a:bodyPr wrap="square" lIns="0" tIns="0" rIns="0" bIns="0" rtlCol="0" anchor="t"/>
          <a:lstStyle/>
          <a:p>
            <a:pPr indent="0" marL="0">
              <a:buNone/>
            </a:pPr>
            <a:r>
              <a:rPr lang="en-US" sz="1800" dirty="0">
                <a:solidFill>
                  <a:schemeClr val="tx1"/>
                </a:solidFill>
              </a:rPr>
              <a:t>Low / Medium / High. Reflects judgement quality; can affect access to treatments, not the outcome alone.</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Logic: case outcome</a:t>
            </a:r>
            <a:endParaRPr lang="en-US" sz="3600" dirty="0"/>
          </a:p>
        </p:txBody>
      </p:sp>
      <p:sp>
        <p:nvSpPr>
          <p:cNvPr id="3" name="Financial Resilience card"/>
          <p:cNvSpPr/>
          <p:nvPr/>
        </p:nvSpPr>
        <p:spPr>
          <a:xfrm>
            <a:off x="548640" y="1463040"/>
            <a:ext cx="3383280" cy="3291840"/>
          </a:xfrm>
          <a:prstGeom prst="roundRect">
            <a:avLst>
              <a:gd name="adj" fmla="val 3333"/>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Financial Resilience badge"/>
          <p:cNvSpPr/>
          <p:nvPr/>
        </p:nvSpPr>
        <p:spPr>
          <a:xfrm>
            <a:off x="777240" y="1645920"/>
            <a:ext cx="548640" cy="548640"/>
          </a:xfrm>
          <a:prstGeom prst="ellipse">
            <a:avLst/>
          </a:prstGeom>
          <a:solidFill>
            <a:schemeClr val="accent4"/>
          </a:solidFill>
          <a:ln/>
        </p:spPr>
      </p:sp>
      <p:pic>
        <p:nvPicPr>
          <p:cNvPr id="5" name="Financial Resilience icon" descr="ChartLine icon">    </p:cNvPr>
          <p:cNvPicPr>
            <a:picLocks noChangeAspect="1"/>
          </p:cNvPicPr>
          <p:nvPr/>
        </p:nvPicPr>
        <p:blipFill>
          <a:blip r:embed="rId1"/>
          <a:stretch>
            <a:fillRect/>
          </a:stretch>
        </p:blipFill>
        <p:spPr>
          <a:xfrm>
            <a:off x="914400" y="1783080"/>
            <a:ext cx="274320" cy="274320"/>
          </a:xfrm>
          <a:prstGeom prst="rect">
            <a:avLst/>
          </a:prstGeom>
        </p:spPr>
      </p:pic>
      <p:sp>
        <p:nvSpPr>
          <p:cNvPr id="6" name="Text 3"/>
          <p:cNvSpPr txBox="1"/>
          <p:nvPr/>
        </p:nvSpPr>
        <p:spPr>
          <a:xfrm>
            <a:off x="1463040" y="1645920"/>
            <a:ext cx="2331720" cy="548640"/>
          </a:xfrm>
          <a:prstGeom prst="rect">
            <a:avLst/>
          </a:prstGeom>
          <a:noFill/>
          <a:ln/>
        </p:spPr>
        <p:txBody>
          <a:bodyPr wrap="square" lIns="0" tIns="0" rIns="0" bIns="0" rtlCol="0" anchor="ctr"/>
          <a:lstStyle/>
          <a:p>
            <a:pPr indent="0" marL="0">
              <a:buNone/>
            </a:pPr>
            <a:r>
              <a:rPr lang="en-US" sz="2000" b="1" dirty="0">
                <a:solidFill>
                  <a:schemeClr val="tx2"/>
                </a:solidFill>
              </a:rPr>
              <a:t>Financial Resilience</a:t>
            </a:r>
            <a:endParaRPr lang="en-US" sz="2000" dirty="0"/>
          </a:p>
        </p:txBody>
      </p:sp>
      <p:sp>
        <p:nvSpPr>
          <p:cNvPr id="7" name="Stable pill"/>
          <p:cNvSpPr/>
          <p:nvPr/>
        </p:nvSpPr>
        <p:spPr>
          <a:xfrm>
            <a:off x="822960" y="2423160"/>
            <a:ext cx="2834640" cy="594360"/>
          </a:xfrm>
          <a:prstGeom prst="roundRect">
            <a:avLst>
              <a:gd name="adj" fmla="val 49231"/>
            </a:avLst>
          </a:prstGeom>
          <a:solidFill>
            <a:schemeClr val="accent1"/>
          </a:solidFill>
          <a:ln/>
        </p:spPr>
      </p:sp>
      <p:sp>
        <p:nvSpPr>
          <p:cNvPr id="8" name="Text 5"/>
          <p:cNvSpPr txBox="1"/>
          <p:nvPr/>
        </p:nvSpPr>
        <p:spPr>
          <a:xfrm>
            <a:off x="822960" y="2423160"/>
            <a:ext cx="2834640" cy="594360"/>
          </a:xfrm>
          <a:prstGeom prst="rect">
            <a:avLst/>
          </a:prstGeom>
          <a:noFill/>
          <a:ln/>
        </p:spPr>
        <p:txBody>
          <a:bodyPr wrap="square" lIns="0" tIns="0" rIns="0" bIns="0" rtlCol="0" anchor="ctr"/>
          <a:lstStyle/>
          <a:p>
            <a:pPr algn="ctr" indent="0" marL="0">
              <a:buNone/>
            </a:pPr>
            <a:r>
              <a:rPr lang="en-US" sz="2000" b="1" dirty="0">
                <a:solidFill>
                  <a:schemeClr val="bg1"/>
                </a:solidFill>
              </a:rPr>
              <a:t>Stable</a:t>
            </a:r>
            <a:endParaRPr lang="en-US" sz="2000" dirty="0"/>
          </a:p>
        </p:txBody>
      </p:sp>
      <p:sp>
        <p:nvSpPr>
          <p:cNvPr id="9" name="Fragile pill"/>
          <p:cNvSpPr/>
          <p:nvPr/>
        </p:nvSpPr>
        <p:spPr>
          <a:xfrm>
            <a:off x="822960" y="3172968"/>
            <a:ext cx="2834640" cy="594360"/>
          </a:xfrm>
          <a:prstGeom prst="roundRect">
            <a:avLst>
              <a:gd name="adj" fmla="val 49231"/>
            </a:avLst>
          </a:prstGeom>
          <a:solidFill>
            <a:schemeClr val="accent3"/>
          </a:solidFill>
          <a:ln/>
        </p:spPr>
      </p:sp>
      <p:sp>
        <p:nvSpPr>
          <p:cNvPr id="10" name="Text 7"/>
          <p:cNvSpPr txBox="1"/>
          <p:nvPr/>
        </p:nvSpPr>
        <p:spPr>
          <a:xfrm>
            <a:off x="822960" y="3172968"/>
            <a:ext cx="2834640" cy="594360"/>
          </a:xfrm>
          <a:prstGeom prst="rect">
            <a:avLst/>
          </a:prstGeom>
          <a:noFill/>
          <a:ln/>
        </p:spPr>
        <p:txBody>
          <a:bodyPr wrap="square" lIns="0" tIns="0" rIns="0" bIns="0" rtlCol="0" anchor="ctr"/>
          <a:lstStyle/>
          <a:p>
            <a:pPr algn="ctr" indent="0" marL="0">
              <a:buNone/>
            </a:pPr>
            <a:r>
              <a:rPr lang="en-US" sz="2000" b="1" dirty="0">
                <a:solidFill>
                  <a:schemeClr val="tx2"/>
                </a:solidFill>
              </a:rPr>
              <a:t>Fragile</a:t>
            </a:r>
            <a:endParaRPr lang="en-US" sz="2000" dirty="0"/>
          </a:p>
        </p:txBody>
      </p:sp>
      <p:sp>
        <p:nvSpPr>
          <p:cNvPr id="11" name="Collapse pill"/>
          <p:cNvSpPr/>
          <p:nvPr/>
        </p:nvSpPr>
        <p:spPr>
          <a:xfrm>
            <a:off x="822960" y="3922776"/>
            <a:ext cx="2834640" cy="594360"/>
          </a:xfrm>
          <a:prstGeom prst="roundRect">
            <a:avLst>
              <a:gd name="adj" fmla="val 49231"/>
            </a:avLst>
          </a:prstGeom>
          <a:solidFill>
            <a:schemeClr val="accent5"/>
          </a:solidFill>
          <a:ln/>
        </p:spPr>
      </p:sp>
      <p:sp>
        <p:nvSpPr>
          <p:cNvPr id="12" name="Text 9"/>
          <p:cNvSpPr txBox="1"/>
          <p:nvPr/>
        </p:nvSpPr>
        <p:spPr>
          <a:xfrm>
            <a:off x="822960" y="3922776"/>
            <a:ext cx="2834640" cy="594360"/>
          </a:xfrm>
          <a:prstGeom prst="rect">
            <a:avLst/>
          </a:prstGeom>
          <a:noFill/>
          <a:ln/>
        </p:spPr>
        <p:txBody>
          <a:bodyPr wrap="square" lIns="0" tIns="0" rIns="0" bIns="0" rtlCol="0" anchor="ctr"/>
          <a:lstStyle/>
          <a:p>
            <a:pPr algn="ctr" indent="0" marL="0">
              <a:buNone/>
            </a:pPr>
            <a:r>
              <a:rPr lang="en-US" sz="2000" b="1" dirty="0">
                <a:solidFill>
                  <a:schemeClr val="tx2"/>
                </a:solidFill>
              </a:rPr>
              <a:t>Collapse</a:t>
            </a:r>
            <a:endParaRPr lang="en-US" sz="2000" dirty="0"/>
          </a:p>
        </p:txBody>
      </p:sp>
      <p:sp>
        <p:nvSpPr>
          <p:cNvPr id="13" name="Governance Stability card"/>
          <p:cNvSpPr/>
          <p:nvPr/>
        </p:nvSpPr>
        <p:spPr>
          <a:xfrm>
            <a:off x="4389120" y="1463040"/>
            <a:ext cx="3383280" cy="3291840"/>
          </a:xfrm>
          <a:prstGeom prst="roundRect">
            <a:avLst>
              <a:gd name="adj" fmla="val 3333"/>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Governance Stability badge"/>
          <p:cNvSpPr/>
          <p:nvPr/>
        </p:nvSpPr>
        <p:spPr>
          <a:xfrm>
            <a:off x="4617720" y="1645920"/>
            <a:ext cx="548640" cy="548640"/>
          </a:xfrm>
          <a:prstGeom prst="ellipse">
            <a:avLst/>
          </a:prstGeom>
          <a:solidFill>
            <a:schemeClr val="accent4"/>
          </a:solidFill>
          <a:ln/>
        </p:spPr>
      </p:sp>
      <p:pic>
        <p:nvPicPr>
          <p:cNvPr id="15" name="Governance Stability icon" descr="Users icon">    </p:cNvPr>
          <p:cNvPicPr>
            <a:picLocks noChangeAspect="1"/>
          </p:cNvPicPr>
          <p:nvPr/>
        </p:nvPicPr>
        <p:blipFill>
          <a:blip r:embed="rId2"/>
          <a:stretch>
            <a:fillRect/>
          </a:stretch>
        </p:blipFill>
        <p:spPr>
          <a:xfrm>
            <a:off x="4754880" y="1783080"/>
            <a:ext cx="274320" cy="274320"/>
          </a:xfrm>
          <a:prstGeom prst="rect">
            <a:avLst/>
          </a:prstGeom>
        </p:spPr>
      </p:pic>
      <p:sp>
        <p:nvSpPr>
          <p:cNvPr id="16" name="Text 12"/>
          <p:cNvSpPr txBox="1"/>
          <p:nvPr/>
        </p:nvSpPr>
        <p:spPr>
          <a:xfrm>
            <a:off x="5303520" y="1645920"/>
            <a:ext cx="2331720" cy="548640"/>
          </a:xfrm>
          <a:prstGeom prst="rect">
            <a:avLst/>
          </a:prstGeom>
          <a:noFill/>
          <a:ln/>
        </p:spPr>
        <p:txBody>
          <a:bodyPr wrap="square" lIns="0" tIns="0" rIns="0" bIns="0" rtlCol="0" anchor="ctr"/>
          <a:lstStyle/>
          <a:p>
            <a:pPr indent="0" marL="0">
              <a:buNone/>
            </a:pPr>
            <a:r>
              <a:rPr lang="en-US" sz="2000" b="1" dirty="0">
                <a:solidFill>
                  <a:schemeClr val="tx2"/>
                </a:solidFill>
              </a:rPr>
              <a:t>Governance Stability</a:t>
            </a:r>
            <a:endParaRPr lang="en-US" sz="2000" dirty="0"/>
          </a:p>
        </p:txBody>
      </p:sp>
      <p:sp>
        <p:nvSpPr>
          <p:cNvPr id="17" name="Stabilized pill"/>
          <p:cNvSpPr/>
          <p:nvPr/>
        </p:nvSpPr>
        <p:spPr>
          <a:xfrm>
            <a:off x="4663440" y="2423160"/>
            <a:ext cx="2834640" cy="594360"/>
          </a:xfrm>
          <a:prstGeom prst="roundRect">
            <a:avLst>
              <a:gd name="adj" fmla="val 49231"/>
            </a:avLst>
          </a:prstGeom>
          <a:solidFill>
            <a:schemeClr val="accent1"/>
          </a:solidFill>
          <a:ln/>
        </p:spPr>
      </p:sp>
      <p:sp>
        <p:nvSpPr>
          <p:cNvPr id="18" name="Text 14"/>
          <p:cNvSpPr txBox="1"/>
          <p:nvPr/>
        </p:nvSpPr>
        <p:spPr>
          <a:xfrm>
            <a:off x="4663440" y="2423160"/>
            <a:ext cx="2834640" cy="594360"/>
          </a:xfrm>
          <a:prstGeom prst="rect">
            <a:avLst/>
          </a:prstGeom>
          <a:noFill/>
          <a:ln/>
        </p:spPr>
        <p:txBody>
          <a:bodyPr wrap="square" lIns="0" tIns="0" rIns="0" bIns="0" rtlCol="0" anchor="ctr"/>
          <a:lstStyle/>
          <a:p>
            <a:pPr algn="ctr" indent="0" marL="0">
              <a:buNone/>
            </a:pPr>
            <a:r>
              <a:rPr lang="en-US" sz="2000" b="1" dirty="0">
                <a:solidFill>
                  <a:schemeClr val="bg1"/>
                </a:solidFill>
              </a:rPr>
              <a:t>Stabilized</a:t>
            </a:r>
            <a:endParaRPr lang="en-US" sz="2000" dirty="0"/>
          </a:p>
        </p:txBody>
      </p:sp>
      <p:sp>
        <p:nvSpPr>
          <p:cNvPr id="19" name="Divided pill"/>
          <p:cNvSpPr/>
          <p:nvPr/>
        </p:nvSpPr>
        <p:spPr>
          <a:xfrm>
            <a:off x="4663440" y="3172968"/>
            <a:ext cx="2834640" cy="594360"/>
          </a:xfrm>
          <a:prstGeom prst="roundRect">
            <a:avLst>
              <a:gd name="adj" fmla="val 49231"/>
            </a:avLst>
          </a:prstGeom>
          <a:solidFill>
            <a:schemeClr val="accent3"/>
          </a:solidFill>
          <a:ln/>
        </p:spPr>
      </p:sp>
      <p:sp>
        <p:nvSpPr>
          <p:cNvPr id="20" name="Text 16"/>
          <p:cNvSpPr txBox="1"/>
          <p:nvPr/>
        </p:nvSpPr>
        <p:spPr>
          <a:xfrm>
            <a:off x="4663440" y="3172968"/>
            <a:ext cx="2834640" cy="594360"/>
          </a:xfrm>
          <a:prstGeom prst="rect">
            <a:avLst/>
          </a:prstGeom>
          <a:noFill/>
          <a:ln/>
        </p:spPr>
        <p:txBody>
          <a:bodyPr wrap="square" lIns="0" tIns="0" rIns="0" bIns="0" rtlCol="0" anchor="ctr"/>
          <a:lstStyle/>
          <a:p>
            <a:pPr algn="ctr" indent="0" marL="0">
              <a:buNone/>
            </a:pPr>
            <a:r>
              <a:rPr lang="en-US" sz="2000" b="1" dirty="0">
                <a:solidFill>
                  <a:schemeClr val="tx2"/>
                </a:solidFill>
              </a:rPr>
              <a:t>Divided</a:t>
            </a:r>
            <a:endParaRPr lang="en-US" sz="2000" dirty="0"/>
          </a:p>
        </p:txBody>
      </p:sp>
      <p:sp>
        <p:nvSpPr>
          <p:cNvPr id="21" name="Loss of Control pill"/>
          <p:cNvSpPr/>
          <p:nvPr/>
        </p:nvSpPr>
        <p:spPr>
          <a:xfrm>
            <a:off x="4663440" y="3922776"/>
            <a:ext cx="2834640" cy="594360"/>
          </a:xfrm>
          <a:prstGeom prst="roundRect">
            <a:avLst>
              <a:gd name="adj" fmla="val 49231"/>
            </a:avLst>
          </a:prstGeom>
          <a:solidFill>
            <a:schemeClr val="accent5"/>
          </a:solidFill>
          <a:ln/>
        </p:spPr>
      </p:sp>
      <p:sp>
        <p:nvSpPr>
          <p:cNvPr id="22" name="Text 18"/>
          <p:cNvSpPr txBox="1"/>
          <p:nvPr/>
        </p:nvSpPr>
        <p:spPr>
          <a:xfrm>
            <a:off x="4663440" y="3922776"/>
            <a:ext cx="2834640" cy="594360"/>
          </a:xfrm>
          <a:prstGeom prst="rect">
            <a:avLst/>
          </a:prstGeom>
          <a:noFill/>
          <a:ln/>
        </p:spPr>
        <p:txBody>
          <a:bodyPr wrap="square" lIns="0" tIns="0" rIns="0" bIns="0" rtlCol="0" anchor="ctr"/>
          <a:lstStyle/>
          <a:p>
            <a:pPr algn="ctr" indent="0" marL="0">
              <a:buNone/>
            </a:pPr>
            <a:r>
              <a:rPr lang="en-US" sz="2000" b="1" dirty="0">
                <a:solidFill>
                  <a:schemeClr val="tx2"/>
                </a:solidFill>
              </a:rPr>
              <a:t>Loss of Control</a:t>
            </a:r>
            <a:endParaRPr lang="en-US" sz="2000" dirty="0"/>
          </a:p>
        </p:txBody>
      </p:sp>
      <p:sp>
        <p:nvSpPr>
          <p:cNvPr id="23" name="Plus badge"/>
          <p:cNvSpPr/>
          <p:nvPr/>
        </p:nvSpPr>
        <p:spPr>
          <a:xfrm>
            <a:off x="3931920" y="2880360"/>
            <a:ext cx="457200" cy="457200"/>
          </a:xfrm>
          <a:prstGeom prst="ellipse">
            <a:avLst/>
          </a:prstGeom>
          <a:solidFill>
            <a:schemeClr val="accent3"/>
          </a:solidFill>
          <a:ln/>
        </p:spPr>
      </p:sp>
      <p:pic>
        <p:nvPicPr>
          <p:cNvPr id="24" name="Plus icon" descr="PlusCircle icon">    </p:cNvPr>
          <p:cNvPicPr>
            <a:picLocks noChangeAspect="1"/>
          </p:cNvPicPr>
          <p:nvPr/>
        </p:nvPicPr>
        <p:blipFill>
          <a:blip r:embed="rId3"/>
          <a:stretch>
            <a:fillRect/>
          </a:stretch>
        </p:blipFill>
        <p:spPr>
          <a:xfrm>
            <a:off x="4046220" y="2994660"/>
            <a:ext cx="228600" cy="228600"/>
          </a:xfrm>
          <a:prstGeom prst="rect">
            <a:avLst/>
          </a:prstGeom>
        </p:spPr>
      </p:pic>
      <p:sp>
        <p:nvSpPr>
          <p:cNvPr id="25" name="Equals badge"/>
          <p:cNvSpPr/>
          <p:nvPr/>
        </p:nvSpPr>
        <p:spPr>
          <a:xfrm>
            <a:off x="7772400" y="2880360"/>
            <a:ext cx="457200" cy="457200"/>
          </a:xfrm>
          <a:prstGeom prst="ellipse">
            <a:avLst/>
          </a:prstGeom>
          <a:solidFill>
            <a:schemeClr val="accent3"/>
          </a:solidFill>
          <a:ln/>
        </p:spPr>
      </p:sp>
      <p:pic>
        <p:nvPicPr>
          <p:cNvPr id="26" name="Equals icon" descr="ArrowRight icon">    </p:cNvPr>
          <p:cNvPicPr>
            <a:picLocks noChangeAspect="1"/>
          </p:cNvPicPr>
          <p:nvPr/>
        </p:nvPicPr>
        <p:blipFill>
          <a:blip r:embed="rId4"/>
          <a:stretch>
            <a:fillRect/>
          </a:stretch>
        </p:blipFill>
        <p:spPr>
          <a:xfrm>
            <a:off x="7886700" y="2994660"/>
            <a:ext cx="228600" cy="228600"/>
          </a:xfrm>
          <a:prstGeom prst="rect">
            <a:avLst/>
          </a:prstGeom>
        </p:spPr>
      </p:pic>
      <p:sp>
        <p:nvSpPr>
          <p:cNvPr id="27" name="Final Ending card"/>
          <p:cNvSpPr/>
          <p:nvPr/>
        </p:nvSpPr>
        <p:spPr>
          <a:xfrm>
            <a:off x="8229600" y="1463040"/>
            <a:ext cx="3383280" cy="3291840"/>
          </a:xfrm>
          <a:prstGeom prst="roundRect">
            <a:avLst>
              <a:gd name="adj" fmla="val 3333"/>
            </a:avLst>
          </a:prstGeom>
          <a:solidFill>
            <a:schemeClr val="tx2"/>
          </a:solidFill>
          <a:ln/>
          <a:effectLst>
            <a:outerShdw sx="100000" sy="100000" kx="0" ky="0" algn="bl" rotWithShape="0" blurRad="101600" dist="25400" dir="5400000">
              <a:srgbClr val="0D2146">
                <a:alpha val="14000"/>
              </a:srgbClr>
            </a:outerShdw>
          </a:effectLst>
        </p:spPr>
      </p:sp>
      <p:sp>
        <p:nvSpPr>
          <p:cNvPr id="28" name="Final badge"/>
          <p:cNvSpPr/>
          <p:nvPr/>
        </p:nvSpPr>
        <p:spPr>
          <a:xfrm>
            <a:off x="9464040" y="1920240"/>
            <a:ext cx="914400" cy="914400"/>
          </a:xfrm>
          <a:prstGeom prst="ellipse">
            <a:avLst/>
          </a:prstGeom>
          <a:solidFill>
            <a:schemeClr val="accent1"/>
          </a:solidFill>
          <a:ln/>
        </p:spPr>
      </p:sp>
      <p:pic>
        <p:nvPicPr>
          <p:cNvPr id="29" name="Final icon" descr="FlagCheckered icon">    </p:cNvPr>
          <p:cNvPicPr>
            <a:picLocks noChangeAspect="1"/>
          </p:cNvPicPr>
          <p:nvPr/>
        </p:nvPicPr>
        <p:blipFill>
          <a:blip r:embed="rId5"/>
          <a:stretch>
            <a:fillRect/>
          </a:stretch>
        </p:blipFill>
        <p:spPr>
          <a:xfrm>
            <a:off x="9692640" y="2148840"/>
            <a:ext cx="457200" cy="457200"/>
          </a:xfrm>
          <a:prstGeom prst="rect">
            <a:avLst/>
          </a:prstGeom>
        </p:spPr>
      </p:pic>
      <p:sp>
        <p:nvSpPr>
          <p:cNvPr id="30" name="Text 23"/>
          <p:cNvSpPr txBox="1"/>
          <p:nvPr/>
        </p:nvSpPr>
        <p:spPr>
          <a:xfrm>
            <a:off x="8412480" y="3154680"/>
            <a:ext cx="3017520" cy="548640"/>
          </a:xfrm>
          <a:prstGeom prst="rect">
            <a:avLst/>
          </a:prstGeom>
          <a:noFill/>
          <a:ln/>
        </p:spPr>
        <p:txBody>
          <a:bodyPr wrap="square" lIns="0" tIns="0" rIns="0" bIns="0" rtlCol="0" anchor="t"/>
          <a:lstStyle/>
          <a:p>
            <a:pPr algn="ctr" indent="0" marL="0">
              <a:buNone/>
            </a:pPr>
            <a:r>
              <a:rPr lang="en-US" sz="2400" b="1" dirty="0">
                <a:solidFill>
                  <a:schemeClr val="bg1"/>
                </a:solidFill>
              </a:rPr>
              <a:t>Final Ending</a:t>
            </a:r>
            <a:endParaRPr lang="en-US" sz="2400" dirty="0"/>
          </a:p>
        </p:txBody>
      </p:sp>
      <p:sp>
        <p:nvSpPr>
          <p:cNvPr id="31" name="Text 24"/>
          <p:cNvSpPr txBox="1"/>
          <p:nvPr/>
        </p:nvSpPr>
        <p:spPr>
          <a:xfrm>
            <a:off x="8458200" y="3749040"/>
            <a:ext cx="2926080" cy="822960"/>
          </a:xfrm>
          <a:prstGeom prst="rect">
            <a:avLst/>
          </a:prstGeom>
          <a:noFill/>
          <a:ln/>
        </p:spPr>
        <p:txBody>
          <a:bodyPr wrap="square" lIns="0" tIns="0" rIns="0" bIns="0" rtlCol="0" anchor="t"/>
          <a:lstStyle/>
          <a:p>
            <a:pPr algn="ctr" indent="0" marL="0">
              <a:buNone/>
            </a:pPr>
            <a:r>
              <a:rPr lang="en-US" sz="1800" dirty="0">
                <a:solidFill>
                  <a:schemeClr val="accent4"/>
                </a:solidFill>
              </a:rPr>
              <a:t>A combination of the two results</a:t>
            </a:r>
            <a:endParaRPr lang="en-US" sz="1800" dirty="0"/>
          </a:p>
        </p:txBody>
      </p:sp>
      <p:sp>
        <p:nvSpPr>
          <p:cNvPr id="32" name="Score vs outcome"/>
          <p:cNvSpPr/>
          <p:nvPr/>
        </p:nvSpPr>
        <p:spPr>
          <a:xfrm>
            <a:off x="548640" y="5029200"/>
            <a:ext cx="11091672" cy="1188720"/>
          </a:xfrm>
          <a:prstGeom prst="roundRect">
            <a:avLst>
              <a:gd name="adj" fmla="val 9231"/>
            </a:avLst>
          </a:prstGeom>
          <a:solidFill>
            <a:schemeClr val="accent4"/>
          </a:solidFill>
          <a:ln/>
        </p:spPr>
      </p:sp>
      <p:sp>
        <p:nvSpPr>
          <p:cNvPr id="33" name="Balance badge"/>
          <p:cNvSpPr/>
          <p:nvPr/>
        </p:nvSpPr>
        <p:spPr>
          <a:xfrm>
            <a:off x="822960" y="5321808"/>
            <a:ext cx="603504" cy="603504"/>
          </a:xfrm>
          <a:prstGeom prst="ellipse">
            <a:avLst/>
          </a:prstGeom>
          <a:solidFill>
            <a:schemeClr val="tx2"/>
          </a:solidFill>
          <a:ln/>
        </p:spPr>
      </p:sp>
      <p:pic>
        <p:nvPicPr>
          <p:cNvPr id="34" name="Balance icon" descr="BalanceScale icon">    </p:cNvPr>
          <p:cNvPicPr>
            <a:picLocks noChangeAspect="1"/>
          </p:cNvPicPr>
          <p:nvPr/>
        </p:nvPicPr>
        <p:blipFill>
          <a:blip r:embed="rId6"/>
          <a:stretch>
            <a:fillRect/>
          </a:stretch>
        </p:blipFill>
        <p:spPr>
          <a:xfrm>
            <a:off x="973836" y="5472684"/>
            <a:ext cx="301752" cy="301752"/>
          </a:xfrm>
          <a:prstGeom prst="rect">
            <a:avLst/>
          </a:prstGeom>
        </p:spPr>
      </p:pic>
      <p:sp>
        <p:nvSpPr>
          <p:cNvPr id="35" name="Text 27"/>
          <p:cNvSpPr txBox="1"/>
          <p:nvPr/>
        </p:nvSpPr>
        <p:spPr>
          <a:xfrm>
            <a:off x="1691640" y="5029200"/>
            <a:ext cx="9692640" cy="1188720"/>
          </a:xfrm>
          <a:prstGeom prst="rect">
            <a:avLst/>
          </a:prstGeom>
          <a:noFill/>
          <a:ln/>
        </p:spPr>
        <p:txBody>
          <a:bodyPr wrap="square" lIns="0" tIns="0" rIns="0" bIns="0" rtlCol="0" anchor="ctr"/>
          <a:lstStyle/>
          <a:p>
            <a:pPr indent="0" marL="0">
              <a:buNone/>
            </a:pPr>
            <a:r>
              <a:rPr lang="en-US" sz="2000" b="1" dirty="0">
                <a:solidFill>
                  <a:schemeClr val="tx2"/>
                </a:solidFill>
              </a:rPr>
              <a:t>A high score does not mean the company does well: Performance and Outcome are separate.</a:t>
            </a:r>
            <a:endParaRPr lang="en-US" sz="20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User flow</a:t>
            </a:r>
            <a:endParaRPr lang="en-US" sz="3600" dirty="0"/>
          </a:p>
        </p:txBody>
      </p:sp>
      <p:sp>
        <p:nvSpPr>
          <p:cNvPr id="3" name="Stage Intake"/>
          <p:cNvSpPr/>
          <p:nvPr/>
        </p:nvSpPr>
        <p:spPr>
          <a:xfrm>
            <a:off x="548640" y="1417320"/>
            <a:ext cx="338328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Stage number 1"/>
          <p:cNvSpPr/>
          <p:nvPr/>
        </p:nvSpPr>
        <p:spPr>
          <a:xfrm>
            <a:off x="777240" y="1600200"/>
            <a:ext cx="502920" cy="502920"/>
          </a:xfrm>
          <a:prstGeom prst="ellipse">
            <a:avLst/>
          </a:prstGeom>
          <a:solidFill>
            <a:schemeClr val="accent1"/>
          </a:solidFill>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417320" y="1527048"/>
            <a:ext cx="2377440" cy="365760"/>
          </a:xfrm>
          <a:prstGeom prst="rect">
            <a:avLst/>
          </a:prstGeom>
          <a:noFill/>
          <a:ln/>
        </p:spPr>
        <p:txBody>
          <a:bodyPr wrap="square" lIns="0" tIns="0" rIns="0" bIns="0" rtlCol="0" anchor="ctr"/>
          <a:lstStyle/>
          <a:p>
            <a:pPr indent="0" marL="0">
              <a:buNone/>
            </a:pPr>
            <a:r>
              <a:rPr lang="en-US" sz="2000" b="1" dirty="0">
                <a:solidFill>
                  <a:schemeClr val="tx2"/>
                </a:solidFill>
              </a:rPr>
              <a:t>Intake</a:t>
            </a:r>
            <a:endParaRPr lang="en-US" sz="2000" dirty="0"/>
          </a:p>
        </p:txBody>
      </p:sp>
      <p:sp>
        <p:nvSpPr>
          <p:cNvPr id="7" name="Text 5"/>
          <p:cNvSpPr txBox="1"/>
          <p:nvPr/>
        </p:nvSpPr>
        <p:spPr>
          <a:xfrm>
            <a:off x="1417320" y="1874520"/>
            <a:ext cx="2377440" cy="274320"/>
          </a:xfrm>
          <a:prstGeom prst="rect">
            <a:avLst/>
          </a:prstGeom>
          <a:noFill/>
          <a:ln/>
        </p:spPr>
        <p:txBody>
          <a:bodyPr wrap="square" lIns="0" tIns="0" rIns="0" bIns="0" rtlCol="0" anchor="t"/>
          <a:lstStyle/>
          <a:p>
            <a:pPr indent="0" marL="0">
              <a:buNone/>
            </a:pPr>
            <a:r>
              <a:rPr lang="en-US" sz="1600" dirty="0">
                <a:solidFill>
                  <a:schemeClr val="accent2"/>
                </a:solidFill>
              </a:rPr>
              <a:t>Screens 0–1</a:t>
            </a:r>
            <a:endParaRPr lang="en-US" sz="1600" dirty="0"/>
          </a:p>
        </p:txBody>
      </p:sp>
      <p:sp>
        <p:nvSpPr>
          <p:cNvPr id="8" name="Text 6"/>
          <p:cNvSpPr txBox="1"/>
          <p:nvPr/>
        </p:nvSpPr>
        <p:spPr>
          <a:xfrm>
            <a:off x="777240" y="2286000"/>
            <a:ext cx="2926080" cy="914400"/>
          </a:xfrm>
          <a:prstGeom prst="rect">
            <a:avLst/>
          </a:prstGeom>
          <a:noFill/>
          <a:ln/>
        </p:spPr>
        <p:txBody>
          <a:bodyPr wrap="square" lIns="0" tIns="0" rIns="0" bIns="0" rtlCol="0" anchor="t"/>
          <a:lstStyle/>
          <a:p>
            <a:pPr indent="0" marL="0">
              <a:buNone/>
            </a:pPr>
            <a:r>
              <a:rPr lang="en-US" sz="1800" dirty="0">
                <a:solidFill>
                  <a:schemeClr val="tx1"/>
                </a:solidFill>
              </a:rPr>
              <a:t>Client info (root cause hidden), stated problem, competing views</a:t>
            </a:r>
            <a:endParaRPr lang="en-US" sz="1800" dirty="0"/>
          </a:p>
        </p:txBody>
      </p:sp>
      <p:pic>
        <p:nvPicPr>
          <p:cNvPr id="9" name="Arrow" descr="next">    </p:cNvPr>
          <p:cNvPicPr>
            <a:picLocks noChangeAspect="1"/>
          </p:cNvPicPr>
          <p:nvPr/>
        </p:nvPicPr>
        <p:blipFill>
          <a:blip r:embed="rId1"/>
          <a:stretch>
            <a:fillRect/>
          </a:stretch>
        </p:blipFill>
        <p:spPr>
          <a:xfrm>
            <a:off x="4023360" y="2194560"/>
            <a:ext cx="274320" cy="274320"/>
          </a:xfrm>
          <a:prstGeom prst="rect">
            <a:avLst/>
          </a:prstGeom>
        </p:spPr>
      </p:pic>
      <p:sp>
        <p:nvSpPr>
          <p:cNvPr id="10" name="Stage Investigate"/>
          <p:cNvSpPr/>
          <p:nvPr/>
        </p:nvSpPr>
        <p:spPr>
          <a:xfrm>
            <a:off x="4389120" y="1417320"/>
            <a:ext cx="338328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1" name="Stage number 2"/>
          <p:cNvSpPr/>
          <p:nvPr/>
        </p:nvSpPr>
        <p:spPr>
          <a:xfrm>
            <a:off x="4617720" y="1600200"/>
            <a:ext cx="502920" cy="502920"/>
          </a:xfrm>
          <a:prstGeom prst="ellipse">
            <a:avLst/>
          </a:prstGeom>
          <a:solidFill>
            <a:schemeClr val="accent1"/>
          </a:solidFill>
          <a:ln/>
        </p:spPr>
      </p:sp>
      <p:sp>
        <p:nvSpPr>
          <p:cNvPr id="12" name="Text 9"/>
          <p:cNvSpPr txBox="1"/>
          <p:nvPr/>
        </p:nvSpPr>
        <p:spPr>
          <a:xfrm>
            <a:off x="461772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0"/>
          <p:cNvSpPr txBox="1"/>
          <p:nvPr/>
        </p:nvSpPr>
        <p:spPr>
          <a:xfrm>
            <a:off x="5257800" y="1527048"/>
            <a:ext cx="2377440" cy="365760"/>
          </a:xfrm>
          <a:prstGeom prst="rect">
            <a:avLst/>
          </a:prstGeom>
          <a:noFill/>
          <a:ln/>
        </p:spPr>
        <p:txBody>
          <a:bodyPr wrap="square" lIns="0" tIns="0" rIns="0" bIns="0" rtlCol="0" anchor="ctr"/>
          <a:lstStyle/>
          <a:p>
            <a:pPr indent="0" marL="0">
              <a:buNone/>
            </a:pPr>
            <a:r>
              <a:rPr lang="en-US" sz="2000" b="1" dirty="0">
                <a:solidFill>
                  <a:schemeClr val="tx2"/>
                </a:solidFill>
              </a:rPr>
              <a:t>Investigate</a:t>
            </a:r>
            <a:endParaRPr lang="en-US" sz="2000" dirty="0"/>
          </a:p>
        </p:txBody>
      </p:sp>
      <p:sp>
        <p:nvSpPr>
          <p:cNvPr id="14" name="Text 11"/>
          <p:cNvSpPr txBox="1"/>
          <p:nvPr/>
        </p:nvSpPr>
        <p:spPr>
          <a:xfrm>
            <a:off x="5257800" y="1874520"/>
            <a:ext cx="2377440" cy="274320"/>
          </a:xfrm>
          <a:prstGeom prst="rect">
            <a:avLst/>
          </a:prstGeom>
          <a:noFill/>
          <a:ln/>
        </p:spPr>
        <p:txBody>
          <a:bodyPr wrap="square" lIns="0" tIns="0" rIns="0" bIns="0" rtlCol="0" anchor="t"/>
          <a:lstStyle/>
          <a:p>
            <a:pPr indent="0" marL="0">
              <a:buNone/>
            </a:pPr>
            <a:r>
              <a:rPr lang="en-US" sz="1600" dirty="0">
                <a:solidFill>
                  <a:schemeClr val="accent2"/>
                </a:solidFill>
              </a:rPr>
              <a:t>Screens 2–5</a:t>
            </a:r>
            <a:endParaRPr lang="en-US" sz="1600" dirty="0"/>
          </a:p>
        </p:txBody>
      </p:sp>
      <p:sp>
        <p:nvSpPr>
          <p:cNvPr id="15" name="Text 12"/>
          <p:cNvSpPr txBox="1"/>
          <p:nvPr/>
        </p:nvSpPr>
        <p:spPr>
          <a:xfrm>
            <a:off x="4617720" y="2286000"/>
            <a:ext cx="2926080" cy="914400"/>
          </a:xfrm>
          <a:prstGeom prst="rect">
            <a:avLst/>
          </a:prstGeom>
          <a:noFill/>
          <a:ln/>
        </p:spPr>
        <p:txBody>
          <a:bodyPr wrap="square" lIns="0" tIns="0" rIns="0" bIns="0" rtlCol="0" anchor="t"/>
          <a:lstStyle/>
          <a:p>
            <a:pPr indent="0" marL="0">
              <a:buNone/>
            </a:pPr>
            <a:r>
              <a:rPr lang="en-US" sz="1800" dirty="0">
                <a:solidFill>
                  <a:schemeClr val="tx1"/>
                </a:solidFill>
              </a:rPr>
              <a:t>Pick 3 files, 2 follow-ups, read the financials, pick 1 final question</a:t>
            </a:r>
            <a:endParaRPr lang="en-US" sz="1800" dirty="0"/>
          </a:p>
        </p:txBody>
      </p:sp>
      <p:pic>
        <p:nvPicPr>
          <p:cNvPr id="16" name="Arrow" descr="next">    </p:cNvPr>
          <p:cNvPicPr>
            <a:picLocks noChangeAspect="1"/>
          </p:cNvPicPr>
          <p:nvPr/>
        </p:nvPicPr>
        <p:blipFill>
          <a:blip r:embed="rId2"/>
          <a:stretch>
            <a:fillRect/>
          </a:stretch>
        </p:blipFill>
        <p:spPr>
          <a:xfrm>
            <a:off x="7863840" y="2194560"/>
            <a:ext cx="274320" cy="274320"/>
          </a:xfrm>
          <a:prstGeom prst="rect">
            <a:avLst/>
          </a:prstGeom>
        </p:spPr>
      </p:pic>
      <p:sp>
        <p:nvSpPr>
          <p:cNvPr id="17" name="Stage Diagnose"/>
          <p:cNvSpPr/>
          <p:nvPr/>
        </p:nvSpPr>
        <p:spPr>
          <a:xfrm>
            <a:off x="8229600" y="1417320"/>
            <a:ext cx="3383280" cy="1828800"/>
          </a:xfrm>
          <a:prstGeom prst="roundRect">
            <a:avLst>
              <a:gd name="adj" fmla="val 6000"/>
            </a:avLst>
          </a:prstGeom>
          <a:solidFill>
            <a:schemeClr val="tx2"/>
          </a:solidFill>
          <a:ln/>
          <a:effectLst>
            <a:outerShdw sx="100000" sy="100000" kx="0" ky="0" algn="bl" rotWithShape="0" blurRad="101600" dist="25400" dir="5400000">
              <a:srgbClr val="0D2146">
                <a:alpha val="14000"/>
              </a:srgbClr>
            </a:outerShdw>
          </a:effectLst>
        </p:spPr>
      </p:sp>
      <p:sp>
        <p:nvSpPr>
          <p:cNvPr id="18" name="Stage number 3"/>
          <p:cNvSpPr/>
          <p:nvPr/>
        </p:nvSpPr>
        <p:spPr>
          <a:xfrm>
            <a:off x="8458200" y="1600200"/>
            <a:ext cx="502920" cy="502920"/>
          </a:xfrm>
          <a:prstGeom prst="ellipse">
            <a:avLst/>
          </a:prstGeom>
          <a:solidFill>
            <a:schemeClr val="accent5"/>
          </a:solidFill>
          <a:ln/>
        </p:spPr>
      </p:sp>
      <p:sp>
        <p:nvSpPr>
          <p:cNvPr id="19" name="Text 15"/>
          <p:cNvSpPr txBox="1"/>
          <p:nvPr/>
        </p:nvSpPr>
        <p:spPr>
          <a:xfrm>
            <a:off x="8458200" y="160020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20" name="Text 16"/>
          <p:cNvSpPr txBox="1"/>
          <p:nvPr/>
        </p:nvSpPr>
        <p:spPr>
          <a:xfrm>
            <a:off x="9098280" y="1527048"/>
            <a:ext cx="2377440" cy="365760"/>
          </a:xfrm>
          <a:prstGeom prst="rect">
            <a:avLst/>
          </a:prstGeom>
          <a:noFill/>
          <a:ln/>
        </p:spPr>
        <p:txBody>
          <a:bodyPr wrap="square" lIns="0" tIns="0" rIns="0" bIns="0" rtlCol="0" anchor="ctr"/>
          <a:lstStyle/>
          <a:p>
            <a:pPr indent="0" marL="0">
              <a:buNone/>
            </a:pPr>
            <a:r>
              <a:rPr lang="en-US" sz="2000" b="1" dirty="0">
                <a:solidFill>
                  <a:schemeClr val="bg1"/>
                </a:solidFill>
              </a:rPr>
              <a:t>Diagnose</a:t>
            </a:r>
            <a:endParaRPr lang="en-US" sz="2000" dirty="0"/>
          </a:p>
        </p:txBody>
      </p:sp>
      <p:sp>
        <p:nvSpPr>
          <p:cNvPr id="21" name="Text 17"/>
          <p:cNvSpPr txBox="1"/>
          <p:nvPr/>
        </p:nvSpPr>
        <p:spPr>
          <a:xfrm>
            <a:off x="9098280" y="1874520"/>
            <a:ext cx="2377440" cy="274320"/>
          </a:xfrm>
          <a:prstGeom prst="rect">
            <a:avLst/>
          </a:prstGeom>
          <a:noFill/>
          <a:ln/>
        </p:spPr>
        <p:txBody>
          <a:bodyPr wrap="square" lIns="0" tIns="0" rIns="0" bIns="0" rtlCol="0" anchor="t"/>
          <a:lstStyle/>
          <a:p>
            <a:pPr indent="0" marL="0">
              <a:buNone/>
            </a:pPr>
            <a:r>
              <a:rPr lang="en-US" sz="1600" dirty="0">
                <a:solidFill>
                  <a:schemeClr val="accent3"/>
                </a:solidFill>
              </a:rPr>
              <a:t>Screen 6</a:t>
            </a:r>
            <a:endParaRPr lang="en-US" sz="1600" dirty="0"/>
          </a:p>
        </p:txBody>
      </p:sp>
      <p:sp>
        <p:nvSpPr>
          <p:cNvPr id="22" name="Text 18"/>
          <p:cNvSpPr txBox="1"/>
          <p:nvPr/>
        </p:nvSpPr>
        <p:spPr>
          <a:xfrm>
            <a:off x="8458200" y="2286000"/>
            <a:ext cx="2926080" cy="914400"/>
          </a:xfrm>
          <a:prstGeom prst="rect">
            <a:avLst/>
          </a:prstGeom>
          <a:noFill/>
          <a:ln/>
        </p:spPr>
        <p:txBody>
          <a:bodyPr wrap="square" lIns="0" tIns="0" rIns="0" bIns="0" rtlCol="0" anchor="t"/>
          <a:lstStyle/>
          <a:p>
            <a:pPr indent="0" marL="0">
              <a:buNone/>
            </a:pPr>
            <a:r>
              <a:rPr lang="en-US" sz="1800" dirty="0">
                <a:solidFill>
                  <a:schemeClr val="accent4"/>
                </a:solidFill>
              </a:rPr>
              <a:t>Identify issues and select a Primary Diagnosis</a:t>
            </a:r>
            <a:endParaRPr lang="en-US" sz="1800" dirty="0"/>
          </a:p>
        </p:txBody>
      </p:sp>
      <p:sp>
        <p:nvSpPr>
          <p:cNvPr id="23" name="Stage Plan"/>
          <p:cNvSpPr/>
          <p:nvPr/>
        </p:nvSpPr>
        <p:spPr>
          <a:xfrm>
            <a:off x="548640" y="3429000"/>
            <a:ext cx="338328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4" name="Stage number 4"/>
          <p:cNvSpPr/>
          <p:nvPr/>
        </p:nvSpPr>
        <p:spPr>
          <a:xfrm>
            <a:off x="777240" y="3611880"/>
            <a:ext cx="502920" cy="502920"/>
          </a:xfrm>
          <a:prstGeom prst="ellipse">
            <a:avLst/>
          </a:prstGeom>
          <a:solidFill>
            <a:schemeClr val="accent1"/>
          </a:solidFill>
          <a:ln/>
        </p:spPr>
      </p:sp>
      <p:sp>
        <p:nvSpPr>
          <p:cNvPr id="25" name="Text 21"/>
          <p:cNvSpPr txBox="1"/>
          <p:nvPr/>
        </p:nvSpPr>
        <p:spPr>
          <a:xfrm>
            <a:off x="777240" y="3611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2"/>
          <p:cNvSpPr txBox="1"/>
          <p:nvPr/>
        </p:nvSpPr>
        <p:spPr>
          <a:xfrm>
            <a:off x="1417320" y="3538728"/>
            <a:ext cx="2377440" cy="365760"/>
          </a:xfrm>
          <a:prstGeom prst="rect">
            <a:avLst/>
          </a:prstGeom>
          <a:noFill/>
          <a:ln/>
        </p:spPr>
        <p:txBody>
          <a:bodyPr wrap="square" lIns="0" tIns="0" rIns="0" bIns="0" rtlCol="0" anchor="ctr"/>
          <a:lstStyle/>
          <a:p>
            <a:pPr indent="0" marL="0">
              <a:buNone/>
            </a:pPr>
            <a:r>
              <a:rPr lang="en-US" sz="2000" b="1" dirty="0">
                <a:solidFill>
                  <a:schemeClr val="tx2"/>
                </a:solidFill>
              </a:rPr>
              <a:t>Plan</a:t>
            </a:r>
            <a:endParaRPr lang="en-US" sz="2000" dirty="0"/>
          </a:p>
        </p:txBody>
      </p:sp>
      <p:sp>
        <p:nvSpPr>
          <p:cNvPr id="27" name="Text 23"/>
          <p:cNvSpPr txBox="1"/>
          <p:nvPr/>
        </p:nvSpPr>
        <p:spPr>
          <a:xfrm>
            <a:off x="1417320" y="3886200"/>
            <a:ext cx="2377440" cy="274320"/>
          </a:xfrm>
          <a:prstGeom prst="rect">
            <a:avLst/>
          </a:prstGeom>
          <a:noFill/>
          <a:ln/>
        </p:spPr>
        <p:txBody>
          <a:bodyPr wrap="square" lIns="0" tIns="0" rIns="0" bIns="0" rtlCol="0" anchor="t"/>
          <a:lstStyle/>
          <a:p>
            <a:pPr indent="0" marL="0">
              <a:buNone/>
            </a:pPr>
            <a:r>
              <a:rPr lang="en-US" sz="1600" dirty="0">
                <a:solidFill>
                  <a:schemeClr val="accent2"/>
                </a:solidFill>
              </a:rPr>
              <a:t>Screens 7–9</a:t>
            </a:r>
            <a:endParaRPr lang="en-US" sz="1600" dirty="0"/>
          </a:p>
        </p:txBody>
      </p:sp>
      <p:sp>
        <p:nvSpPr>
          <p:cNvPr id="28" name="Text 24"/>
          <p:cNvSpPr txBox="1"/>
          <p:nvPr/>
        </p:nvSpPr>
        <p:spPr>
          <a:xfrm>
            <a:off x="777240" y="4297680"/>
            <a:ext cx="2926080" cy="914400"/>
          </a:xfrm>
          <a:prstGeom prst="rect">
            <a:avLst/>
          </a:prstGeom>
          <a:noFill/>
          <a:ln/>
        </p:spPr>
        <p:txBody>
          <a:bodyPr wrap="square" lIns="0" tIns="0" rIns="0" bIns="0" rtlCol="0" anchor="t"/>
          <a:lstStyle/>
          <a:p>
            <a:pPr indent="0" marL="0">
              <a:buNone/>
            </a:pPr>
            <a:r>
              <a:rPr lang="en-US" sz="1800" dirty="0">
                <a:solidFill>
                  <a:schemeClr val="tx1"/>
                </a:solidFill>
              </a:rPr>
              <a:t>Treatment, timing and exactly 3 stakeholder priorities</a:t>
            </a:r>
            <a:endParaRPr lang="en-US" sz="1800" dirty="0"/>
          </a:p>
        </p:txBody>
      </p:sp>
      <p:pic>
        <p:nvPicPr>
          <p:cNvPr id="29" name="Arrow" descr="next">    </p:cNvPr>
          <p:cNvPicPr>
            <a:picLocks noChangeAspect="1"/>
          </p:cNvPicPr>
          <p:nvPr/>
        </p:nvPicPr>
        <p:blipFill>
          <a:blip r:embed="rId3"/>
          <a:stretch>
            <a:fillRect/>
          </a:stretch>
        </p:blipFill>
        <p:spPr>
          <a:xfrm>
            <a:off x="4023360" y="4206240"/>
            <a:ext cx="274320" cy="274320"/>
          </a:xfrm>
          <a:prstGeom prst="rect">
            <a:avLst/>
          </a:prstGeom>
        </p:spPr>
      </p:pic>
      <p:sp>
        <p:nvSpPr>
          <p:cNvPr id="30" name="Stage Consequences"/>
          <p:cNvSpPr/>
          <p:nvPr/>
        </p:nvSpPr>
        <p:spPr>
          <a:xfrm>
            <a:off x="4389120" y="3429000"/>
            <a:ext cx="338328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31" name="Stage number 5"/>
          <p:cNvSpPr/>
          <p:nvPr/>
        </p:nvSpPr>
        <p:spPr>
          <a:xfrm>
            <a:off x="4617720" y="3611880"/>
            <a:ext cx="502920" cy="502920"/>
          </a:xfrm>
          <a:prstGeom prst="ellipse">
            <a:avLst/>
          </a:prstGeom>
          <a:solidFill>
            <a:schemeClr val="accent1"/>
          </a:solidFill>
          <a:ln/>
        </p:spPr>
      </p:sp>
      <p:sp>
        <p:nvSpPr>
          <p:cNvPr id="32" name="Text 27"/>
          <p:cNvSpPr txBox="1"/>
          <p:nvPr/>
        </p:nvSpPr>
        <p:spPr>
          <a:xfrm>
            <a:off x="4617720" y="3611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3" name="Text 28"/>
          <p:cNvSpPr txBox="1"/>
          <p:nvPr/>
        </p:nvSpPr>
        <p:spPr>
          <a:xfrm>
            <a:off x="5257800" y="3538728"/>
            <a:ext cx="2377440" cy="365760"/>
          </a:xfrm>
          <a:prstGeom prst="rect">
            <a:avLst/>
          </a:prstGeom>
          <a:noFill/>
          <a:ln/>
        </p:spPr>
        <p:txBody>
          <a:bodyPr wrap="square" lIns="0" tIns="0" rIns="0" bIns="0" rtlCol="0" anchor="ctr"/>
          <a:lstStyle/>
          <a:p>
            <a:pPr indent="0" marL="0">
              <a:buNone/>
            </a:pPr>
            <a:r>
              <a:rPr lang="en-US" sz="2000" b="1" dirty="0">
                <a:solidFill>
                  <a:schemeClr val="tx2"/>
                </a:solidFill>
              </a:rPr>
              <a:t>Consequences</a:t>
            </a:r>
            <a:endParaRPr lang="en-US" sz="2000" dirty="0"/>
          </a:p>
        </p:txBody>
      </p:sp>
      <p:sp>
        <p:nvSpPr>
          <p:cNvPr id="34" name="Text 29"/>
          <p:cNvSpPr txBox="1"/>
          <p:nvPr/>
        </p:nvSpPr>
        <p:spPr>
          <a:xfrm>
            <a:off x="5257800" y="3886200"/>
            <a:ext cx="2377440" cy="274320"/>
          </a:xfrm>
          <a:prstGeom prst="rect">
            <a:avLst/>
          </a:prstGeom>
          <a:noFill/>
          <a:ln/>
        </p:spPr>
        <p:txBody>
          <a:bodyPr wrap="square" lIns="0" tIns="0" rIns="0" bIns="0" rtlCol="0" anchor="t"/>
          <a:lstStyle/>
          <a:p>
            <a:pPr indent="0" marL="0">
              <a:buNone/>
            </a:pPr>
            <a:r>
              <a:rPr lang="en-US" sz="1600" dirty="0">
                <a:solidFill>
                  <a:schemeClr val="accent2"/>
                </a:solidFill>
              </a:rPr>
              <a:t>Screen 10</a:t>
            </a:r>
            <a:endParaRPr lang="en-US" sz="1600" dirty="0"/>
          </a:p>
        </p:txBody>
      </p:sp>
      <p:sp>
        <p:nvSpPr>
          <p:cNvPr id="35" name="Text 30"/>
          <p:cNvSpPr txBox="1"/>
          <p:nvPr/>
        </p:nvSpPr>
        <p:spPr>
          <a:xfrm>
            <a:off x="4617720" y="4297680"/>
            <a:ext cx="2926080" cy="914400"/>
          </a:xfrm>
          <a:prstGeom prst="rect">
            <a:avLst/>
          </a:prstGeom>
          <a:noFill/>
          <a:ln/>
        </p:spPr>
        <p:txBody>
          <a:bodyPr wrap="square" lIns="0" tIns="0" rIns="0" bIns="0" rtlCol="0" anchor="t"/>
          <a:lstStyle/>
          <a:p>
            <a:pPr indent="0" marL="0">
              <a:buNone/>
            </a:pPr>
            <a:r>
              <a:rPr lang="en-US" sz="1800" dirty="0">
                <a:solidFill>
                  <a:schemeClr val="tx1"/>
                </a:solidFill>
              </a:rPr>
              <a:t>See the developments your plan generates</a:t>
            </a:r>
            <a:endParaRPr lang="en-US" sz="1800" dirty="0"/>
          </a:p>
        </p:txBody>
      </p:sp>
      <p:pic>
        <p:nvPicPr>
          <p:cNvPr id="36" name="Arrow" descr="next">    </p:cNvPr>
          <p:cNvPicPr>
            <a:picLocks noChangeAspect="1"/>
          </p:cNvPicPr>
          <p:nvPr/>
        </p:nvPicPr>
        <p:blipFill>
          <a:blip r:embed="rId4"/>
          <a:stretch>
            <a:fillRect/>
          </a:stretch>
        </p:blipFill>
        <p:spPr>
          <a:xfrm>
            <a:off x="7863840" y="4206240"/>
            <a:ext cx="274320" cy="274320"/>
          </a:xfrm>
          <a:prstGeom prst="rect">
            <a:avLst/>
          </a:prstGeom>
        </p:spPr>
      </p:pic>
      <p:sp>
        <p:nvSpPr>
          <p:cNvPr id="37" name="Stage Reassess"/>
          <p:cNvSpPr/>
          <p:nvPr/>
        </p:nvSpPr>
        <p:spPr>
          <a:xfrm>
            <a:off x="8229600" y="3429000"/>
            <a:ext cx="3383280" cy="1828800"/>
          </a:xfrm>
          <a:prstGeom prst="roundRect">
            <a:avLst>
              <a:gd name="adj" fmla="val 6000"/>
            </a:avLst>
          </a:prstGeom>
          <a:solidFill>
            <a:schemeClr val="tx2"/>
          </a:solidFill>
          <a:ln/>
          <a:effectLst>
            <a:outerShdw sx="100000" sy="100000" kx="0" ky="0" algn="bl" rotWithShape="0" blurRad="101600" dist="25400" dir="5400000">
              <a:srgbClr val="0D2146">
                <a:alpha val="14000"/>
              </a:srgbClr>
            </a:outerShdw>
          </a:effectLst>
        </p:spPr>
      </p:sp>
      <p:sp>
        <p:nvSpPr>
          <p:cNvPr id="38" name="Stage number 6"/>
          <p:cNvSpPr/>
          <p:nvPr/>
        </p:nvSpPr>
        <p:spPr>
          <a:xfrm>
            <a:off x="8458200" y="3611880"/>
            <a:ext cx="502920" cy="502920"/>
          </a:xfrm>
          <a:prstGeom prst="ellipse">
            <a:avLst/>
          </a:prstGeom>
          <a:solidFill>
            <a:schemeClr val="accent5"/>
          </a:solidFill>
          <a:ln/>
        </p:spPr>
      </p:sp>
      <p:sp>
        <p:nvSpPr>
          <p:cNvPr id="39" name="Text 33"/>
          <p:cNvSpPr txBox="1"/>
          <p:nvPr/>
        </p:nvSpPr>
        <p:spPr>
          <a:xfrm>
            <a:off x="8458200" y="361188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6</a:t>
            </a:r>
            <a:endParaRPr lang="en-US" sz="2000" dirty="0"/>
          </a:p>
        </p:txBody>
      </p:sp>
      <p:sp>
        <p:nvSpPr>
          <p:cNvPr id="40" name="Text 34"/>
          <p:cNvSpPr txBox="1"/>
          <p:nvPr/>
        </p:nvSpPr>
        <p:spPr>
          <a:xfrm>
            <a:off x="9098280" y="3538728"/>
            <a:ext cx="2377440" cy="365760"/>
          </a:xfrm>
          <a:prstGeom prst="rect">
            <a:avLst/>
          </a:prstGeom>
          <a:noFill/>
          <a:ln/>
        </p:spPr>
        <p:txBody>
          <a:bodyPr wrap="square" lIns="0" tIns="0" rIns="0" bIns="0" rtlCol="0" anchor="ctr"/>
          <a:lstStyle/>
          <a:p>
            <a:pPr indent="0" marL="0">
              <a:buNone/>
            </a:pPr>
            <a:r>
              <a:rPr lang="en-US" sz="2000" b="1" dirty="0">
                <a:solidFill>
                  <a:schemeClr val="bg1"/>
                </a:solidFill>
              </a:rPr>
              <a:t>Reassess</a:t>
            </a:r>
            <a:endParaRPr lang="en-US" sz="2000" dirty="0"/>
          </a:p>
        </p:txBody>
      </p:sp>
      <p:sp>
        <p:nvSpPr>
          <p:cNvPr id="41" name="Text 35"/>
          <p:cNvSpPr txBox="1"/>
          <p:nvPr/>
        </p:nvSpPr>
        <p:spPr>
          <a:xfrm>
            <a:off x="9098280" y="3886200"/>
            <a:ext cx="2377440" cy="274320"/>
          </a:xfrm>
          <a:prstGeom prst="rect">
            <a:avLst/>
          </a:prstGeom>
          <a:noFill/>
          <a:ln/>
        </p:spPr>
        <p:txBody>
          <a:bodyPr wrap="square" lIns="0" tIns="0" rIns="0" bIns="0" rtlCol="0" anchor="t"/>
          <a:lstStyle/>
          <a:p>
            <a:pPr indent="0" marL="0">
              <a:buNone/>
            </a:pPr>
            <a:r>
              <a:rPr lang="en-US" sz="1600" dirty="0">
                <a:solidFill>
                  <a:schemeClr val="accent3"/>
                </a:solidFill>
              </a:rPr>
              <a:t>Screens 11–12</a:t>
            </a:r>
            <a:endParaRPr lang="en-US" sz="1600" dirty="0"/>
          </a:p>
        </p:txBody>
      </p:sp>
      <p:sp>
        <p:nvSpPr>
          <p:cNvPr id="42" name="Text 36"/>
          <p:cNvSpPr txBox="1"/>
          <p:nvPr/>
        </p:nvSpPr>
        <p:spPr>
          <a:xfrm>
            <a:off x="8458200" y="4297680"/>
            <a:ext cx="2926080" cy="914400"/>
          </a:xfrm>
          <a:prstGeom prst="rect">
            <a:avLst/>
          </a:prstGeom>
          <a:noFill/>
          <a:ln/>
        </p:spPr>
        <p:txBody>
          <a:bodyPr wrap="square" lIns="0" tIns="0" rIns="0" bIns="0" rtlCol="0" anchor="t"/>
          <a:lstStyle/>
          <a:p>
            <a:pPr indent="0" marL="0">
              <a:buNone/>
            </a:pPr>
            <a:r>
              <a:rPr lang="en-US" sz="1800" dirty="0">
                <a:solidFill>
                  <a:schemeClr val="accent4"/>
                </a:solidFill>
              </a:rPr>
              <a:t>Retain or revise, then the Case Report: review path or replay</a:t>
            </a:r>
            <a:endParaRPr lang="en-US" sz="1800" dirty="0"/>
          </a:p>
        </p:txBody>
      </p:sp>
      <p:sp>
        <p:nvSpPr>
          <p:cNvPr id="43" name="Validation note"/>
          <p:cNvSpPr/>
          <p:nvPr/>
        </p:nvSpPr>
        <p:spPr>
          <a:xfrm>
            <a:off x="548640" y="5486400"/>
            <a:ext cx="11091672" cy="777240"/>
          </a:xfrm>
          <a:prstGeom prst="roundRect">
            <a:avLst>
              <a:gd name="adj" fmla="val 14118"/>
            </a:avLst>
          </a:prstGeom>
          <a:solidFill>
            <a:schemeClr val="accent4"/>
          </a:solidFill>
          <a:ln/>
        </p:spPr>
      </p:sp>
      <p:sp>
        <p:nvSpPr>
          <p:cNvPr id="44" name="Text 38"/>
          <p:cNvSpPr txBox="1"/>
          <p:nvPr/>
        </p:nvSpPr>
        <p:spPr>
          <a:xfrm>
            <a:off x="822960" y="5486400"/>
            <a:ext cx="10607040" cy="777240"/>
          </a:xfrm>
          <a:prstGeom prst="rect">
            <a:avLst/>
          </a:prstGeom>
          <a:noFill/>
          <a:ln/>
        </p:spPr>
        <p:txBody>
          <a:bodyPr wrap="square" lIns="0" tIns="0" rIns="0" bIns="0" rtlCol="0" anchor="ctr"/>
          <a:lstStyle/>
          <a:p>
            <a:pPr indent="0" marL="0">
              <a:buNone/>
            </a:pPr>
            <a:r>
              <a:rPr lang="en-US" sz="1800" b="1" dirty="0">
                <a:solidFill>
                  <a:schemeClr val="tx2"/>
                </a:solidFill>
              </a:rPr>
              <a:t>Every step validates input (“Select exactly 3 Diagnostic Files”). Weak choices never block play; they show up in scores and feedback.</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bg1"/>
                </a:solidFill>
              </a:rPr>
              <a:t>Output</a:t>
            </a:r>
            <a:endParaRPr lang="en-US" sz="3600" dirty="0"/>
          </a:p>
        </p:txBody>
      </p:sp>
      <p:sp>
        <p:nvSpPr>
          <p:cNvPr id="3" name="Consequence card"/>
          <p:cNvSpPr/>
          <p:nvPr/>
        </p:nvSpPr>
        <p:spPr>
          <a:xfrm>
            <a:off x="548640" y="1417320"/>
            <a:ext cx="3840480" cy="2011680"/>
          </a:xfrm>
          <a:prstGeom prst="roundRect">
            <a:avLst>
              <a:gd name="adj" fmla="val 5455"/>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Consequence badge"/>
          <p:cNvSpPr/>
          <p:nvPr/>
        </p:nvSpPr>
        <p:spPr>
          <a:xfrm>
            <a:off x="777240" y="1645920"/>
            <a:ext cx="548640" cy="548640"/>
          </a:xfrm>
          <a:prstGeom prst="ellipse">
            <a:avLst/>
          </a:prstGeom>
          <a:solidFill>
            <a:schemeClr val="accent4"/>
          </a:solidFill>
          <a:ln/>
        </p:spPr>
      </p:sp>
      <p:pic>
        <p:nvPicPr>
          <p:cNvPr id="5" name="Consequence icon" descr="ProjectDiagram icon">    </p:cNvPr>
          <p:cNvPicPr>
            <a:picLocks noChangeAspect="1"/>
          </p:cNvPicPr>
          <p:nvPr/>
        </p:nvPicPr>
        <p:blipFill>
          <a:blip r:embed="rId1"/>
          <a:stretch>
            <a:fillRect/>
          </a:stretch>
        </p:blipFill>
        <p:spPr>
          <a:xfrm>
            <a:off x="914400" y="1783080"/>
            <a:ext cx="274320" cy="274320"/>
          </a:xfrm>
          <a:prstGeom prst="rect">
            <a:avLst/>
          </a:prstGeom>
        </p:spPr>
      </p:pic>
      <p:sp>
        <p:nvSpPr>
          <p:cNvPr id="6" name="Text 3"/>
          <p:cNvSpPr txBox="1"/>
          <p:nvPr/>
        </p:nvSpPr>
        <p:spPr>
          <a:xfrm>
            <a:off x="1463040" y="1645920"/>
            <a:ext cx="2834640" cy="548640"/>
          </a:xfrm>
          <a:prstGeom prst="rect">
            <a:avLst/>
          </a:prstGeom>
          <a:noFill/>
          <a:ln/>
        </p:spPr>
        <p:txBody>
          <a:bodyPr wrap="square" lIns="0" tIns="0" rIns="0" bIns="0" rtlCol="0" anchor="ctr"/>
          <a:lstStyle/>
          <a:p>
            <a:pPr indent="0" marL="0">
              <a:buNone/>
            </a:pPr>
            <a:r>
              <a:rPr lang="en-US" sz="2000" b="1" dirty="0">
                <a:solidFill>
                  <a:schemeClr val="tx2"/>
                </a:solidFill>
              </a:rPr>
              <a:t>Consequences</a:t>
            </a:r>
            <a:endParaRPr lang="en-US" sz="2000" dirty="0"/>
          </a:p>
        </p:txBody>
      </p:sp>
      <p:sp>
        <p:nvSpPr>
          <p:cNvPr id="7" name="Text 4"/>
          <p:cNvSpPr txBox="1"/>
          <p:nvPr/>
        </p:nvSpPr>
        <p:spPr>
          <a:xfrm>
            <a:off x="777240" y="2331720"/>
            <a:ext cx="3383280" cy="1051560"/>
          </a:xfrm>
          <a:prstGeom prst="rect">
            <a:avLst/>
          </a:prstGeom>
          <a:noFill/>
          <a:ln/>
        </p:spPr>
        <p:txBody>
          <a:bodyPr wrap="square" lIns="0" tIns="0" rIns="0" bIns="0" rtlCol="0" anchor="t"/>
          <a:lstStyle/>
          <a:p>
            <a:pPr indent="0" marL="0">
              <a:buNone/>
            </a:pPr>
            <a:r>
              <a:rPr lang="en-US" sz="1800" dirty="0">
                <a:solidFill>
                  <a:schemeClr val="tx1"/>
                </a:solidFill>
              </a:rPr>
              <a:t>New developments from treatment, timing and stakeholders.</a:t>
            </a:r>
            <a:endParaRPr lang="en-US" sz="1800" dirty="0"/>
          </a:p>
        </p:txBody>
      </p:sp>
      <p:sp>
        <p:nvSpPr>
          <p:cNvPr id="8" name="Error card"/>
          <p:cNvSpPr/>
          <p:nvPr/>
        </p:nvSpPr>
        <p:spPr>
          <a:xfrm>
            <a:off x="548640" y="3657600"/>
            <a:ext cx="3840480" cy="2606040"/>
          </a:xfrm>
          <a:prstGeom prst="roundRect">
            <a:avLst>
              <a:gd name="adj" fmla="val 4211"/>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9" name="Errors badge"/>
          <p:cNvSpPr/>
          <p:nvPr/>
        </p:nvSpPr>
        <p:spPr>
          <a:xfrm>
            <a:off x="777240" y="3886200"/>
            <a:ext cx="548640" cy="548640"/>
          </a:xfrm>
          <a:prstGeom prst="ellipse">
            <a:avLst/>
          </a:prstGeom>
          <a:solidFill>
            <a:schemeClr val="accent4"/>
          </a:solidFill>
          <a:ln/>
        </p:spPr>
      </p:sp>
      <p:pic>
        <p:nvPicPr>
          <p:cNvPr id="10" name="Errors icon" descr="ExclamationCircle icon">    </p:cNvPr>
          <p:cNvPicPr>
            <a:picLocks noChangeAspect="1"/>
          </p:cNvPicPr>
          <p:nvPr/>
        </p:nvPicPr>
        <p:blipFill>
          <a:blip r:embed="rId2"/>
          <a:stretch>
            <a:fillRect/>
          </a:stretch>
        </p:blipFill>
        <p:spPr>
          <a:xfrm>
            <a:off x="914400" y="4023360"/>
            <a:ext cx="274320" cy="274320"/>
          </a:xfrm>
          <a:prstGeom prst="rect">
            <a:avLst/>
          </a:prstGeom>
        </p:spPr>
      </p:pic>
      <p:sp>
        <p:nvSpPr>
          <p:cNvPr id="11" name="Text 7"/>
          <p:cNvSpPr txBox="1"/>
          <p:nvPr/>
        </p:nvSpPr>
        <p:spPr>
          <a:xfrm>
            <a:off x="1463040" y="3886200"/>
            <a:ext cx="2834640" cy="548640"/>
          </a:xfrm>
          <a:prstGeom prst="rect">
            <a:avLst/>
          </a:prstGeom>
          <a:noFill/>
          <a:ln/>
        </p:spPr>
        <p:txBody>
          <a:bodyPr wrap="square" lIns="0" tIns="0" rIns="0" bIns="0" rtlCol="0" anchor="ctr"/>
          <a:lstStyle/>
          <a:p>
            <a:pPr indent="0" marL="0">
              <a:buNone/>
            </a:pPr>
            <a:r>
              <a:rPr lang="en-US" sz="2000" b="1" dirty="0">
                <a:solidFill>
                  <a:schemeClr val="tx2"/>
                </a:solidFill>
              </a:rPr>
              <a:t>Error messages</a:t>
            </a:r>
            <a:endParaRPr lang="en-US" sz="2000" dirty="0"/>
          </a:p>
        </p:txBody>
      </p:sp>
      <p:sp>
        <p:nvSpPr>
          <p:cNvPr id="12" name="Text 8"/>
          <p:cNvSpPr txBox="1"/>
          <p:nvPr/>
        </p:nvSpPr>
        <p:spPr>
          <a:xfrm>
            <a:off x="777240" y="4526280"/>
            <a:ext cx="3383280" cy="640080"/>
          </a:xfrm>
          <a:prstGeom prst="rect">
            <a:avLst/>
          </a:prstGeom>
          <a:noFill/>
          <a:ln/>
        </p:spPr>
        <p:txBody>
          <a:bodyPr wrap="square" lIns="0" tIns="0" rIns="0" bIns="0" rtlCol="0" anchor="t"/>
          <a:lstStyle/>
          <a:p>
            <a:pPr indent="0" marL="0">
              <a:buNone/>
            </a:pPr>
            <a:r>
              <a:rPr lang="en-US" sz="1800" dirty="0">
                <a:solidFill>
                  <a:schemeClr val="tx1"/>
                </a:solidFill>
              </a:rPr>
              <a:t>Clear messages when inputs are missing or invalid.</a:t>
            </a:r>
            <a:endParaRPr lang="en-US" sz="1800" dirty="0"/>
          </a:p>
        </p:txBody>
      </p:sp>
      <p:pic>
        <p:nvPicPr>
          <p:cNvPr id="13" name="Notification illustration" descr="Phone notification illustration">    </p:cNvPr>
          <p:cNvPicPr>
            <a:picLocks noChangeAspect="1"/>
          </p:cNvPicPr>
          <p:nvPr/>
        </p:nvPicPr>
        <p:blipFill>
          <a:blip r:embed="rId3"/>
          <a:stretch>
            <a:fillRect/>
          </a:stretch>
        </p:blipFill>
        <p:spPr>
          <a:xfrm>
            <a:off x="777240" y="5166360"/>
            <a:ext cx="3383280" cy="868680"/>
          </a:xfrm>
          <a:prstGeom prst="rect">
            <a:avLst/>
          </a:prstGeom>
        </p:spPr>
      </p:pic>
      <p:sp>
        <p:nvSpPr>
          <p:cNvPr id="14" name="Report card"/>
          <p:cNvSpPr/>
          <p:nvPr/>
        </p:nvSpPr>
        <p:spPr>
          <a:xfrm>
            <a:off x="4663440" y="1417320"/>
            <a:ext cx="6976872" cy="4846320"/>
          </a:xfrm>
          <a:prstGeom prst="roundRect">
            <a:avLst>
              <a:gd name="adj" fmla="val 2264"/>
            </a:avLst>
          </a:prstGeom>
          <a:solidFill>
            <a:schemeClr val="accent1"/>
          </a:solidFill>
          <a:ln/>
          <a:effectLst>
            <a:outerShdw sx="100000" sy="100000" kx="0" ky="0" algn="bl" rotWithShape="0" blurRad="101600" dist="25400" dir="5400000">
              <a:srgbClr val="0D2146">
                <a:alpha val="14000"/>
              </a:srgbClr>
            </a:outerShdw>
          </a:effectLst>
        </p:spPr>
      </p:sp>
      <p:sp>
        <p:nvSpPr>
          <p:cNvPr id="15" name="Report badge"/>
          <p:cNvSpPr/>
          <p:nvPr/>
        </p:nvSpPr>
        <p:spPr>
          <a:xfrm>
            <a:off x="4937760" y="1645920"/>
            <a:ext cx="640080" cy="640080"/>
          </a:xfrm>
          <a:prstGeom prst="ellipse">
            <a:avLst/>
          </a:prstGeom>
          <a:solidFill>
            <a:schemeClr val="accent5"/>
          </a:solidFill>
          <a:ln/>
        </p:spPr>
      </p:sp>
      <p:pic>
        <p:nvPicPr>
          <p:cNvPr id="16" name="Report icon" descr="ClipboardCheck icon">    </p:cNvPr>
          <p:cNvPicPr>
            <a:picLocks noChangeAspect="1"/>
          </p:cNvPicPr>
          <p:nvPr/>
        </p:nvPicPr>
        <p:blipFill>
          <a:blip r:embed="rId4"/>
          <a:stretch>
            <a:fillRect/>
          </a:stretch>
        </p:blipFill>
        <p:spPr>
          <a:xfrm>
            <a:off x="5097780" y="1805940"/>
            <a:ext cx="320040" cy="320040"/>
          </a:xfrm>
          <a:prstGeom prst="rect">
            <a:avLst/>
          </a:prstGeom>
        </p:spPr>
      </p:pic>
      <p:sp>
        <p:nvSpPr>
          <p:cNvPr id="17" name="Text 11"/>
          <p:cNvSpPr txBox="1"/>
          <p:nvPr/>
        </p:nvSpPr>
        <p:spPr>
          <a:xfrm>
            <a:off x="5760720" y="1645920"/>
            <a:ext cx="5669280" cy="640080"/>
          </a:xfrm>
          <a:prstGeom prst="rect">
            <a:avLst/>
          </a:prstGeom>
          <a:noFill/>
          <a:ln/>
        </p:spPr>
        <p:txBody>
          <a:bodyPr wrap="square" lIns="0" tIns="0" rIns="0" bIns="0" rtlCol="0" anchor="ctr"/>
          <a:lstStyle/>
          <a:p>
            <a:pPr indent="0" marL="0">
              <a:buNone/>
            </a:pPr>
            <a:r>
              <a:rPr lang="en-US" sz="2400" b="1" dirty="0">
                <a:solidFill>
                  <a:schemeClr val="bg1"/>
                </a:solidFill>
              </a:rPr>
              <a:t>Counselor Case Report</a:t>
            </a:r>
            <a:endParaRPr lang="en-US" sz="2400" dirty="0"/>
          </a:p>
        </p:txBody>
      </p:sp>
      <p:sp>
        <p:nvSpPr>
          <p:cNvPr id="18" name="Counselor Performance badge"/>
          <p:cNvSpPr/>
          <p:nvPr/>
        </p:nvSpPr>
        <p:spPr>
          <a:xfrm>
            <a:off x="4937760" y="2606040"/>
            <a:ext cx="548640" cy="548640"/>
          </a:xfrm>
          <a:prstGeom prst="ellipse">
            <a:avLst/>
          </a:prstGeom>
          <a:solidFill>
            <a:schemeClr val="accent2"/>
          </a:solidFill>
          <a:ln/>
        </p:spPr>
      </p:sp>
      <p:pic>
        <p:nvPicPr>
          <p:cNvPr id="19" name="Counselor Performance icon" descr="ChartBar icon">    </p:cNvPr>
          <p:cNvPicPr>
            <a:picLocks noChangeAspect="1"/>
          </p:cNvPicPr>
          <p:nvPr/>
        </p:nvPicPr>
        <p:blipFill>
          <a:blip r:embed="rId5"/>
          <a:stretch>
            <a:fillRect/>
          </a:stretch>
        </p:blipFill>
        <p:spPr>
          <a:xfrm>
            <a:off x="5074920" y="2743200"/>
            <a:ext cx="274320" cy="274320"/>
          </a:xfrm>
          <a:prstGeom prst="rect">
            <a:avLst/>
          </a:prstGeom>
        </p:spPr>
      </p:pic>
      <p:sp>
        <p:nvSpPr>
          <p:cNvPr id="20" name="Text 13"/>
          <p:cNvSpPr txBox="1"/>
          <p:nvPr/>
        </p:nvSpPr>
        <p:spPr>
          <a:xfrm>
            <a:off x="5760720" y="2514600"/>
            <a:ext cx="5669280" cy="365760"/>
          </a:xfrm>
          <a:prstGeom prst="rect">
            <a:avLst/>
          </a:prstGeom>
          <a:noFill/>
          <a:ln/>
        </p:spPr>
        <p:txBody>
          <a:bodyPr wrap="square" lIns="0" tIns="0" rIns="0" bIns="0" rtlCol="0" anchor="t"/>
          <a:lstStyle/>
          <a:p>
            <a:pPr indent="0" marL="0">
              <a:buNone/>
            </a:pPr>
            <a:r>
              <a:rPr lang="en-US" sz="2000" b="1" dirty="0">
                <a:solidFill>
                  <a:schemeClr val="bg1"/>
                </a:solidFill>
              </a:rPr>
              <a:t>Counselor Performance</a:t>
            </a:r>
            <a:endParaRPr lang="en-US" sz="2000" dirty="0"/>
          </a:p>
        </p:txBody>
      </p:sp>
      <p:sp>
        <p:nvSpPr>
          <p:cNvPr id="21" name="Text 14"/>
          <p:cNvSpPr txBox="1"/>
          <p:nvPr/>
        </p:nvSpPr>
        <p:spPr>
          <a:xfrm>
            <a:off x="5760720" y="2898648"/>
            <a:ext cx="5669280" cy="411480"/>
          </a:xfrm>
          <a:prstGeom prst="rect">
            <a:avLst/>
          </a:prstGeom>
          <a:noFill/>
          <a:ln/>
        </p:spPr>
        <p:txBody>
          <a:bodyPr wrap="square" lIns="0" tIns="0" rIns="0" bIns="0" rtlCol="0" anchor="t"/>
          <a:lstStyle/>
          <a:p>
            <a:pPr indent="0" marL="0">
              <a:buNone/>
            </a:pPr>
            <a:r>
              <a:rPr lang="en-US" sz="1800" dirty="0">
                <a:solidFill>
                  <a:schemeClr val="accent4"/>
                </a:solidFill>
              </a:rPr>
              <a:t>5 stage scores + overall score /100</a:t>
            </a:r>
            <a:endParaRPr lang="en-US" sz="1800" dirty="0"/>
          </a:p>
        </p:txBody>
      </p:sp>
      <p:sp>
        <p:nvSpPr>
          <p:cNvPr id="22" name="Case Outcome badge"/>
          <p:cNvSpPr/>
          <p:nvPr/>
        </p:nvSpPr>
        <p:spPr>
          <a:xfrm>
            <a:off x="4937760" y="3520440"/>
            <a:ext cx="548640" cy="548640"/>
          </a:xfrm>
          <a:prstGeom prst="ellipse">
            <a:avLst/>
          </a:prstGeom>
          <a:solidFill>
            <a:schemeClr val="accent2"/>
          </a:solidFill>
          <a:ln/>
        </p:spPr>
      </p:sp>
      <p:pic>
        <p:nvPicPr>
          <p:cNvPr id="23" name="Case Outcome icon" descr="FlagCheckered icon">    </p:cNvPr>
          <p:cNvPicPr>
            <a:picLocks noChangeAspect="1"/>
          </p:cNvPicPr>
          <p:nvPr/>
        </p:nvPicPr>
        <p:blipFill>
          <a:blip r:embed="rId6"/>
          <a:stretch>
            <a:fillRect/>
          </a:stretch>
        </p:blipFill>
        <p:spPr>
          <a:xfrm>
            <a:off x="5074920" y="3657600"/>
            <a:ext cx="274320" cy="274320"/>
          </a:xfrm>
          <a:prstGeom prst="rect">
            <a:avLst/>
          </a:prstGeom>
        </p:spPr>
      </p:pic>
      <p:sp>
        <p:nvSpPr>
          <p:cNvPr id="24" name="Text 16"/>
          <p:cNvSpPr txBox="1"/>
          <p:nvPr/>
        </p:nvSpPr>
        <p:spPr>
          <a:xfrm>
            <a:off x="5760720" y="3429000"/>
            <a:ext cx="5669280" cy="365760"/>
          </a:xfrm>
          <a:prstGeom prst="rect">
            <a:avLst/>
          </a:prstGeom>
          <a:noFill/>
          <a:ln/>
        </p:spPr>
        <p:txBody>
          <a:bodyPr wrap="square" lIns="0" tIns="0" rIns="0" bIns="0" rtlCol="0" anchor="t"/>
          <a:lstStyle/>
          <a:p>
            <a:pPr indent="0" marL="0">
              <a:buNone/>
            </a:pPr>
            <a:r>
              <a:rPr lang="en-US" sz="2000" b="1" dirty="0">
                <a:solidFill>
                  <a:schemeClr val="bg1"/>
                </a:solidFill>
              </a:rPr>
              <a:t>Case Outcome</a:t>
            </a:r>
            <a:endParaRPr lang="en-US" sz="2000" dirty="0"/>
          </a:p>
        </p:txBody>
      </p:sp>
      <p:sp>
        <p:nvSpPr>
          <p:cNvPr id="25" name="Text 17"/>
          <p:cNvSpPr txBox="1"/>
          <p:nvPr/>
        </p:nvSpPr>
        <p:spPr>
          <a:xfrm>
            <a:off x="5760720" y="3813048"/>
            <a:ext cx="5669280" cy="411480"/>
          </a:xfrm>
          <a:prstGeom prst="rect">
            <a:avLst/>
          </a:prstGeom>
          <a:noFill/>
          <a:ln/>
        </p:spPr>
        <p:txBody>
          <a:bodyPr wrap="square" lIns="0" tIns="0" rIns="0" bIns="0" rtlCol="0" anchor="t"/>
          <a:lstStyle/>
          <a:p>
            <a:pPr indent="0" marL="0">
              <a:buNone/>
            </a:pPr>
            <a:r>
              <a:rPr lang="en-US" sz="1800" dirty="0">
                <a:solidFill>
                  <a:schemeClr val="accent4"/>
                </a:solidFill>
              </a:rPr>
              <a:t>Resilience · Stability · Final Ending</a:t>
            </a:r>
            <a:endParaRPr lang="en-US" sz="1800" dirty="0"/>
          </a:p>
        </p:txBody>
      </p:sp>
      <p:sp>
        <p:nvSpPr>
          <p:cNvPr id="26" name="Feedback badge"/>
          <p:cNvSpPr/>
          <p:nvPr/>
        </p:nvSpPr>
        <p:spPr>
          <a:xfrm>
            <a:off x="4937760" y="4434840"/>
            <a:ext cx="548640" cy="548640"/>
          </a:xfrm>
          <a:prstGeom prst="ellipse">
            <a:avLst/>
          </a:prstGeom>
          <a:solidFill>
            <a:schemeClr val="accent2"/>
          </a:solidFill>
          <a:ln/>
        </p:spPr>
      </p:sp>
      <p:pic>
        <p:nvPicPr>
          <p:cNvPr id="27" name="Feedback icon" descr="CommentDots icon">    </p:cNvPr>
          <p:cNvPicPr>
            <a:picLocks noChangeAspect="1"/>
          </p:cNvPicPr>
          <p:nvPr/>
        </p:nvPicPr>
        <p:blipFill>
          <a:blip r:embed="rId7"/>
          <a:stretch>
            <a:fillRect/>
          </a:stretch>
        </p:blipFill>
        <p:spPr>
          <a:xfrm>
            <a:off x="5074920" y="4572000"/>
            <a:ext cx="274320" cy="274320"/>
          </a:xfrm>
          <a:prstGeom prst="rect">
            <a:avLst/>
          </a:prstGeom>
        </p:spPr>
      </p:pic>
      <p:sp>
        <p:nvSpPr>
          <p:cNvPr id="28" name="Text 19"/>
          <p:cNvSpPr txBox="1"/>
          <p:nvPr/>
        </p:nvSpPr>
        <p:spPr>
          <a:xfrm>
            <a:off x="5760720" y="4343400"/>
            <a:ext cx="5669280" cy="365760"/>
          </a:xfrm>
          <a:prstGeom prst="rect">
            <a:avLst/>
          </a:prstGeom>
          <a:noFill/>
          <a:ln/>
        </p:spPr>
        <p:txBody>
          <a:bodyPr wrap="square" lIns="0" tIns="0" rIns="0" bIns="0" rtlCol="0" anchor="t"/>
          <a:lstStyle/>
          <a:p>
            <a:pPr indent="0" marL="0">
              <a:buNone/>
            </a:pPr>
            <a:r>
              <a:rPr lang="en-US" sz="2000" b="1" dirty="0">
                <a:solidFill>
                  <a:schemeClr val="bg1"/>
                </a:solidFill>
              </a:rPr>
              <a:t>Feedback</a:t>
            </a:r>
            <a:endParaRPr lang="en-US" sz="2000" dirty="0"/>
          </a:p>
        </p:txBody>
      </p:sp>
      <p:sp>
        <p:nvSpPr>
          <p:cNvPr id="29" name="Text 20"/>
          <p:cNvSpPr txBox="1"/>
          <p:nvPr/>
        </p:nvSpPr>
        <p:spPr>
          <a:xfrm>
            <a:off x="5760720" y="4727448"/>
            <a:ext cx="5669280" cy="411480"/>
          </a:xfrm>
          <a:prstGeom prst="rect">
            <a:avLst/>
          </a:prstGeom>
          <a:noFill/>
          <a:ln/>
        </p:spPr>
        <p:txBody>
          <a:bodyPr wrap="square" lIns="0" tIns="0" rIns="0" bIns="0" rtlCol="0" anchor="t"/>
          <a:lstStyle/>
          <a:p>
            <a:pPr indent="0" marL="0">
              <a:buNone/>
            </a:pPr>
            <a:r>
              <a:rPr lang="en-US" sz="1800" dirty="0">
                <a:solidFill>
                  <a:schemeClr val="accent4"/>
                </a:solidFill>
              </a:rPr>
              <a:t>Result → Reason → Meaning → Action → Limit</a:t>
            </a:r>
            <a:endParaRPr lang="en-US" sz="1800" dirty="0"/>
          </a:p>
        </p:txBody>
      </p:sp>
      <p:sp>
        <p:nvSpPr>
          <p:cNvPr id="30" name="Options badge"/>
          <p:cNvSpPr/>
          <p:nvPr/>
        </p:nvSpPr>
        <p:spPr>
          <a:xfrm>
            <a:off x="4937760" y="5349240"/>
            <a:ext cx="548640" cy="548640"/>
          </a:xfrm>
          <a:prstGeom prst="ellipse">
            <a:avLst/>
          </a:prstGeom>
          <a:solidFill>
            <a:schemeClr val="accent2"/>
          </a:solidFill>
          <a:ln/>
        </p:spPr>
      </p:sp>
      <p:pic>
        <p:nvPicPr>
          <p:cNvPr id="31" name="Options icon" descr="Redo icon">    </p:cNvPr>
          <p:cNvPicPr>
            <a:picLocks noChangeAspect="1"/>
          </p:cNvPicPr>
          <p:nvPr/>
        </p:nvPicPr>
        <p:blipFill>
          <a:blip r:embed="rId8"/>
          <a:stretch>
            <a:fillRect/>
          </a:stretch>
        </p:blipFill>
        <p:spPr>
          <a:xfrm>
            <a:off x="5074920" y="5486400"/>
            <a:ext cx="274320" cy="274320"/>
          </a:xfrm>
          <a:prstGeom prst="rect">
            <a:avLst/>
          </a:prstGeom>
        </p:spPr>
      </p:pic>
      <p:sp>
        <p:nvSpPr>
          <p:cNvPr id="32" name="Text 22"/>
          <p:cNvSpPr txBox="1"/>
          <p:nvPr/>
        </p:nvSpPr>
        <p:spPr>
          <a:xfrm>
            <a:off x="5760720" y="5257800"/>
            <a:ext cx="5669280" cy="365760"/>
          </a:xfrm>
          <a:prstGeom prst="rect">
            <a:avLst/>
          </a:prstGeom>
          <a:noFill/>
          <a:ln/>
        </p:spPr>
        <p:txBody>
          <a:bodyPr wrap="square" lIns="0" tIns="0" rIns="0" bIns="0" rtlCol="0" anchor="t"/>
          <a:lstStyle/>
          <a:p>
            <a:pPr indent="0" marL="0">
              <a:buNone/>
            </a:pPr>
            <a:r>
              <a:rPr lang="en-US" sz="2000" b="1" dirty="0">
                <a:solidFill>
                  <a:schemeClr val="bg1"/>
                </a:solidFill>
              </a:rPr>
              <a:t>Options</a:t>
            </a:r>
            <a:endParaRPr lang="en-US" sz="2000" dirty="0"/>
          </a:p>
        </p:txBody>
      </p:sp>
      <p:sp>
        <p:nvSpPr>
          <p:cNvPr id="33" name="Text 23"/>
          <p:cNvSpPr txBox="1"/>
          <p:nvPr/>
        </p:nvSpPr>
        <p:spPr>
          <a:xfrm>
            <a:off x="5760720" y="5641848"/>
            <a:ext cx="5669280" cy="411480"/>
          </a:xfrm>
          <a:prstGeom prst="rect">
            <a:avLst/>
          </a:prstGeom>
          <a:noFill/>
          <a:ln/>
        </p:spPr>
        <p:txBody>
          <a:bodyPr wrap="square" lIns="0" tIns="0" rIns="0" bIns="0" rtlCol="0" anchor="t"/>
          <a:lstStyle/>
          <a:p>
            <a:pPr indent="0" marL="0">
              <a:buNone/>
            </a:pPr>
            <a:r>
              <a:rPr lang="en-US" sz="1800" dirty="0">
                <a:solidFill>
                  <a:schemeClr val="accent4"/>
                </a:solidFill>
              </a:rPr>
              <a:t>Review Decision Path or Replay Case</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Important design choices</a:t>
            </a:r>
            <a:endParaRPr lang="en-US" sz="3600" dirty="0"/>
          </a:p>
        </p:txBody>
      </p:sp>
      <p:sp>
        <p:nvSpPr>
          <p:cNvPr id="3" name="One complete case card"/>
          <p:cNvSpPr/>
          <p:nvPr/>
        </p:nvSpPr>
        <p:spPr>
          <a:xfrm>
            <a:off x="548640" y="1463040"/>
            <a:ext cx="2587752" cy="4754880"/>
          </a:xfrm>
          <a:prstGeom prst="roundRect">
            <a:avLst>
              <a:gd name="adj" fmla="val 424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One complete case badge"/>
          <p:cNvSpPr/>
          <p:nvPr/>
        </p:nvSpPr>
        <p:spPr>
          <a:xfrm>
            <a:off x="777240" y="1737360"/>
            <a:ext cx="868680" cy="868680"/>
          </a:xfrm>
          <a:prstGeom prst="ellipse">
            <a:avLst/>
          </a:prstGeom>
          <a:solidFill>
            <a:schemeClr val="accent4"/>
          </a:solidFill>
          <a:ln/>
        </p:spPr>
      </p:sp>
      <p:pic>
        <p:nvPicPr>
          <p:cNvPr id="5" name="One complete case icon" descr="Bullseye icon">    </p:cNvPr>
          <p:cNvPicPr>
            <a:picLocks noChangeAspect="1"/>
          </p:cNvPicPr>
          <p:nvPr/>
        </p:nvPicPr>
        <p:blipFill>
          <a:blip r:embed="rId1"/>
          <a:stretch>
            <a:fillRect/>
          </a:stretch>
        </p:blipFill>
        <p:spPr>
          <a:xfrm>
            <a:off x="994410" y="1954530"/>
            <a:ext cx="434340" cy="434340"/>
          </a:xfrm>
          <a:prstGeom prst="rect">
            <a:avLst/>
          </a:prstGeom>
        </p:spPr>
      </p:pic>
      <p:sp>
        <p:nvSpPr>
          <p:cNvPr id="6" name="Text 3"/>
          <p:cNvSpPr txBox="1"/>
          <p:nvPr/>
        </p:nvSpPr>
        <p:spPr>
          <a:xfrm>
            <a:off x="777240" y="2926080"/>
            <a:ext cx="2130552" cy="1325880"/>
          </a:xfrm>
          <a:prstGeom prst="rect">
            <a:avLst/>
          </a:prstGeom>
          <a:noFill/>
          <a:ln/>
        </p:spPr>
        <p:txBody>
          <a:bodyPr wrap="square" lIns="0" tIns="0" rIns="0" bIns="0" rtlCol="0" anchor="t"/>
          <a:lstStyle/>
          <a:p>
            <a:pPr indent="0" marL="0">
              <a:buNone/>
            </a:pPr>
            <a:r>
              <a:rPr lang="en-US" sz="2200" b="1" dirty="0">
                <a:solidFill>
                  <a:schemeClr val="tx2"/>
                </a:solidFill>
              </a:rPr>
              <a:t>One complete case</a:t>
            </a:r>
            <a:endParaRPr lang="en-US" sz="2200" dirty="0"/>
          </a:p>
        </p:txBody>
      </p:sp>
      <p:sp>
        <p:nvSpPr>
          <p:cNvPr id="7" name="Text 4"/>
          <p:cNvSpPr txBox="1"/>
          <p:nvPr/>
        </p:nvSpPr>
        <p:spPr>
          <a:xfrm>
            <a:off x="777240" y="4343400"/>
            <a:ext cx="2130552" cy="1737360"/>
          </a:xfrm>
          <a:prstGeom prst="rect">
            <a:avLst/>
          </a:prstGeom>
          <a:noFill/>
          <a:ln/>
        </p:spPr>
        <p:txBody>
          <a:bodyPr wrap="square" lIns="0" tIns="0" rIns="0" bIns="0" rtlCol="0" anchor="t"/>
          <a:lstStyle/>
          <a:p>
            <a:pPr indent="0" marL="0">
              <a:buNone/>
            </a:pPr>
            <a:r>
              <a:rPr lang="en-US" sz="1800" dirty="0">
                <a:solidFill>
                  <a:schemeClr val="tx1"/>
                </a:solidFill>
              </a:rPr>
              <a:t>Full playthrough first; scope frozen in Week 6.</a:t>
            </a:r>
            <a:endParaRPr lang="en-US" sz="1800" dirty="0"/>
          </a:p>
        </p:txBody>
      </p:sp>
      <p:sp>
        <p:nvSpPr>
          <p:cNvPr id="8" name="Limited information (3 of 7 files) card"/>
          <p:cNvSpPr/>
          <p:nvPr/>
        </p:nvSpPr>
        <p:spPr>
          <a:xfrm>
            <a:off x="3383280" y="1463040"/>
            <a:ext cx="2587752" cy="4754880"/>
          </a:xfrm>
          <a:prstGeom prst="roundRect">
            <a:avLst>
              <a:gd name="adj" fmla="val 4240"/>
            </a:avLst>
          </a:prstGeom>
          <a:solidFill>
            <a:schemeClr val="tx2"/>
          </a:solidFill>
          <a:ln/>
          <a:effectLst>
            <a:outerShdw sx="100000" sy="100000" kx="0" ky="0" algn="bl" rotWithShape="0" blurRad="101600" dist="25400" dir="5400000">
              <a:srgbClr val="0D2146">
                <a:alpha val="14000"/>
              </a:srgbClr>
            </a:outerShdw>
          </a:effectLst>
        </p:spPr>
      </p:sp>
      <p:sp>
        <p:nvSpPr>
          <p:cNvPr id="9" name="Limited information (3 of 7 files) badge"/>
          <p:cNvSpPr/>
          <p:nvPr/>
        </p:nvSpPr>
        <p:spPr>
          <a:xfrm>
            <a:off x="3611880" y="1737360"/>
            <a:ext cx="868680" cy="868680"/>
          </a:xfrm>
          <a:prstGeom prst="ellipse">
            <a:avLst/>
          </a:prstGeom>
          <a:solidFill>
            <a:schemeClr val="accent1"/>
          </a:solidFill>
          <a:ln/>
        </p:spPr>
      </p:sp>
      <p:pic>
        <p:nvPicPr>
          <p:cNvPr id="10" name="Limited information (3 of 7 files) icon" descr="Lock icon">    </p:cNvPr>
          <p:cNvPicPr>
            <a:picLocks noChangeAspect="1"/>
          </p:cNvPicPr>
          <p:nvPr/>
        </p:nvPicPr>
        <p:blipFill>
          <a:blip r:embed="rId2"/>
          <a:stretch>
            <a:fillRect/>
          </a:stretch>
        </p:blipFill>
        <p:spPr>
          <a:xfrm>
            <a:off x="3829050" y="1954530"/>
            <a:ext cx="434340" cy="434340"/>
          </a:xfrm>
          <a:prstGeom prst="rect">
            <a:avLst/>
          </a:prstGeom>
        </p:spPr>
      </p:pic>
      <p:sp>
        <p:nvSpPr>
          <p:cNvPr id="11" name="Text 7"/>
          <p:cNvSpPr txBox="1"/>
          <p:nvPr/>
        </p:nvSpPr>
        <p:spPr>
          <a:xfrm>
            <a:off x="3611880" y="2926080"/>
            <a:ext cx="2130552" cy="1325880"/>
          </a:xfrm>
          <a:prstGeom prst="rect">
            <a:avLst/>
          </a:prstGeom>
          <a:noFill/>
          <a:ln/>
        </p:spPr>
        <p:txBody>
          <a:bodyPr wrap="square" lIns="0" tIns="0" rIns="0" bIns="0" rtlCol="0" anchor="t"/>
          <a:lstStyle/>
          <a:p>
            <a:pPr indent="0" marL="0">
              <a:buNone/>
            </a:pPr>
            <a:r>
              <a:rPr lang="en-US" sz="2200" b="1" dirty="0">
                <a:solidFill>
                  <a:schemeClr val="bg1"/>
                </a:solidFill>
              </a:rPr>
              <a:t>Limited information (3 of 7 files)</a:t>
            </a:r>
            <a:endParaRPr lang="en-US" sz="2200" dirty="0"/>
          </a:p>
        </p:txBody>
      </p:sp>
      <p:sp>
        <p:nvSpPr>
          <p:cNvPr id="12" name="Text 8"/>
          <p:cNvSpPr txBox="1"/>
          <p:nvPr/>
        </p:nvSpPr>
        <p:spPr>
          <a:xfrm>
            <a:off x="3611880" y="4343400"/>
            <a:ext cx="2130552" cy="1737360"/>
          </a:xfrm>
          <a:prstGeom prst="rect">
            <a:avLst/>
          </a:prstGeom>
          <a:noFill/>
          <a:ln/>
        </p:spPr>
        <p:txBody>
          <a:bodyPr wrap="square" lIns="0" tIns="0" rIns="0" bIns="0" rtlCol="0" anchor="t"/>
          <a:lstStyle/>
          <a:p>
            <a:pPr indent="0" marL="0">
              <a:buNone/>
            </a:pPr>
            <a:r>
              <a:rPr lang="en-US" sz="1800" dirty="0">
                <a:solidFill>
                  <a:schemeClr val="accent4"/>
                </a:solidFill>
              </a:rPr>
              <a:t>Choosing evidence becomes part of the decision.</a:t>
            </a:r>
            <a:endParaRPr lang="en-US" sz="1800" dirty="0"/>
          </a:p>
        </p:txBody>
      </p:sp>
      <p:sp>
        <p:nvSpPr>
          <p:cNvPr id="13" name="Rule-based logic, not an AI chatbot card"/>
          <p:cNvSpPr/>
          <p:nvPr/>
        </p:nvSpPr>
        <p:spPr>
          <a:xfrm>
            <a:off x="6217920" y="1463040"/>
            <a:ext cx="2587752" cy="4754880"/>
          </a:xfrm>
          <a:prstGeom prst="roundRect">
            <a:avLst>
              <a:gd name="adj" fmla="val 424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Rule-based logic, not an AI chatbot badge"/>
          <p:cNvSpPr/>
          <p:nvPr/>
        </p:nvSpPr>
        <p:spPr>
          <a:xfrm>
            <a:off x="6446520" y="1737360"/>
            <a:ext cx="868680" cy="868680"/>
          </a:xfrm>
          <a:prstGeom prst="ellipse">
            <a:avLst/>
          </a:prstGeom>
          <a:solidFill>
            <a:schemeClr val="accent4"/>
          </a:solidFill>
          <a:ln/>
        </p:spPr>
      </p:sp>
      <p:pic>
        <p:nvPicPr>
          <p:cNvPr id="15" name="Rule-based logic, not an AI chatbot icon" descr="Cogs icon">    </p:cNvPr>
          <p:cNvPicPr>
            <a:picLocks noChangeAspect="1"/>
          </p:cNvPicPr>
          <p:nvPr/>
        </p:nvPicPr>
        <p:blipFill>
          <a:blip r:embed="rId3"/>
          <a:stretch>
            <a:fillRect/>
          </a:stretch>
        </p:blipFill>
        <p:spPr>
          <a:xfrm>
            <a:off x="6663690" y="1954530"/>
            <a:ext cx="434340" cy="434340"/>
          </a:xfrm>
          <a:prstGeom prst="rect">
            <a:avLst/>
          </a:prstGeom>
        </p:spPr>
      </p:pic>
      <p:sp>
        <p:nvSpPr>
          <p:cNvPr id="16" name="Text 11"/>
          <p:cNvSpPr txBox="1"/>
          <p:nvPr/>
        </p:nvSpPr>
        <p:spPr>
          <a:xfrm>
            <a:off x="6446520" y="2926080"/>
            <a:ext cx="2130552" cy="1325880"/>
          </a:xfrm>
          <a:prstGeom prst="rect">
            <a:avLst/>
          </a:prstGeom>
          <a:noFill/>
          <a:ln/>
        </p:spPr>
        <p:txBody>
          <a:bodyPr wrap="square" lIns="0" tIns="0" rIns="0" bIns="0" rtlCol="0" anchor="t"/>
          <a:lstStyle/>
          <a:p>
            <a:pPr indent="0" marL="0">
              <a:buNone/>
            </a:pPr>
            <a:r>
              <a:rPr lang="en-US" sz="2200" b="1" dirty="0">
                <a:solidFill>
                  <a:schemeClr val="tx2"/>
                </a:solidFill>
              </a:rPr>
              <a:t>Rule-based logic, not an AI chatbot</a:t>
            </a:r>
            <a:endParaRPr lang="en-US" sz="2200" dirty="0"/>
          </a:p>
        </p:txBody>
      </p:sp>
      <p:sp>
        <p:nvSpPr>
          <p:cNvPr id="17" name="Text 12"/>
          <p:cNvSpPr txBox="1"/>
          <p:nvPr/>
        </p:nvSpPr>
        <p:spPr>
          <a:xfrm>
            <a:off x="6446520" y="4343400"/>
            <a:ext cx="2130552" cy="1737360"/>
          </a:xfrm>
          <a:prstGeom prst="rect">
            <a:avLst/>
          </a:prstGeom>
          <a:noFill/>
          <a:ln/>
        </p:spPr>
        <p:txBody>
          <a:bodyPr wrap="square" lIns="0" tIns="0" rIns="0" bIns="0" rtlCol="0" anchor="t"/>
          <a:lstStyle/>
          <a:p>
            <a:pPr indent="0" marL="0">
              <a:buNone/>
            </a:pPr>
            <a:r>
              <a:rPr lang="en-US" sz="1800" dirty="0">
                <a:solidFill>
                  <a:schemeClr val="tx1"/>
                </a:solidFill>
              </a:rPr>
              <a:t>Easier to test and explain; fits the course scope.</a:t>
            </a:r>
            <a:endParaRPr lang="en-US" sz="1800" dirty="0"/>
          </a:p>
        </p:txBody>
      </p:sp>
      <p:sp>
        <p:nvSpPr>
          <p:cNvPr id="18" name="Simplified family-governance story card"/>
          <p:cNvSpPr/>
          <p:nvPr/>
        </p:nvSpPr>
        <p:spPr>
          <a:xfrm>
            <a:off x="9052560" y="1463040"/>
            <a:ext cx="2587752" cy="4754880"/>
          </a:xfrm>
          <a:prstGeom prst="roundRect">
            <a:avLst>
              <a:gd name="adj" fmla="val 4240"/>
            </a:avLst>
          </a:prstGeom>
          <a:solidFill>
            <a:schemeClr val="tx2"/>
          </a:solidFill>
          <a:ln/>
          <a:effectLst>
            <a:outerShdw sx="100000" sy="100000" kx="0" ky="0" algn="bl" rotWithShape="0" blurRad="101600" dist="25400" dir="5400000">
              <a:srgbClr val="0D2146">
                <a:alpha val="14000"/>
              </a:srgbClr>
            </a:outerShdw>
          </a:effectLst>
        </p:spPr>
      </p:sp>
      <p:sp>
        <p:nvSpPr>
          <p:cNvPr id="19" name="Simplified family-governance story badge"/>
          <p:cNvSpPr/>
          <p:nvPr/>
        </p:nvSpPr>
        <p:spPr>
          <a:xfrm>
            <a:off x="9281160" y="1737360"/>
            <a:ext cx="868680" cy="868680"/>
          </a:xfrm>
          <a:prstGeom prst="ellipse">
            <a:avLst/>
          </a:prstGeom>
          <a:solidFill>
            <a:schemeClr val="accent1"/>
          </a:solidFill>
          <a:ln/>
        </p:spPr>
      </p:sp>
      <p:pic>
        <p:nvPicPr>
          <p:cNvPr id="20" name="Simplified family-governance story icon" descr="Users icon">    </p:cNvPr>
          <p:cNvPicPr>
            <a:picLocks noChangeAspect="1"/>
          </p:cNvPicPr>
          <p:nvPr/>
        </p:nvPicPr>
        <p:blipFill>
          <a:blip r:embed="rId4"/>
          <a:stretch>
            <a:fillRect/>
          </a:stretch>
        </p:blipFill>
        <p:spPr>
          <a:xfrm>
            <a:off x="9498330" y="1954530"/>
            <a:ext cx="434340" cy="434340"/>
          </a:xfrm>
          <a:prstGeom prst="rect">
            <a:avLst/>
          </a:prstGeom>
        </p:spPr>
      </p:pic>
      <p:sp>
        <p:nvSpPr>
          <p:cNvPr id="21" name="Text 15"/>
          <p:cNvSpPr txBox="1"/>
          <p:nvPr/>
        </p:nvSpPr>
        <p:spPr>
          <a:xfrm>
            <a:off x="9281160" y="2926080"/>
            <a:ext cx="2130552" cy="1325880"/>
          </a:xfrm>
          <a:prstGeom prst="rect">
            <a:avLst/>
          </a:prstGeom>
          <a:noFill/>
          <a:ln/>
        </p:spPr>
        <p:txBody>
          <a:bodyPr wrap="square" lIns="0" tIns="0" rIns="0" bIns="0" rtlCol="0" anchor="t"/>
          <a:lstStyle/>
          <a:p>
            <a:pPr indent="0" marL="0">
              <a:buNone/>
            </a:pPr>
            <a:r>
              <a:rPr lang="en-US" sz="2200" b="1" dirty="0">
                <a:solidFill>
                  <a:schemeClr val="bg1"/>
                </a:solidFill>
              </a:rPr>
              <a:t>Simplified family-governance story</a:t>
            </a:r>
            <a:endParaRPr lang="en-US" sz="2200" dirty="0"/>
          </a:p>
        </p:txBody>
      </p:sp>
      <p:sp>
        <p:nvSpPr>
          <p:cNvPr id="22" name="Text 16"/>
          <p:cNvSpPr txBox="1"/>
          <p:nvPr/>
        </p:nvSpPr>
        <p:spPr>
          <a:xfrm>
            <a:off x="9281160" y="4343400"/>
            <a:ext cx="2130552" cy="1737360"/>
          </a:xfrm>
          <a:prstGeom prst="rect">
            <a:avLst/>
          </a:prstGeom>
          <a:noFill/>
          <a:ln/>
        </p:spPr>
        <p:txBody>
          <a:bodyPr wrap="square" lIns="0" tIns="0" rIns="0" bIns="0" rtlCol="0" anchor="t"/>
          <a:lstStyle/>
          <a:p>
            <a:pPr indent="0" marL="0">
              <a:buNone/>
            </a:pPr>
            <a:r>
              <a:rPr lang="en-US" sz="1800" dirty="0">
                <a:solidFill>
                  <a:schemeClr val="accent4"/>
                </a:solidFill>
              </a:rPr>
              <a:t>Kept secondary so the financial problem stays the focus.</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Important design choices (continued)</a:t>
            </a:r>
            <a:endParaRPr lang="en-US" sz="3600" dirty="0"/>
          </a:p>
        </p:txBody>
      </p:sp>
      <p:sp>
        <p:nvSpPr>
          <p:cNvPr id="3" name="Predefined, sourced data card"/>
          <p:cNvSpPr/>
          <p:nvPr/>
        </p:nvSpPr>
        <p:spPr>
          <a:xfrm>
            <a:off x="548640" y="1417320"/>
            <a:ext cx="3520440" cy="2331720"/>
          </a:xfrm>
          <a:prstGeom prst="roundRect">
            <a:avLst>
              <a:gd name="adj" fmla="val 4706"/>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Predefined, sourced data badge"/>
          <p:cNvSpPr/>
          <p:nvPr/>
        </p:nvSpPr>
        <p:spPr>
          <a:xfrm>
            <a:off x="777240" y="1645920"/>
            <a:ext cx="594360" cy="594360"/>
          </a:xfrm>
          <a:prstGeom prst="ellipse">
            <a:avLst/>
          </a:prstGeom>
          <a:solidFill>
            <a:schemeClr val="accent4"/>
          </a:solidFill>
          <a:ln/>
        </p:spPr>
      </p:sp>
      <p:pic>
        <p:nvPicPr>
          <p:cNvPr id="5" name="Predefined, sourced data icon" descr="Database icon">    </p:cNvPr>
          <p:cNvPicPr>
            <a:picLocks noChangeAspect="1"/>
          </p:cNvPicPr>
          <p:nvPr/>
        </p:nvPicPr>
        <p:blipFill>
          <a:blip r:embed="rId1"/>
          <a:stretch>
            <a:fillRect/>
          </a:stretch>
        </p:blipFill>
        <p:spPr>
          <a:xfrm>
            <a:off x="925830" y="1794510"/>
            <a:ext cx="297180" cy="297180"/>
          </a:xfrm>
          <a:prstGeom prst="rect">
            <a:avLst/>
          </a:prstGeom>
        </p:spPr>
      </p:pic>
      <p:sp>
        <p:nvSpPr>
          <p:cNvPr id="6" name="Text 3"/>
          <p:cNvSpPr txBox="1"/>
          <p:nvPr/>
        </p:nvSpPr>
        <p:spPr>
          <a:xfrm>
            <a:off x="1508760"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Predefined, sourced data</a:t>
            </a:r>
            <a:endParaRPr lang="en-US" sz="2000" dirty="0"/>
          </a:p>
        </p:txBody>
      </p:sp>
      <p:sp>
        <p:nvSpPr>
          <p:cNvPr id="7" name="Text 4"/>
          <p:cNvSpPr txBox="1"/>
          <p:nvPr/>
        </p:nvSpPr>
        <p:spPr>
          <a:xfrm>
            <a:off x="777240" y="2423160"/>
            <a:ext cx="3063240" cy="1280160"/>
          </a:xfrm>
          <a:prstGeom prst="rect">
            <a:avLst/>
          </a:prstGeom>
          <a:noFill/>
          <a:ln/>
        </p:spPr>
        <p:txBody>
          <a:bodyPr wrap="square" lIns="0" tIns="0" rIns="0" bIns="0" rtlCol="0" anchor="t"/>
          <a:lstStyle/>
          <a:p>
            <a:pPr indent="0" marL="0">
              <a:buNone/>
            </a:pPr>
            <a:r>
              <a:rPr lang="en-US" sz="1800" dirty="0">
                <a:solidFill>
                  <a:schemeClr val="tx1"/>
                </a:solidFill>
              </a:rPr>
              <a:t>Traceable, testable, explainable. Fiction is listed in ASSUMPTIONS.</a:t>
            </a:r>
            <a:endParaRPr lang="en-US" sz="1800" dirty="0"/>
          </a:p>
        </p:txBody>
      </p:sp>
      <p:sp>
        <p:nvSpPr>
          <p:cNvPr id="8" name="Performance ≠ Outcome card"/>
          <p:cNvSpPr/>
          <p:nvPr/>
        </p:nvSpPr>
        <p:spPr>
          <a:xfrm>
            <a:off x="4334256" y="1417320"/>
            <a:ext cx="3520440" cy="2331720"/>
          </a:xfrm>
          <a:prstGeom prst="roundRect">
            <a:avLst>
              <a:gd name="adj" fmla="val 4706"/>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9" name="Performance ≠ Outcome badge"/>
          <p:cNvSpPr/>
          <p:nvPr/>
        </p:nvSpPr>
        <p:spPr>
          <a:xfrm>
            <a:off x="4562856" y="1645920"/>
            <a:ext cx="594360" cy="594360"/>
          </a:xfrm>
          <a:prstGeom prst="ellipse">
            <a:avLst/>
          </a:prstGeom>
          <a:solidFill>
            <a:schemeClr val="accent4"/>
          </a:solidFill>
          <a:ln/>
        </p:spPr>
      </p:sp>
      <p:pic>
        <p:nvPicPr>
          <p:cNvPr id="10" name="Performance ≠ Outcome icon" descr="BalanceScale icon">    </p:cNvPr>
          <p:cNvPicPr>
            <a:picLocks noChangeAspect="1"/>
          </p:cNvPicPr>
          <p:nvPr/>
        </p:nvPicPr>
        <p:blipFill>
          <a:blip r:embed="rId2"/>
          <a:stretch>
            <a:fillRect/>
          </a:stretch>
        </p:blipFill>
        <p:spPr>
          <a:xfrm>
            <a:off x="4711446" y="1794510"/>
            <a:ext cx="297180" cy="297180"/>
          </a:xfrm>
          <a:prstGeom prst="rect">
            <a:avLst/>
          </a:prstGeom>
        </p:spPr>
      </p:pic>
      <p:sp>
        <p:nvSpPr>
          <p:cNvPr id="11" name="Text 7"/>
          <p:cNvSpPr txBox="1"/>
          <p:nvPr/>
        </p:nvSpPr>
        <p:spPr>
          <a:xfrm>
            <a:off x="5294376"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Performance ≠ Outcome</a:t>
            </a:r>
            <a:endParaRPr lang="en-US" sz="2000" dirty="0"/>
          </a:p>
        </p:txBody>
      </p:sp>
      <p:sp>
        <p:nvSpPr>
          <p:cNvPr id="12" name="Text 8"/>
          <p:cNvSpPr txBox="1"/>
          <p:nvPr/>
        </p:nvSpPr>
        <p:spPr>
          <a:xfrm>
            <a:off x="4562856" y="2423160"/>
            <a:ext cx="3063240" cy="1280160"/>
          </a:xfrm>
          <a:prstGeom prst="rect">
            <a:avLst/>
          </a:prstGeom>
          <a:noFill/>
          <a:ln/>
        </p:spPr>
        <p:txBody>
          <a:bodyPr wrap="square" lIns="0" tIns="0" rIns="0" bIns="0" rtlCol="0" anchor="t"/>
          <a:lstStyle/>
          <a:p>
            <a:pPr indent="0" marL="0">
              <a:buNone/>
            </a:pPr>
            <a:r>
              <a:rPr lang="en-US" sz="1800" dirty="0">
                <a:solidFill>
                  <a:schemeClr val="tx1"/>
                </a:solidFill>
              </a:rPr>
              <a:t>A player can reason well and still face a hard outcome.</a:t>
            </a:r>
            <a:endParaRPr lang="en-US" sz="1800" dirty="0"/>
          </a:p>
        </p:txBody>
      </p:sp>
      <p:sp>
        <p:nvSpPr>
          <p:cNvPr id="13" name="Treatment vs. diagnosis card"/>
          <p:cNvSpPr/>
          <p:nvPr/>
        </p:nvSpPr>
        <p:spPr>
          <a:xfrm>
            <a:off x="8119872" y="1417320"/>
            <a:ext cx="3520440" cy="2331720"/>
          </a:xfrm>
          <a:prstGeom prst="roundRect">
            <a:avLst>
              <a:gd name="adj" fmla="val 4706"/>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Treatment vs. diagnosis badge"/>
          <p:cNvSpPr/>
          <p:nvPr/>
        </p:nvSpPr>
        <p:spPr>
          <a:xfrm>
            <a:off x="8348472" y="1645920"/>
            <a:ext cx="594360" cy="594360"/>
          </a:xfrm>
          <a:prstGeom prst="ellipse">
            <a:avLst/>
          </a:prstGeom>
          <a:solidFill>
            <a:schemeClr val="accent4"/>
          </a:solidFill>
          <a:ln/>
        </p:spPr>
      </p:sp>
      <p:pic>
        <p:nvPicPr>
          <p:cNvPr id="15" name="Treatment vs. diagnosis icon" descr="Stethoscope icon">    </p:cNvPr>
          <p:cNvPicPr>
            <a:picLocks noChangeAspect="1"/>
          </p:cNvPicPr>
          <p:nvPr/>
        </p:nvPicPr>
        <p:blipFill>
          <a:blip r:embed="rId3"/>
          <a:stretch>
            <a:fillRect/>
          </a:stretch>
        </p:blipFill>
        <p:spPr>
          <a:xfrm>
            <a:off x="8497062" y="1794510"/>
            <a:ext cx="297180" cy="297180"/>
          </a:xfrm>
          <a:prstGeom prst="rect">
            <a:avLst/>
          </a:prstGeom>
        </p:spPr>
      </p:pic>
      <p:sp>
        <p:nvSpPr>
          <p:cNvPr id="16" name="Text 11"/>
          <p:cNvSpPr txBox="1"/>
          <p:nvPr/>
        </p:nvSpPr>
        <p:spPr>
          <a:xfrm>
            <a:off x="9079992"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Treatment vs. diagnosis</a:t>
            </a:r>
            <a:endParaRPr lang="en-US" sz="2000" dirty="0"/>
          </a:p>
        </p:txBody>
      </p:sp>
      <p:sp>
        <p:nvSpPr>
          <p:cNvPr id="17" name="Text 12"/>
          <p:cNvSpPr txBox="1"/>
          <p:nvPr/>
        </p:nvSpPr>
        <p:spPr>
          <a:xfrm>
            <a:off x="8348472" y="2423160"/>
            <a:ext cx="3063240" cy="1280160"/>
          </a:xfrm>
          <a:prstGeom prst="rect">
            <a:avLst/>
          </a:prstGeom>
          <a:noFill/>
          <a:ln/>
        </p:spPr>
        <p:txBody>
          <a:bodyPr wrap="square" lIns="0" tIns="0" rIns="0" bIns="0" rtlCol="0" anchor="t"/>
          <a:lstStyle/>
          <a:p>
            <a:pPr indent="0" marL="0">
              <a:buNone/>
            </a:pPr>
            <a:r>
              <a:rPr lang="en-US" sz="1800" dirty="0">
                <a:solidFill>
                  <a:schemeClr val="tx1"/>
                </a:solidFill>
              </a:rPr>
              <a:t>Root-cause fit, feasibility and risk awareness; no single right answer.</a:t>
            </a:r>
            <a:endParaRPr lang="en-US" sz="1800" dirty="0"/>
          </a:p>
        </p:txBody>
      </p:sp>
      <p:sp>
        <p:nvSpPr>
          <p:cNvPr id="18" name="Tech card"/>
          <p:cNvSpPr/>
          <p:nvPr/>
        </p:nvSpPr>
        <p:spPr>
          <a:xfrm>
            <a:off x="548640" y="3977640"/>
            <a:ext cx="11091672" cy="2286000"/>
          </a:xfrm>
          <a:prstGeom prst="roundRect">
            <a:avLst>
              <a:gd name="adj" fmla="val 4800"/>
            </a:avLst>
          </a:prstGeom>
          <a:solidFill>
            <a:schemeClr val="tx2"/>
          </a:solidFill>
          <a:ln/>
          <a:effectLst>
            <a:outerShdw sx="100000" sy="100000" kx="0" ky="0" algn="bl" rotWithShape="0" blurRad="101600" dist="25400" dir="5400000">
              <a:srgbClr val="0D2146">
                <a:alpha val="14000"/>
              </a:srgbClr>
            </a:outerShdw>
          </a:effectLst>
        </p:spPr>
      </p:sp>
      <p:sp>
        <p:nvSpPr>
          <p:cNvPr id="19" name="Code badge"/>
          <p:cNvSpPr/>
          <p:nvPr/>
        </p:nvSpPr>
        <p:spPr>
          <a:xfrm>
            <a:off x="822960" y="4206240"/>
            <a:ext cx="594360" cy="594360"/>
          </a:xfrm>
          <a:prstGeom prst="ellipse">
            <a:avLst/>
          </a:prstGeom>
          <a:solidFill>
            <a:schemeClr val="accent1"/>
          </a:solidFill>
          <a:ln/>
        </p:spPr>
      </p:sp>
      <p:pic>
        <p:nvPicPr>
          <p:cNvPr id="20" name="Code icon" descr="Code icon">    </p:cNvPr>
          <p:cNvPicPr>
            <a:picLocks noChangeAspect="1"/>
          </p:cNvPicPr>
          <p:nvPr/>
        </p:nvPicPr>
        <p:blipFill>
          <a:blip r:embed="rId4"/>
          <a:stretch>
            <a:fillRect/>
          </a:stretch>
        </p:blipFill>
        <p:spPr>
          <a:xfrm>
            <a:off x="971550" y="4354830"/>
            <a:ext cx="297180" cy="297180"/>
          </a:xfrm>
          <a:prstGeom prst="rect">
            <a:avLst/>
          </a:prstGeom>
        </p:spPr>
      </p:pic>
      <p:sp>
        <p:nvSpPr>
          <p:cNvPr id="21" name="Text 15"/>
          <p:cNvSpPr txBox="1"/>
          <p:nvPr/>
        </p:nvSpPr>
        <p:spPr>
          <a:xfrm>
            <a:off x="1600200" y="4206240"/>
            <a:ext cx="7315200" cy="594360"/>
          </a:xfrm>
          <a:prstGeom prst="rect">
            <a:avLst/>
          </a:prstGeom>
          <a:noFill/>
          <a:ln/>
        </p:spPr>
        <p:txBody>
          <a:bodyPr wrap="square" lIns="0" tIns="0" rIns="0" bIns="0" rtlCol="0" anchor="ctr"/>
          <a:lstStyle/>
          <a:p>
            <a:pPr indent="0" marL="0">
              <a:buNone/>
            </a:pPr>
            <a:r>
              <a:rPr lang="en-US" sz="2200" b="1" dirty="0">
                <a:solidFill>
                  <a:schemeClr val="bg1"/>
                </a:solidFill>
              </a:rPr>
              <a:t>Code-based web implementation</a:t>
            </a:r>
            <a:endParaRPr lang="en-US" sz="2200" dirty="0"/>
          </a:p>
        </p:txBody>
      </p:sp>
      <p:sp>
        <p:nvSpPr>
          <p:cNvPr id="22" name="Pipeline Case Data"/>
          <p:cNvSpPr/>
          <p:nvPr/>
        </p:nvSpPr>
        <p:spPr>
          <a:xfrm>
            <a:off x="822960" y="4983480"/>
            <a:ext cx="2181758" cy="777240"/>
          </a:xfrm>
          <a:prstGeom prst="homePlate">
            <a:avLst/>
          </a:prstGeom>
          <a:solidFill>
            <a:schemeClr val="accent1"/>
          </a:solidFill>
          <a:ln/>
        </p:spPr>
      </p:sp>
      <p:sp>
        <p:nvSpPr>
          <p:cNvPr id="23" name="Text 17"/>
          <p:cNvSpPr txBox="1"/>
          <p:nvPr/>
        </p:nvSpPr>
        <p:spPr>
          <a:xfrm>
            <a:off x="914400" y="4983480"/>
            <a:ext cx="1495958" cy="777240"/>
          </a:xfrm>
          <a:prstGeom prst="rect">
            <a:avLst/>
          </a:prstGeom>
          <a:noFill/>
          <a:ln/>
        </p:spPr>
        <p:txBody>
          <a:bodyPr wrap="square" lIns="0" tIns="0" rIns="0" bIns="0" rtlCol="0" anchor="ctr"/>
          <a:lstStyle/>
          <a:p>
            <a:pPr algn="ctr" indent="0" marL="0">
              <a:buNone/>
            </a:pPr>
            <a:r>
              <a:rPr lang="en-US" sz="1800" b="1" dirty="0">
                <a:solidFill>
                  <a:schemeClr val="bg1"/>
                </a:solidFill>
              </a:rPr>
              <a:t>Case Data</a:t>
            </a:r>
            <a:endParaRPr lang="en-US" sz="1800" dirty="0"/>
          </a:p>
        </p:txBody>
      </p:sp>
      <p:sp>
        <p:nvSpPr>
          <p:cNvPr id="24" name="Pipeline Scoring Logic"/>
          <p:cNvSpPr/>
          <p:nvPr/>
        </p:nvSpPr>
        <p:spPr>
          <a:xfrm>
            <a:off x="2913278" y="4983480"/>
            <a:ext cx="2181758" cy="777240"/>
          </a:xfrm>
          <a:prstGeom prst="chevron">
            <a:avLst/>
          </a:prstGeom>
          <a:solidFill>
            <a:schemeClr val="accent1"/>
          </a:solidFill>
          <a:ln/>
        </p:spPr>
      </p:sp>
      <p:sp>
        <p:nvSpPr>
          <p:cNvPr id="25" name="Text 19"/>
          <p:cNvSpPr txBox="1"/>
          <p:nvPr/>
        </p:nvSpPr>
        <p:spPr>
          <a:xfrm>
            <a:off x="3279038" y="4983480"/>
            <a:ext cx="1495958" cy="777240"/>
          </a:xfrm>
          <a:prstGeom prst="rect">
            <a:avLst/>
          </a:prstGeom>
          <a:noFill/>
          <a:ln/>
        </p:spPr>
        <p:txBody>
          <a:bodyPr wrap="square" lIns="0" tIns="0" rIns="0" bIns="0" rtlCol="0" anchor="ctr"/>
          <a:lstStyle/>
          <a:p>
            <a:pPr algn="ctr" indent="0" marL="0">
              <a:buNone/>
            </a:pPr>
            <a:r>
              <a:rPr lang="en-US" sz="1800" b="1" dirty="0">
                <a:solidFill>
                  <a:schemeClr val="bg1"/>
                </a:solidFill>
              </a:rPr>
              <a:t>Scoring Logic</a:t>
            </a:r>
            <a:endParaRPr lang="en-US" sz="1800" dirty="0"/>
          </a:p>
        </p:txBody>
      </p:sp>
      <p:sp>
        <p:nvSpPr>
          <p:cNvPr id="26" name="Pipeline Game Engine"/>
          <p:cNvSpPr/>
          <p:nvPr/>
        </p:nvSpPr>
        <p:spPr>
          <a:xfrm>
            <a:off x="5003597" y="4983480"/>
            <a:ext cx="2181758" cy="777240"/>
          </a:xfrm>
          <a:prstGeom prst="chevron">
            <a:avLst/>
          </a:prstGeom>
          <a:solidFill>
            <a:schemeClr val="accent2"/>
          </a:solidFill>
          <a:ln/>
        </p:spPr>
      </p:sp>
      <p:sp>
        <p:nvSpPr>
          <p:cNvPr id="27" name="Text 21"/>
          <p:cNvSpPr txBox="1"/>
          <p:nvPr/>
        </p:nvSpPr>
        <p:spPr>
          <a:xfrm>
            <a:off x="5369357" y="4983480"/>
            <a:ext cx="1495958" cy="777240"/>
          </a:xfrm>
          <a:prstGeom prst="rect">
            <a:avLst/>
          </a:prstGeom>
          <a:noFill/>
          <a:ln/>
        </p:spPr>
        <p:txBody>
          <a:bodyPr wrap="square" lIns="0" tIns="0" rIns="0" bIns="0" rtlCol="0" anchor="ctr"/>
          <a:lstStyle/>
          <a:p>
            <a:pPr algn="ctr" indent="0" marL="0">
              <a:buNone/>
            </a:pPr>
            <a:r>
              <a:rPr lang="en-US" sz="1800" b="1" dirty="0">
                <a:solidFill>
                  <a:schemeClr val="bg1"/>
                </a:solidFill>
              </a:rPr>
              <a:t>Game Engine</a:t>
            </a:r>
            <a:endParaRPr lang="en-US" sz="1800" dirty="0"/>
          </a:p>
        </p:txBody>
      </p:sp>
      <p:sp>
        <p:nvSpPr>
          <p:cNvPr id="28" name="Pipeline Frontend"/>
          <p:cNvSpPr/>
          <p:nvPr/>
        </p:nvSpPr>
        <p:spPr>
          <a:xfrm>
            <a:off x="7093915" y="4983480"/>
            <a:ext cx="2181758" cy="777240"/>
          </a:xfrm>
          <a:prstGeom prst="chevron">
            <a:avLst/>
          </a:prstGeom>
          <a:solidFill>
            <a:schemeClr val="accent2"/>
          </a:solidFill>
          <a:ln/>
        </p:spPr>
      </p:sp>
      <p:sp>
        <p:nvSpPr>
          <p:cNvPr id="29" name="Text 23"/>
          <p:cNvSpPr txBox="1"/>
          <p:nvPr/>
        </p:nvSpPr>
        <p:spPr>
          <a:xfrm>
            <a:off x="7459675" y="4983480"/>
            <a:ext cx="1495958" cy="777240"/>
          </a:xfrm>
          <a:prstGeom prst="rect">
            <a:avLst/>
          </a:prstGeom>
          <a:noFill/>
          <a:ln/>
        </p:spPr>
        <p:txBody>
          <a:bodyPr wrap="square" lIns="0" tIns="0" rIns="0" bIns="0" rtlCol="0" anchor="ctr"/>
          <a:lstStyle/>
          <a:p>
            <a:pPr algn="ctr" indent="0" marL="0">
              <a:buNone/>
            </a:pPr>
            <a:r>
              <a:rPr lang="en-US" sz="1800" b="1" dirty="0">
                <a:solidFill>
                  <a:schemeClr val="bg1"/>
                </a:solidFill>
              </a:rPr>
              <a:t>Frontend</a:t>
            </a:r>
            <a:endParaRPr lang="en-US" sz="1800" dirty="0"/>
          </a:p>
        </p:txBody>
      </p:sp>
      <p:sp>
        <p:nvSpPr>
          <p:cNvPr id="30" name="Pipeline Browser"/>
          <p:cNvSpPr/>
          <p:nvPr/>
        </p:nvSpPr>
        <p:spPr>
          <a:xfrm>
            <a:off x="9184234" y="4983480"/>
            <a:ext cx="2181758" cy="777240"/>
          </a:xfrm>
          <a:prstGeom prst="chevron">
            <a:avLst/>
          </a:prstGeom>
          <a:solidFill>
            <a:schemeClr val="accent3"/>
          </a:solidFill>
          <a:ln/>
        </p:spPr>
      </p:sp>
      <p:sp>
        <p:nvSpPr>
          <p:cNvPr id="31" name="Text 25"/>
          <p:cNvSpPr txBox="1"/>
          <p:nvPr/>
        </p:nvSpPr>
        <p:spPr>
          <a:xfrm>
            <a:off x="9549994" y="4983480"/>
            <a:ext cx="1495958" cy="777240"/>
          </a:xfrm>
          <a:prstGeom prst="rect">
            <a:avLst/>
          </a:prstGeom>
          <a:noFill/>
          <a:ln/>
        </p:spPr>
        <p:txBody>
          <a:bodyPr wrap="square" lIns="0" tIns="0" rIns="0" bIns="0" rtlCol="0" anchor="ctr"/>
          <a:lstStyle/>
          <a:p>
            <a:pPr algn="ctr" indent="0" marL="0">
              <a:buNone/>
            </a:pPr>
            <a:r>
              <a:rPr lang="en-US" sz="1800" b="1" dirty="0">
                <a:solidFill>
                  <a:schemeClr val="tx2"/>
                </a:solidFill>
              </a:rPr>
              <a:t>Browser</a:t>
            </a:r>
            <a:endParaRPr lang="en-US" sz="1800" dirty="0"/>
          </a:p>
        </p:txBody>
      </p:sp>
      <p:sp>
        <p:nvSpPr>
          <p:cNvPr id="32" name="Text 26"/>
          <p:cNvSpPr txBox="1"/>
          <p:nvPr/>
        </p:nvSpPr>
        <p:spPr>
          <a:xfrm>
            <a:off x="822960" y="5852160"/>
            <a:ext cx="7315200" cy="347472"/>
          </a:xfrm>
          <a:prstGeom prst="rect">
            <a:avLst/>
          </a:prstGeom>
          <a:noFill/>
          <a:ln/>
        </p:spPr>
        <p:txBody>
          <a:bodyPr wrap="square" lIns="0" tIns="0" rIns="0" bIns="0" rtlCol="0" anchor="t"/>
          <a:lstStyle/>
          <a:p>
            <a:pPr indent="0" marL="0">
              <a:buNone/>
            </a:pPr>
            <a:r>
              <a:rPr lang="en-US" sz="1600" dirty="0">
                <a:solidFill>
                  <a:schemeClr val="accent4"/>
                </a:solidFill>
              </a:rPr>
              <a:t>Interface designed in Canva / Figma</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What the group did well</a:t>
            </a:r>
            <a:endParaRPr lang="en-US" sz="3600" dirty="0"/>
          </a:p>
        </p:txBody>
      </p:sp>
      <p:sp>
        <p:nvSpPr>
          <p:cNvPr id="3" name="Evidence-based scoring tile"/>
          <p:cNvSpPr/>
          <p:nvPr/>
        </p:nvSpPr>
        <p:spPr>
          <a:xfrm>
            <a:off x="548640" y="141732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4" name="Evidence-based scoring badge"/>
          <p:cNvSpPr/>
          <p:nvPr/>
        </p:nvSpPr>
        <p:spPr>
          <a:xfrm>
            <a:off x="777240" y="1645920"/>
            <a:ext cx="594360" cy="594360"/>
          </a:xfrm>
          <a:prstGeom prst="ellipse">
            <a:avLst/>
          </a:prstGeom>
          <a:solidFill>
            <a:schemeClr val="accent4"/>
          </a:solidFill>
          <a:ln/>
        </p:spPr>
      </p:sp>
      <p:pic>
        <p:nvPicPr>
          <p:cNvPr id="5" name="Evidence-based scoring icon" descr="Search icon">    </p:cNvPr>
          <p:cNvPicPr>
            <a:picLocks noChangeAspect="1"/>
          </p:cNvPicPr>
          <p:nvPr/>
        </p:nvPicPr>
        <p:blipFill>
          <a:blip r:embed="rId1"/>
          <a:stretch>
            <a:fillRect/>
          </a:stretch>
        </p:blipFill>
        <p:spPr>
          <a:xfrm>
            <a:off x="925830" y="1794510"/>
            <a:ext cx="297180" cy="297180"/>
          </a:xfrm>
          <a:prstGeom prst="rect">
            <a:avLst/>
          </a:prstGeom>
        </p:spPr>
      </p:pic>
      <p:sp>
        <p:nvSpPr>
          <p:cNvPr id="6" name="Text 3"/>
          <p:cNvSpPr txBox="1"/>
          <p:nvPr/>
        </p:nvSpPr>
        <p:spPr>
          <a:xfrm>
            <a:off x="1508760"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Evidence-based scoring</a:t>
            </a:r>
            <a:endParaRPr lang="en-US" sz="2000" dirty="0"/>
          </a:p>
        </p:txBody>
      </p:sp>
      <p:sp>
        <p:nvSpPr>
          <p:cNvPr id="7" name="Text 4"/>
          <p:cNvSpPr txBox="1"/>
          <p:nvPr/>
        </p:nvSpPr>
        <p:spPr>
          <a:xfrm>
            <a:off x="777240" y="2423160"/>
            <a:ext cx="3063240" cy="1097280"/>
          </a:xfrm>
          <a:prstGeom prst="rect">
            <a:avLst/>
          </a:prstGeom>
          <a:noFill/>
          <a:ln/>
        </p:spPr>
        <p:txBody>
          <a:bodyPr wrap="square" lIns="0" tIns="0" rIns="0" bIns="0" rtlCol="0" anchor="t"/>
          <a:lstStyle/>
          <a:p>
            <a:pPr indent="0" marL="0">
              <a:buNone/>
            </a:pPr>
            <a:r>
              <a:rPr lang="en-US" sz="1800" dirty="0">
                <a:solidFill>
                  <a:schemeClr val="tx1"/>
                </a:solidFill>
              </a:rPr>
              <a:t>Guessing right without investigating is penalised (T02, B02).</a:t>
            </a:r>
            <a:endParaRPr lang="en-US" sz="1800" dirty="0"/>
          </a:p>
        </p:txBody>
      </p:sp>
      <p:sp>
        <p:nvSpPr>
          <p:cNvPr id="8" name="Traceable data sources tile"/>
          <p:cNvSpPr/>
          <p:nvPr/>
        </p:nvSpPr>
        <p:spPr>
          <a:xfrm>
            <a:off x="4334256" y="1417320"/>
            <a:ext cx="3520440" cy="2194560"/>
          </a:xfrm>
          <a:prstGeom prst="roundRect">
            <a:avLst>
              <a:gd name="adj" fmla="val 5000"/>
            </a:avLst>
          </a:prstGeom>
          <a:solidFill>
            <a:schemeClr val="tx2"/>
          </a:solidFill>
          <a:ln/>
          <a:effectLst>
            <a:outerShdw sx="100000" sy="100000" kx="0" ky="0" algn="bl" rotWithShape="0" blurRad="101600" dist="25400" dir="5400000">
              <a:srgbClr val="0D2146">
                <a:alpha val="14000"/>
              </a:srgbClr>
            </a:outerShdw>
          </a:effectLst>
        </p:spPr>
      </p:sp>
      <p:sp>
        <p:nvSpPr>
          <p:cNvPr id="9" name="Traceable data sources badge"/>
          <p:cNvSpPr/>
          <p:nvPr/>
        </p:nvSpPr>
        <p:spPr>
          <a:xfrm>
            <a:off x="4562856" y="1645920"/>
            <a:ext cx="594360" cy="594360"/>
          </a:xfrm>
          <a:prstGeom prst="ellipse">
            <a:avLst/>
          </a:prstGeom>
          <a:solidFill>
            <a:schemeClr val="accent1"/>
          </a:solidFill>
          <a:ln/>
        </p:spPr>
      </p:sp>
      <p:pic>
        <p:nvPicPr>
          <p:cNvPr id="10" name="Traceable data sources icon" descr="FolderOpen icon">    </p:cNvPr>
          <p:cNvPicPr>
            <a:picLocks noChangeAspect="1"/>
          </p:cNvPicPr>
          <p:nvPr/>
        </p:nvPicPr>
        <p:blipFill>
          <a:blip r:embed="rId2"/>
          <a:stretch>
            <a:fillRect/>
          </a:stretch>
        </p:blipFill>
        <p:spPr>
          <a:xfrm>
            <a:off x="4711446" y="1794510"/>
            <a:ext cx="297180" cy="297180"/>
          </a:xfrm>
          <a:prstGeom prst="rect">
            <a:avLst/>
          </a:prstGeom>
        </p:spPr>
      </p:pic>
      <p:sp>
        <p:nvSpPr>
          <p:cNvPr id="11" name="Text 7"/>
          <p:cNvSpPr txBox="1"/>
          <p:nvPr/>
        </p:nvSpPr>
        <p:spPr>
          <a:xfrm>
            <a:off x="5294376" y="1645920"/>
            <a:ext cx="2377440" cy="594360"/>
          </a:xfrm>
          <a:prstGeom prst="rect">
            <a:avLst/>
          </a:prstGeom>
          <a:noFill/>
          <a:ln/>
        </p:spPr>
        <p:txBody>
          <a:bodyPr wrap="square" lIns="0" tIns="0" rIns="0" bIns="0" rtlCol="0" anchor="ctr"/>
          <a:lstStyle/>
          <a:p>
            <a:pPr indent="0" marL="0">
              <a:buNone/>
            </a:pPr>
            <a:r>
              <a:rPr lang="en-US" sz="2000" b="1" dirty="0">
                <a:solidFill>
                  <a:schemeClr val="bg1"/>
                </a:solidFill>
              </a:rPr>
              <a:t>Traceable data sources</a:t>
            </a:r>
            <a:endParaRPr lang="en-US" sz="2000" dirty="0"/>
          </a:p>
        </p:txBody>
      </p:sp>
      <p:sp>
        <p:nvSpPr>
          <p:cNvPr id="12" name="Text 8"/>
          <p:cNvSpPr txBox="1"/>
          <p:nvPr/>
        </p:nvSpPr>
        <p:spPr>
          <a:xfrm>
            <a:off x="4562856" y="2423160"/>
            <a:ext cx="3063240" cy="1097280"/>
          </a:xfrm>
          <a:prstGeom prst="rect">
            <a:avLst/>
          </a:prstGeom>
          <a:noFill/>
          <a:ln/>
        </p:spPr>
        <p:txBody>
          <a:bodyPr wrap="square" lIns="0" tIns="0" rIns="0" bIns="0" rtlCol="0" anchor="t"/>
          <a:lstStyle/>
          <a:p>
            <a:pPr indent="0" marL="0">
              <a:buNone/>
            </a:pPr>
            <a:r>
              <a:rPr lang="en-US" sz="1800" dirty="0">
                <a:solidFill>
                  <a:schemeClr val="accent4"/>
                </a:solidFill>
              </a:rPr>
              <a:t>S / A / G labels separate history from fiction; metrics checked (F01, F02).</a:t>
            </a:r>
            <a:endParaRPr lang="en-US" sz="1800" dirty="0"/>
          </a:p>
        </p:txBody>
      </p:sp>
      <p:sp>
        <p:nvSpPr>
          <p:cNvPr id="13" name="Performance vs. Outcome tile"/>
          <p:cNvSpPr/>
          <p:nvPr/>
        </p:nvSpPr>
        <p:spPr>
          <a:xfrm>
            <a:off x="8119872" y="141732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4" name="Performance vs. Outcome badge"/>
          <p:cNvSpPr/>
          <p:nvPr/>
        </p:nvSpPr>
        <p:spPr>
          <a:xfrm>
            <a:off x="8348472" y="1645920"/>
            <a:ext cx="594360" cy="594360"/>
          </a:xfrm>
          <a:prstGeom prst="ellipse">
            <a:avLst/>
          </a:prstGeom>
          <a:solidFill>
            <a:schemeClr val="accent4"/>
          </a:solidFill>
          <a:ln/>
        </p:spPr>
      </p:sp>
      <p:pic>
        <p:nvPicPr>
          <p:cNvPr id="15" name="Performance vs. Outcome icon" descr="BalanceScale icon">    </p:cNvPr>
          <p:cNvPicPr>
            <a:picLocks noChangeAspect="1"/>
          </p:cNvPicPr>
          <p:nvPr/>
        </p:nvPicPr>
        <p:blipFill>
          <a:blip r:embed="rId3"/>
          <a:stretch>
            <a:fillRect/>
          </a:stretch>
        </p:blipFill>
        <p:spPr>
          <a:xfrm>
            <a:off x="8497062" y="1794510"/>
            <a:ext cx="297180" cy="297180"/>
          </a:xfrm>
          <a:prstGeom prst="rect">
            <a:avLst/>
          </a:prstGeom>
        </p:spPr>
      </p:pic>
      <p:sp>
        <p:nvSpPr>
          <p:cNvPr id="16" name="Text 11"/>
          <p:cNvSpPr txBox="1"/>
          <p:nvPr/>
        </p:nvSpPr>
        <p:spPr>
          <a:xfrm>
            <a:off x="9079992" y="164592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Performance vs. Outcome</a:t>
            </a:r>
            <a:endParaRPr lang="en-US" sz="2000" dirty="0"/>
          </a:p>
        </p:txBody>
      </p:sp>
      <p:sp>
        <p:nvSpPr>
          <p:cNvPr id="17" name="Text 12"/>
          <p:cNvSpPr txBox="1"/>
          <p:nvPr/>
        </p:nvSpPr>
        <p:spPr>
          <a:xfrm>
            <a:off x="8348472" y="2423160"/>
            <a:ext cx="3063240" cy="1097280"/>
          </a:xfrm>
          <a:prstGeom prst="rect">
            <a:avLst/>
          </a:prstGeom>
          <a:noFill/>
          <a:ln/>
        </p:spPr>
        <p:txBody>
          <a:bodyPr wrap="square" lIns="0" tIns="0" rIns="0" bIns="0" rtlCol="0" anchor="t"/>
          <a:lstStyle/>
          <a:p>
            <a:pPr indent="0" marL="0">
              <a:buNone/>
            </a:pPr>
            <a:r>
              <a:rPr lang="en-US" sz="1800" dirty="0">
                <a:solidFill>
                  <a:schemeClr val="tx1"/>
                </a:solidFill>
              </a:rPr>
              <a:t>Two separate results make feedback fairer and more educational.</a:t>
            </a:r>
            <a:endParaRPr lang="en-US" sz="1800" dirty="0"/>
          </a:p>
        </p:txBody>
      </p:sp>
      <p:sp>
        <p:nvSpPr>
          <p:cNvPr id="18" name="Clear flow and validation tile"/>
          <p:cNvSpPr/>
          <p:nvPr/>
        </p:nvSpPr>
        <p:spPr>
          <a:xfrm>
            <a:off x="548640" y="3840480"/>
            <a:ext cx="3520440" cy="2194560"/>
          </a:xfrm>
          <a:prstGeom prst="roundRect">
            <a:avLst>
              <a:gd name="adj" fmla="val 5000"/>
            </a:avLst>
          </a:prstGeom>
          <a:solidFill>
            <a:schemeClr val="tx2"/>
          </a:solidFill>
          <a:ln/>
          <a:effectLst>
            <a:outerShdw sx="100000" sy="100000" kx="0" ky="0" algn="bl" rotWithShape="0" blurRad="101600" dist="25400" dir="5400000">
              <a:srgbClr val="0D2146">
                <a:alpha val="14000"/>
              </a:srgbClr>
            </a:outerShdw>
          </a:effectLst>
        </p:spPr>
      </p:sp>
      <p:sp>
        <p:nvSpPr>
          <p:cNvPr id="19" name="Clear flow and validation badge"/>
          <p:cNvSpPr/>
          <p:nvPr/>
        </p:nvSpPr>
        <p:spPr>
          <a:xfrm>
            <a:off x="777240" y="4069080"/>
            <a:ext cx="594360" cy="594360"/>
          </a:xfrm>
          <a:prstGeom prst="ellipse">
            <a:avLst/>
          </a:prstGeom>
          <a:solidFill>
            <a:schemeClr val="accent1"/>
          </a:solidFill>
          <a:ln/>
        </p:spPr>
      </p:sp>
      <p:pic>
        <p:nvPicPr>
          <p:cNvPr id="20" name="Clear flow and validation icon" descr="Compass icon">    </p:cNvPr>
          <p:cNvPicPr>
            <a:picLocks noChangeAspect="1"/>
          </p:cNvPicPr>
          <p:nvPr/>
        </p:nvPicPr>
        <p:blipFill>
          <a:blip r:embed="rId4"/>
          <a:stretch>
            <a:fillRect/>
          </a:stretch>
        </p:blipFill>
        <p:spPr>
          <a:xfrm>
            <a:off x="925830" y="4217670"/>
            <a:ext cx="297180" cy="297180"/>
          </a:xfrm>
          <a:prstGeom prst="rect">
            <a:avLst/>
          </a:prstGeom>
        </p:spPr>
      </p:pic>
      <p:sp>
        <p:nvSpPr>
          <p:cNvPr id="21" name="Text 15"/>
          <p:cNvSpPr txBox="1"/>
          <p:nvPr/>
        </p:nvSpPr>
        <p:spPr>
          <a:xfrm>
            <a:off x="1508760" y="4069080"/>
            <a:ext cx="2377440" cy="594360"/>
          </a:xfrm>
          <a:prstGeom prst="rect">
            <a:avLst/>
          </a:prstGeom>
          <a:noFill/>
          <a:ln/>
        </p:spPr>
        <p:txBody>
          <a:bodyPr wrap="square" lIns="0" tIns="0" rIns="0" bIns="0" rtlCol="0" anchor="ctr"/>
          <a:lstStyle/>
          <a:p>
            <a:pPr indent="0" marL="0">
              <a:buNone/>
            </a:pPr>
            <a:r>
              <a:rPr lang="en-US" sz="2000" b="1" dirty="0">
                <a:solidFill>
                  <a:schemeClr val="bg1"/>
                </a:solidFill>
              </a:rPr>
              <a:t>Clear flow and validation</a:t>
            </a:r>
            <a:endParaRPr lang="en-US" sz="2000" dirty="0"/>
          </a:p>
        </p:txBody>
      </p:sp>
      <p:sp>
        <p:nvSpPr>
          <p:cNvPr id="22" name="Text 16"/>
          <p:cNvSpPr txBox="1"/>
          <p:nvPr/>
        </p:nvSpPr>
        <p:spPr>
          <a:xfrm>
            <a:off x="777240" y="4846320"/>
            <a:ext cx="3063240" cy="1097280"/>
          </a:xfrm>
          <a:prstGeom prst="rect">
            <a:avLst/>
          </a:prstGeom>
          <a:noFill/>
          <a:ln/>
        </p:spPr>
        <p:txBody>
          <a:bodyPr wrap="square" lIns="0" tIns="0" rIns="0" bIns="0" rtlCol="0" anchor="t"/>
          <a:lstStyle/>
          <a:p>
            <a:pPr indent="0" marL="0">
              <a:buNone/>
            </a:pPr>
            <a:r>
              <a:rPr lang="en-US" sz="1800" dirty="0">
                <a:solidFill>
                  <a:schemeClr val="accent4"/>
                </a:solidFill>
              </a:rPr>
              <a:t>13 complete screens, fix-it error messages, no double submits (B01).</a:t>
            </a:r>
            <a:endParaRPr lang="en-US" sz="1800" dirty="0"/>
          </a:p>
        </p:txBody>
      </p:sp>
      <p:sp>
        <p:nvSpPr>
          <p:cNvPr id="23" name="Prioritised testing tile"/>
          <p:cNvSpPr/>
          <p:nvPr/>
        </p:nvSpPr>
        <p:spPr>
          <a:xfrm>
            <a:off x="4334256" y="3840480"/>
            <a:ext cx="352044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4" name="Prioritised testing badge"/>
          <p:cNvSpPr/>
          <p:nvPr/>
        </p:nvSpPr>
        <p:spPr>
          <a:xfrm>
            <a:off x="4562856" y="4069080"/>
            <a:ext cx="594360" cy="594360"/>
          </a:xfrm>
          <a:prstGeom prst="ellipse">
            <a:avLst/>
          </a:prstGeom>
          <a:solidFill>
            <a:schemeClr val="accent4"/>
          </a:solidFill>
          <a:ln/>
        </p:spPr>
      </p:sp>
      <p:pic>
        <p:nvPicPr>
          <p:cNvPr id="25" name="Prioritised testing icon" descr="Bug icon">    </p:cNvPr>
          <p:cNvPicPr>
            <a:picLocks noChangeAspect="1"/>
          </p:cNvPicPr>
          <p:nvPr/>
        </p:nvPicPr>
        <p:blipFill>
          <a:blip r:embed="rId5"/>
          <a:stretch>
            <a:fillRect/>
          </a:stretch>
        </p:blipFill>
        <p:spPr>
          <a:xfrm>
            <a:off x="4711446" y="4217670"/>
            <a:ext cx="297180" cy="297180"/>
          </a:xfrm>
          <a:prstGeom prst="rect">
            <a:avLst/>
          </a:prstGeom>
        </p:spPr>
      </p:pic>
      <p:sp>
        <p:nvSpPr>
          <p:cNvPr id="26" name="Text 19"/>
          <p:cNvSpPr txBox="1"/>
          <p:nvPr/>
        </p:nvSpPr>
        <p:spPr>
          <a:xfrm>
            <a:off x="5294376" y="406908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Prioritised testing</a:t>
            </a:r>
            <a:endParaRPr lang="en-US" sz="2000" dirty="0"/>
          </a:p>
        </p:txBody>
      </p:sp>
      <p:sp>
        <p:nvSpPr>
          <p:cNvPr id="27" name="Text 20"/>
          <p:cNvSpPr txBox="1"/>
          <p:nvPr/>
        </p:nvSpPr>
        <p:spPr>
          <a:xfrm>
            <a:off x="4562856" y="4846320"/>
            <a:ext cx="3063240" cy="1097280"/>
          </a:xfrm>
          <a:prstGeom prst="rect">
            <a:avLst/>
          </a:prstGeom>
          <a:noFill/>
          <a:ln/>
        </p:spPr>
        <p:txBody>
          <a:bodyPr wrap="square" lIns="0" tIns="0" rIns="0" bIns="0" rtlCol="0" anchor="t"/>
          <a:lstStyle/>
          <a:p>
            <a:pPr indent="0" marL="0">
              <a:buNone/>
            </a:pPr>
            <a:r>
              <a:rPr lang="en-US" sz="1800" dirty="0">
                <a:solidFill>
                  <a:schemeClr val="tx1"/>
                </a:solidFill>
              </a:rPr>
              <a:t>10 test cases; 5 bugs ranked Critical / Major / Minor, with owners.</a:t>
            </a:r>
            <a:endParaRPr lang="en-US" sz="1800" dirty="0"/>
          </a:p>
        </p:txBody>
      </p:sp>
      <p:sp>
        <p:nvSpPr>
          <p:cNvPr id="28" name="Scope discipline tile"/>
          <p:cNvSpPr/>
          <p:nvPr/>
        </p:nvSpPr>
        <p:spPr>
          <a:xfrm>
            <a:off x="8119872" y="3840480"/>
            <a:ext cx="3520440" cy="2194560"/>
          </a:xfrm>
          <a:prstGeom prst="roundRect">
            <a:avLst>
              <a:gd name="adj" fmla="val 5000"/>
            </a:avLst>
          </a:prstGeom>
          <a:solidFill>
            <a:schemeClr val="tx2"/>
          </a:solidFill>
          <a:ln/>
          <a:effectLst>
            <a:outerShdw sx="100000" sy="100000" kx="0" ky="0" algn="bl" rotWithShape="0" blurRad="101600" dist="25400" dir="5400000">
              <a:srgbClr val="0D2146">
                <a:alpha val="14000"/>
              </a:srgbClr>
            </a:outerShdw>
          </a:effectLst>
        </p:spPr>
      </p:sp>
      <p:sp>
        <p:nvSpPr>
          <p:cNvPr id="29" name="Scope discipline badge"/>
          <p:cNvSpPr/>
          <p:nvPr/>
        </p:nvSpPr>
        <p:spPr>
          <a:xfrm>
            <a:off x="8348472" y="4069080"/>
            <a:ext cx="594360" cy="594360"/>
          </a:xfrm>
          <a:prstGeom prst="ellipse">
            <a:avLst/>
          </a:prstGeom>
          <a:solidFill>
            <a:schemeClr val="accent1"/>
          </a:solidFill>
          <a:ln/>
        </p:spPr>
      </p:sp>
      <p:pic>
        <p:nvPicPr>
          <p:cNvPr id="30" name="Scope discipline icon" descr="Lock icon">    </p:cNvPr>
          <p:cNvPicPr>
            <a:picLocks noChangeAspect="1"/>
          </p:cNvPicPr>
          <p:nvPr/>
        </p:nvPicPr>
        <p:blipFill>
          <a:blip r:embed="rId6"/>
          <a:stretch>
            <a:fillRect/>
          </a:stretch>
        </p:blipFill>
        <p:spPr>
          <a:xfrm>
            <a:off x="8497062" y="4217670"/>
            <a:ext cx="297180" cy="297180"/>
          </a:xfrm>
          <a:prstGeom prst="rect">
            <a:avLst/>
          </a:prstGeom>
        </p:spPr>
      </p:pic>
      <p:sp>
        <p:nvSpPr>
          <p:cNvPr id="31" name="Text 23"/>
          <p:cNvSpPr txBox="1"/>
          <p:nvPr/>
        </p:nvSpPr>
        <p:spPr>
          <a:xfrm>
            <a:off x="9079992" y="4069080"/>
            <a:ext cx="2377440" cy="594360"/>
          </a:xfrm>
          <a:prstGeom prst="rect">
            <a:avLst/>
          </a:prstGeom>
          <a:noFill/>
          <a:ln/>
        </p:spPr>
        <p:txBody>
          <a:bodyPr wrap="square" lIns="0" tIns="0" rIns="0" bIns="0" rtlCol="0" anchor="ctr"/>
          <a:lstStyle/>
          <a:p>
            <a:pPr indent="0" marL="0">
              <a:buNone/>
            </a:pPr>
            <a:r>
              <a:rPr lang="en-US" sz="2000" b="1" dirty="0">
                <a:solidFill>
                  <a:schemeClr val="bg1"/>
                </a:solidFill>
              </a:rPr>
              <a:t>Scope discipline</a:t>
            </a:r>
            <a:endParaRPr lang="en-US" sz="2000" dirty="0"/>
          </a:p>
        </p:txBody>
      </p:sp>
      <p:sp>
        <p:nvSpPr>
          <p:cNvPr id="32" name="Text 24"/>
          <p:cNvSpPr txBox="1"/>
          <p:nvPr/>
        </p:nvSpPr>
        <p:spPr>
          <a:xfrm>
            <a:off x="8348472" y="4846320"/>
            <a:ext cx="3063240" cy="1097280"/>
          </a:xfrm>
          <a:prstGeom prst="rect">
            <a:avLst/>
          </a:prstGeom>
          <a:noFill/>
          <a:ln/>
        </p:spPr>
        <p:txBody>
          <a:bodyPr wrap="square" lIns="0" tIns="0" rIns="0" bIns="0" rtlCol="0" anchor="t"/>
          <a:lstStyle/>
          <a:p>
            <a:pPr indent="0" marL="0">
              <a:buNone/>
            </a:pPr>
            <a:r>
              <a:rPr lang="en-US" sz="1800" dirty="0">
                <a:solidFill>
                  <a:schemeClr val="accent4"/>
                </a:solidFill>
              </a:rPr>
              <a:t>Frozen scope kept the core stable; the public build runs.</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Current limitations</a:t>
            </a:r>
            <a:endParaRPr lang="en-US" sz="3600" dirty="0"/>
          </a:p>
        </p:txBody>
      </p:sp>
      <p:pic>
        <p:nvPicPr>
          <p:cNvPr id="3" name="Counselor portrait" descr="Doctor-counselor checking a phone in his office">    </p:cNvPr>
          <p:cNvPicPr>
            <a:picLocks noChangeAspect="1"/>
          </p:cNvPicPr>
          <p:nvPr/>
        </p:nvPicPr>
        <p:blipFill>
          <a:blip r:embed="rId1"/>
          <a:stretch>
            <a:fillRect/>
          </a:stretch>
        </p:blipFill>
        <p:spPr>
          <a:xfrm>
            <a:off x="548640" y="1417320"/>
            <a:ext cx="4023360" cy="4800600"/>
          </a:xfrm>
          <a:prstGeom prst="rect">
            <a:avLst/>
          </a:prstGeom>
        </p:spPr>
      </p:pic>
      <p:sp>
        <p:nvSpPr>
          <p:cNvPr id="4" name="Only one case row"/>
          <p:cNvSpPr/>
          <p:nvPr/>
        </p:nvSpPr>
        <p:spPr>
          <a:xfrm>
            <a:off x="4846320" y="1417320"/>
            <a:ext cx="6793992"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5" name="Only one case badge"/>
          <p:cNvSpPr/>
          <p:nvPr/>
        </p:nvSpPr>
        <p:spPr>
          <a:xfrm>
            <a:off x="5074920" y="1645920"/>
            <a:ext cx="640080" cy="640080"/>
          </a:xfrm>
          <a:prstGeom prst="ellipse">
            <a:avLst/>
          </a:prstGeom>
          <a:solidFill>
            <a:schemeClr val="accent5"/>
          </a:solidFill>
          <a:ln/>
        </p:spPr>
      </p:sp>
      <p:pic>
        <p:nvPicPr>
          <p:cNvPr id="6" name="Only one case icon" descr="LayerGroup icon">    </p:cNvPr>
          <p:cNvPicPr>
            <a:picLocks noChangeAspect="1"/>
          </p:cNvPicPr>
          <p:nvPr/>
        </p:nvPicPr>
        <p:blipFill>
          <a:blip r:embed="rId2"/>
          <a:stretch>
            <a:fillRect/>
          </a:stretch>
        </p:blipFill>
        <p:spPr>
          <a:xfrm>
            <a:off x="5234940" y="1805940"/>
            <a:ext cx="320040" cy="320040"/>
          </a:xfrm>
          <a:prstGeom prst="rect">
            <a:avLst/>
          </a:prstGeom>
        </p:spPr>
      </p:pic>
      <p:sp>
        <p:nvSpPr>
          <p:cNvPr id="7" name="Text 3"/>
          <p:cNvSpPr txBox="1"/>
          <p:nvPr/>
        </p:nvSpPr>
        <p:spPr>
          <a:xfrm>
            <a:off x="5943600" y="150876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Only one case</a:t>
            </a:r>
            <a:endParaRPr lang="en-US" sz="2000" dirty="0"/>
          </a:p>
        </p:txBody>
      </p:sp>
      <p:sp>
        <p:nvSpPr>
          <p:cNvPr id="8" name="Text 4"/>
          <p:cNvSpPr txBox="1"/>
          <p:nvPr/>
        </p:nvSpPr>
        <p:spPr>
          <a:xfrm>
            <a:off x="5943600" y="1874520"/>
            <a:ext cx="5532120" cy="621792"/>
          </a:xfrm>
          <a:prstGeom prst="rect">
            <a:avLst/>
          </a:prstGeom>
          <a:noFill/>
          <a:ln/>
        </p:spPr>
        <p:txBody>
          <a:bodyPr wrap="square" lIns="0" tIns="0" rIns="0" bIns="0" rtlCol="0" anchor="t"/>
          <a:lstStyle/>
          <a:p>
            <a:pPr indent="0" marL="0">
              <a:buNone/>
            </a:pPr>
            <a:r>
              <a:rPr lang="en-US" sz="1600" dirty="0">
                <a:solidFill>
                  <a:schemeClr val="tx1"/>
                </a:solidFill>
              </a:rPr>
              <a:t>Other industries and scenarios cannot be assessed; replay value is limited.</a:t>
            </a:r>
            <a:endParaRPr lang="en-US" sz="1600" dirty="0"/>
          </a:p>
        </p:txBody>
      </p:sp>
      <p:sp>
        <p:nvSpPr>
          <p:cNvPr id="9" name="Rule-based consequences row"/>
          <p:cNvSpPr/>
          <p:nvPr/>
        </p:nvSpPr>
        <p:spPr>
          <a:xfrm>
            <a:off x="4846320" y="2651760"/>
            <a:ext cx="6793992"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0" name="Rule-based consequences badge"/>
          <p:cNvSpPr/>
          <p:nvPr/>
        </p:nvSpPr>
        <p:spPr>
          <a:xfrm>
            <a:off x="5074920" y="2880360"/>
            <a:ext cx="640080" cy="640080"/>
          </a:xfrm>
          <a:prstGeom prst="ellipse">
            <a:avLst/>
          </a:prstGeom>
          <a:solidFill>
            <a:schemeClr val="accent5"/>
          </a:solidFill>
          <a:ln/>
        </p:spPr>
      </p:sp>
      <p:pic>
        <p:nvPicPr>
          <p:cNvPr id="11" name="Rule-based consequences icon" descr="Cogs icon">    </p:cNvPr>
          <p:cNvPicPr>
            <a:picLocks noChangeAspect="1"/>
          </p:cNvPicPr>
          <p:nvPr/>
        </p:nvPicPr>
        <p:blipFill>
          <a:blip r:embed="rId3"/>
          <a:stretch>
            <a:fillRect/>
          </a:stretch>
        </p:blipFill>
        <p:spPr>
          <a:xfrm>
            <a:off x="5234940" y="3040380"/>
            <a:ext cx="320040" cy="320040"/>
          </a:xfrm>
          <a:prstGeom prst="rect">
            <a:avLst/>
          </a:prstGeom>
        </p:spPr>
      </p:pic>
      <p:sp>
        <p:nvSpPr>
          <p:cNvPr id="12" name="Text 7"/>
          <p:cNvSpPr txBox="1"/>
          <p:nvPr/>
        </p:nvSpPr>
        <p:spPr>
          <a:xfrm>
            <a:off x="5943600" y="274320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Rule-based consequences</a:t>
            </a:r>
            <a:endParaRPr lang="en-US" sz="2000" dirty="0"/>
          </a:p>
        </p:txBody>
      </p:sp>
      <p:sp>
        <p:nvSpPr>
          <p:cNvPr id="13" name="Text 8"/>
          <p:cNvSpPr txBox="1"/>
          <p:nvPr/>
        </p:nvSpPr>
        <p:spPr>
          <a:xfrm>
            <a:off x="5943600" y="3108960"/>
            <a:ext cx="5532120" cy="621792"/>
          </a:xfrm>
          <a:prstGeom prst="rect">
            <a:avLst/>
          </a:prstGeom>
          <a:noFill/>
          <a:ln/>
        </p:spPr>
        <p:txBody>
          <a:bodyPr wrap="square" lIns="0" tIns="0" rIns="0" bIns="0" rtlCol="0" anchor="t"/>
          <a:lstStyle/>
          <a:p>
            <a:pPr indent="0" marL="0">
              <a:buNone/>
            </a:pPr>
            <a:r>
              <a:rPr lang="en-US" sz="1600" dirty="0">
                <a:solidFill>
                  <a:schemeClr val="tx1"/>
                </a:solidFill>
              </a:rPr>
              <a:t>Educational rules, not forecasts. Resilience, Stability and Credibility are not standard metrics.</a:t>
            </a:r>
            <a:endParaRPr lang="en-US" sz="1600" dirty="0"/>
          </a:p>
        </p:txBody>
      </p:sp>
      <p:sp>
        <p:nvSpPr>
          <p:cNvPr id="14" name="3-of-7 information limit row"/>
          <p:cNvSpPr/>
          <p:nvPr/>
        </p:nvSpPr>
        <p:spPr>
          <a:xfrm>
            <a:off x="4846320" y="3886200"/>
            <a:ext cx="6793992"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15" name="3-of-7 information limit badge"/>
          <p:cNvSpPr/>
          <p:nvPr/>
        </p:nvSpPr>
        <p:spPr>
          <a:xfrm>
            <a:off x="5074920" y="4114800"/>
            <a:ext cx="640080" cy="640080"/>
          </a:xfrm>
          <a:prstGeom prst="ellipse">
            <a:avLst/>
          </a:prstGeom>
          <a:solidFill>
            <a:schemeClr val="accent5"/>
          </a:solidFill>
          <a:ln/>
        </p:spPr>
      </p:sp>
      <p:pic>
        <p:nvPicPr>
          <p:cNvPr id="16" name="3-of-7 information limit icon" descr="Lock icon">    </p:cNvPr>
          <p:cNvPicPr>
            <a:picLocks noChangeAspect="1"/>
          </p:cNvPicPr>
          <p:nvPr/>
        </p:nvPicPr>
        <p:blipFill>
          <a:blip r:embed="rId4"/>
          <a:stretch>
            <a:fillRect/>
          </a:stretch>
        </p:blipFill>
        <p:spPr>
          <a:xfrm>
            <a:off x="5234940" y="4274820"/>
            <a:ext cx="320040" cy="320040"/>
          </a:xfrm>
          <a:prstGeom prst="rect">
            <a:avLst/>
          </a:prstGeom>
        </p:spPr>
      </p:pic>
      <p:sp>
        <p:nvSpPr>
          <p:cNvPr id="17" name="Text 11"/>
          <p:cNvSpPr txBox="1"/>
          <p:nvPr/>
        </p:nvSpPr>
        <p:spPr>
          <a:xfrm>
            <a:off x="5943600" y="397764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3-of-7 information limit</a:t>
            </a:r>
            <a:endParaRPr lang="en-US" sz="2000" dirty="0"/>
          </a:p>
        </p:txBody>
      </p:sp>
      <p:sp>
        <p:nvSpPr>
          <p:cNvPr id="18" name="Text 12"/>
          <p:cNvSpPr txBox="1"/>
          <p:nvPr/>
        </p:nvSpPr>
        <p:spPr>
          <a:xfrm>
            <a:off x="5943600" y="4343400"/>
            <a:ext cx="5532120" cy="621792"/>
          </a:xfrm>
          <a:prstGeom prst="rect">
            <a:avLst/>
          </a:prstGeom>
          <a:noFill/>
          <a:ln/>
        </p:spPr>
        <p:txBody>
          <a:bodyPr wrap="square" lIns="0" tIns="0" rIns="0" bIns="0" rtlCol="0" anchor="t"/>
          <a:lstStyle/>
          <a:p>
            <a:pPr indent="0" marL="0">
              <a:buNone/>
            </a:pPr>
            <a:r>
              <a:rPr lang="en-US" sz="1600" dirty="0">
                <a:solidFill>
                  <a:schemeClr val="tx1"/>
                </a:solidFill>
              </a:rPr>
              <a:t>A game rule; it does not reflect every real consulting situation.</a:t>
            </a:r>
            <a:endParaRPr lang="en-US" sz="1600" dirty="0"/>
          </a:p>
        </p:txBody>
      </p:sp>
      <p:sp>
        <p:nvSpPr>
          <p:cNvPr id="19" name="Fictional governance row"/>
          <p:cNvSpPr/>
          <p:nvPr/>
        </p:nvSpPr>
        <p:spPr>
          <a:xfrm>
            <a:off x="4846320" y="5120640"/>
            <a:ext cx="6793992"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01600" dist="25400" dir="5400000">
              <a:srgbClr val="0D2146">
                <a:alpha val="14000"/>
              </a:srgbClr>
            </a:outerShdw>
          </a:effectLst>
        </p:spPr>
      </p:sp>
      <p:sp>
        <p:nvSpPr>
          <p:cNvPr id="20" name="Fictional governance badge"/>
          <p:cNvSpPr/>
          <p:nvPr/>
        </p:nvSpPr>
        <p:spPr>
          <a:xfrm>
            <a:off x="5074920" y="5349240"/>
            <a:ext cx="640080" cy="640080"/>
          </a:xfrm>
          <a:prstGeom prst="ellipse">
            <a:avLst/>
          </a:prstGeom>
          <a:solidFill>
            <a:schemeClr val="accent5"/>
          </a:solidFill>
          <a:ln/>
        </p:spPr>
      </p:sp>
      <p:pic>
        <p:nvPicPr>
          <p:cNvPr id="21" name="Fictional governance icon" descr="Users icon">    </p:cNvPr>
          <p:cNvPicPr>
            <a:picLocks noChangeAspect="1"/>
          </p:cNvPicPr>
          <p:nvPr/>
        </p:nvPicPr>
        <p:blipFill>
          <a:blip r:embed="rId5"/>
          <a:stretch>
            <a:fillRect/>
          </a:stretch>
        </p:blipFill>
        <p:spPr>
          <a:xfrm>
            <a:off x="5234940" y="5509260"/>
            <a:ext cx="320040" cy="320040"/>
          </a:xfrm>
          <a:prstGeom prst="rect">
            <a:avLst/>
          </a:prstGeom>
        </p:spPr>
      </p:pic>
      <p:sp>
        <p:nvSpPr>
          <p:cNvPr id="22" name="Text 15"/>
          <p:cNvSpPr txBox="1"/>
          <p:nvPr/>
        </p:nvSpPr>
        <p:spPr>
          <a:xfrm>
            <a:off x="5943600" y="521208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Fictional governance</a:t>
            </a:r>
            <a:endParaRPr lang="en-US" sz="2000" dirty="0"/>
          </a:p>
        </p:txBody>
      </p:sp>
      <p:sp>
        <p:nvSpPr>
          <p:cNvPr id="23" name="Text 16"/>
          <p:cNvSpPr txBox="1"/>
          <p:nvPr/>
        </p:nvSpPr>
        <p:spPr>
          <a:xfrm>
            <a:off x="5943600" y="5577840"/>
            <a:ext cx="5532120" cy="621792"/>
          </a:xfrm>
          <a:prstGeom prst="rect">
            <a:avLst/>
          </a:prstGeom>
          <a:noFill/>
          <a:ln/>
        </p:spPr>
        <p:txBody>
          <a:bodyPr wrap="square" lIns="0" tIns="0" rIns="0" bIns="0" rtlCol="0" anchor="t"/>
          <a:lstStyle/>
          <a:p>
            <a:pPr indent="0" marL="0">
              <a:buNone/>
            </a:pPr>
            <a:r>
              <a:rPr lang="en-US" sz="1600" dirty="0">
                <a:solidFill>
                  <a:schemeClr val="tx1"/>
                </a:solidFill>
              </a:rPr>
              <a:t>Houndstooth and the Anderson conflict are fictional and simplified.</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tx2"/>
                </a:solidFill>
              </a:rPr>
              <a:t>What the group learned</a:t>
            </a:r>
            <a:endParaRPr lang="en-US" sz="3600" dirty="0"/>
          </a:p>
        </p:txBody>
      </p:sp>
      <p:sp>
        <p:nvSpPr>
          <p:cNvPr id="3" name="Problem and users badge"/>
          <p:cNvSpPr/>
          <p:nvPr/>
        </p:nvSpPr>
        <p:spPr>
          <a:xfrm>
            <a:off x="548640" y="1508760"/>
            <a:ext cx="822960" cy="822960"/>
          </a:xfrm>
          <a:prstGeom prst="ellipse">
            <a:avLst/>
          </a:prstGeom>
          <a:solidFill>
            <a:schemeClr val="accent1"/>
          </a:solidFill>
          <a:ln/>
        </p:spPr>
      </p:sp>
      <p:pic>
        <p:nvPicPr>
          <p:cNvPr id="4" name="Problem and users icon" descr="Brain icon">    </p:cNvPr>
          <p:cNvPicPr>
            <a:picLocks noChangeAspect="1"/>
          </p:cNvPicPr>
          <p:nvPr/>
        </p:nvPicPr>
        <p:blipFill>
          <a:blip r:embed="rId1"/>
          <a:stretch>
            <a:fillRect/>
          </a:stretch>
        </p:blipFill>
        <p:spPr>
          <a:xfrm>
            <a:off x="754380" y="1714500"/>
            <a:ext cx="411480" cy="411480"/>
          </a:xfrm>
          <a:prstGeom prst="rect">
            <a:avLst/>
          </a:prstGeom>
        </p:spPr>
      </p:pic>
      <p:sp>
        <p:nvSpPr>
          <p:cNvPr id="5" name="Text 2"/>
          <p:cNvSpPr txBox="1"/>
          <p:nvPr/>
        </p:nvSpPr>
        <p:spPr>
          <a:xfrm>
            <a:off x="1600200" y="146304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Problem and users</a:t>
            </a:r>
            <a:endParaRPr lang="en-US" sz="2200" dirty="0"/>
          </a:p>
        </p:txBody>
      </p:sp>
      <p:sp>
        <p:nvSpPr>
          <p:cNvPr id="6" name="Text 3"/>
          <p:cNvSpPr txBox="1"/>
          <p:nvPr/>
        </p:nvSpPr>
        <p:spPr>
          <a:xfrm>
            <a:off x="1600200" y="1920240"/>
            <a:ext cx="4297680" cy="1005840"/>
          </a:xfrm>
          <a:prstGeom prst="rect">
            <a:avLst/>
          </a:prstGeom>
          <a:noFill/>
          <a:ln/>
        </p:spPr>
        <p:txBody>
          <a:bodyPr wrap="square" lIns="0" tIns="0" rIns="0" bIns="0" rtlCol="0" anchor="t"/>
          <a:lstStyle/>
          <a:p>
            <a:pPr indent="0" marL="0">
              <a:buNone/>
            </a:pPr>
            <a:r>
              <a:rPr lang="en-US" sz="1800" dirty="0">
                <a:solidFill>
                  <a:schemeClr val="tx1"/>
                </a:solidFill>
              </a:rPr>
              <a:t>The real challenge: helping players decide with incomplete information.</a:t>
            </a:r>
            <a:endParaRPr lang="en-US" sz="1800" dirty="0"/>
          </a:p>
        </p:txBody>
      </p:sp>
      <p:sp>
        <p:nvSpPr>
          <p:cNvPr id="7" name="Flow design badge"/>
          <p:cNvSpPr/>
          <p:nvPr/>
        </p:nvSpPr>
        <p:spPr>
          <a:xfrm>
            <a:off x="6291072" y="1508760"/>
            <a:ext cx="822960" cy="822960"/>
          </a:xfrm>
          <a:prstGeom prst="ellipse">
            <a:avLst/>
          </a:prstGeom>
          <a:solidFill>
            <a:schemeClr val="accent1"/>
          </a:solidFill>
          <a:ln/>
        </p:spPr>
      </p:sp>
      <p:pic>
        <p:nvPicPr>
          <p:cNvPr id="8" name="Flow design icon" descr="Map icon">    </p:cNvPr>
          <p:cNvPicPr>
            <a:picLocks noChangeAspect="1"/>
          </p:cNvPicPr>
          <p:nvPr/>
        </p:nvPicPr>
        <p:blipFill>
          <a:blip r:embed="rId2"/>
          <a:stretch>
            <a:fillRect/>
          </a:stretch>
        </p:blipFill>
        <p:spPr>
          <a:xfrm>
            <a:off x="6496812" y="1714500"/>
            <a:ext cx="411480" cy="411480"/>
          </a:xfrm>
          <a:prstGeom prst="rect">
            <a:avLst/>
          </a:prstGeom>
        </p:spPr>
      </p:pic>
      <p:sp>
        <p:nvSpPr>
          <p:cNvPr id="9" name="Text 5"/>
          <p:cNvSpPr txBox="1"/>
          <p:nvPr/>
        </p:nvSpPr>
        <p:spPr>
          <a:xfrm>
            <a:off x="7342632" y="146304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Flow design</a:t>
            </a:r>
            <a:endParaRPr lang="en-US" sz="2200" dirty="0"/>
          </a:p>
        </p:txBody>
      </p:sp>
      <p:sp>
        <p:nvSpPr>
          <p:cNvPr id="10" name="Text 6"/>
          <p:cNvSpPr txBox="1"/>
          <p:nvPr/>
        </p:nvSpPr>
        <p:spPr>
          <a:xfrm>
            <a:off x="7342632" y="1920240"/>
            <a:ext cx="4297680" cy="1005840"/>
          </a:xfrm>
          <a:prstGeom prst="rect">
            <a:avLst/>
          </a:prstGeom>
          <a:noFill/>
          <a:ln/>
        </p:spPr>
        <p:txBody>
          <a:bodyPr wrap="square" lIns="0" tIns="0" rIns="0" bIns="0" rtlCol="0" anchor="t"/>
          <a:lstStyle/>
          <a:p>
            <a:pPr indent="0" marL="0">
              <a:buNone/>
            </a:pPr>
            <a:r>
              <a:rPr lang="en-US" sz="1800" dirty="0">
                <a:solidFill>
                  <a:schemeClr val="tx1"/>
                </a:solidFill>
              </a:rPr>
              <a:t>A static concept became a prototype where each choice shapes what follows.</a:t>
            </a:r>
            <a:endParaRPr lang="en-US" sz="1800" dirty="0"/>
          </a:p>
        </p:txBody>
      </p:sp>
      <p:sp>
        <p:nvSpPr>
          <p:cNvPr id="11" name="Theory into game rules badge"/>
          <p:cNvSpPr/>
          <p:nvPr/>
        </p:nvSpPr>
        <p:spPr>
          <a:xfrm>
            <a:off x="548640" y="3154680"/>
            <a:ext cx="822960" cy="822960"/>
          </a:xfrm>
          <a:prstGeom prst="ellipse">
            <a:avLst/>
          </a:prstGeom>
          <a:solidFill>
            <a:schemeClr val="accent1"/>
          </a:solidFill>
          <a:ln/>
        </p:spPr>
      </p:sp>
      <p:pic>
        <p:nvPicPr>
          <p:cNvPr id="12" name="Theory into game rules icon" descr="BookOpen icon">    </p:cNvPr>
          <p:cNvPicPr>
            <a:picLocks noChangeAspect="1"/>
          </p:cNvPicPr>
          <p:nvPr/>
        </p:nvPicPr>
        <p:blipFill>
          <a:blip r:embed="rId3"/>
          <a:stretch>
            <a:fillRect/>
          </a:stretch>
        </p:blipFill>
        <p:spPr>
          <a:xfrm>
            <a:off x="754380" y="3360420"/>
            <a:ext cx="411480" cy="411480"/>
          </a:xfrm>
          <a:prstGeom prst="rect">
            <a:avLst/>
          </a:prstGeom>
        </p:spPr>
      </p:pic>
      <p:sp>
        <p:nvSpPr>
          <p:cNvPr id="13" name="Text 8"/>
          <p:cNvSpPr txBox="1"/>
          <p:nvPr/>
        </p:nvSpPr>
        <p:spPr>
          <a:xfrm>
            <a:off x="1600200" y="310896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Theory into game rules</a:t>
            </a:r>
            <a:endParaRPr lang="en-US" sz="2200" dirty="0"/>
          </a:p>
        </p:txBody>
      </p:sp>
      <p:sp>
        <p:nvSpPr>
          <p:cNvPr id="14" name="Text 9"/>
          <p:cNvSpPr txBox="1"/>
          <p:nvPr/>
        </p:nvSpPr>
        <p:spPr>
          <a:xfrm>
            <a:off x="1600200" y="3566160"/>
            <a:ext cx="4297680" cy="1005840"/>
          </a:xfrm>
          <a:prstGeom prst="rect">
            <a:avLst/>
          </a:prstGeom>
          <a:noFill/>
          <a:ln/>
        </p:spPr>
        <p:txBody>
          <a:bodyPr wrap="square" lIns="0" tIns="0" rIns="0" bIns="0" rtlCol="0" anchor="t"/>
          <a:lstStyle/>
          <a:p>
            <a:pPr indent="0" marL="0">
              <a:buNone/>
            </a:pPr>
            <a:r>
              <a:rPr lang="en-US" sz="1800" dirty="0">
                <a:solidFill>
                  <a:schemeClr val="tx1"/>
                </a:solidFill>
              </a:rPr>
              <a:t>Define what counts as evidence, what moves the score, what follows.</a:t>
            </a:r>
            <a:endParaRPr lang="en-US" sz="1800" dirty="0"/>
          </a:p>
        </p:txBody>
      </p:sp>
      <p:sp>
        <p:nvSpPr>
          <p:cNvPr id="15" name="Testing badge"/>
          <p:cNvSpPr/>
          <p:nvPr/>
        </p:nvSpPr>
        <p:spPr>
          <a:xfrm>
            <a:off x="6291072" y="3154680"/>
            <a:ext cx="822960" cy="822960"/>
          </a:xfrm>
          <a:prstGeom prst="ellipse">
            <a:avLst/>
          </a:prstGeom>
          <a:solidFill>
            <a:schemeClr val="accent2"/>
          </a:solidFill>
          <a:ln/>
        </p:spPr>
      </p:sp>
      <p:pic>
        <p:nvPicPr>
          <p:cNvPr id="16" name="Testing icon" descr="Bug icon">    </p:cNvPr>
          <p:cNvPicPr>
            <a:picLocks noChangeAspect="1"/>
          </p:cNvPicPr>
          <p:nvPr/>
        </p:nvPicPr>
        <p:blipFill>
          <a:blip r:embed="rId4"/>
          <a:stretch>
            <a:fillRect/>
          </a:stretch>
        </p:blipFill>
        <p:spPr>
          <a:xfrm>
            <a:off x="6496812" y="3360420"/>
            <a:ext cx="411480" cy="411480"/>
          </a:xfrm>
          <a:prstGeom prst="rect">
            <a:avLst/>
          </a:prstGeom>
        </p:spPr>
      </p:pic>
      <p:sp>
        <p:nvSpPr>
          <p:cNvPr id="17" name="Text 11"/>
          <p:cNvSpPr txBox="1"/>
          <p:nvPr/>
        </p:nvSpPr>
        <p:spPr>
          <a:xfrm>
            <a:off x="7342632" y="310896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Testing</a:t>
            </a:r>
            <a:endParaRPr lang="en-US" sz="2200" dirty="0"/>
          </a:p>
        </p:txBody>
      </p:sp>
      <p:sp>
        <p:nvSpPr>
          <p:cNvPr id="18" name="Text 12"/>
          <p:cNvSpPr txBox="1"/>
          <p:nvPr/>
        </p:nvSpPr>
        <p:spPr>
          <a:xfrm>
            <a:off x="7342632" y="3566160"/>
            <a:ext cx="4297680" cy="1005840"/>
          </a:xfrm>
          <a:prstGeom prst="rect">
            <a:avLst/>
          </a:prstGeom>
          <a:noFill/>
          <a:ln/>
        </p:spPr>
        <p:txBody>
          <a:bodyPr wrap="square" lIns="0" tIns="0" rIns="0" bIns="0" rtlCol="0" anchor="t"/>
          <a:lstStyle/>
          <a:p>
            <a:pPr indent="0" marL="0">
              <a:buNone/>
            </a:pPr>
            <a:r>
              <a:rPr lang="en-US" sz="1800" dirty="0">
                <a:solidFill>
                  <a:schemeClr val="tx1"/>
                </a:solidFill>
              </a:rPr>
              <a:t>Bug B02: a game that runs can still be wrong. Test logic and rule interactions.</a:t>
            </a:r>
            <a:endParaRPr lang="en-US" sz="1800" dirty="0"/>
          </a:p>
        </p:txBody>
      </p:sp>
      <p:sp>
        <p:nvSpPr>
          <p:cNvPr id="19" name="Scope management badge"/>
          <p:cNvSpPr/>
          <p:nvPr/>
        </p:nvSpPr>
        <p:spPr>
          <a:xfrm>
            <a:off x="548640" y="4800600"/>
            <a:ext cx="822960" cy="822960"/>
          </a:xfrm>
          <a:prstGeom prst="ellipse">
            <a:avLst/>
          </a:prstGeom>
          <a:solidFill>
            <a:schemeClr val="accent2"/>
          </a:solidFill>
          <a:ln/>
        </p:spPr>
      </p:sp>
      <p:pic>
        <p:nvPicPr>
          <p:cNvPr id="20" name="Scope management icon" descr="Lock icon">    </p:cNvPr>
          <p:cNvPicPr>
            <a:picLocks noChangeAspect="1"/>
          </p:cNvPicPr>
          <p:nvPr/>
        </p:nvPicPr>
        <p:blipFill>
          <a:blip r:embed="rId5"/>
          <a:stretch>
            <a:fillRect/>
          </a:stretch>
        </p:blipFill>
        <p:spPr>
          <a:xfrm>
            <a:off x="754380" y="5006340"/>
            <a:ext cx="411480" cy="411480"/>
          </a:xfrm>
          <a:prstGeom prst="rect">
            <a:avLst/>
          </a:prstGeom>
        </p:spPr>
      </p:pic>
      <p:sp>
        <p:nvSpPr>
          <p:cNvPr id="21" name="Text 14"/>
          <p:cNvSpPr txBox="1"/>
          <p:nvPr/>
        </p:nvSpPr>
        <p:spPr>
          <a:xfrm>
            <a:off x="1600200" y="475488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Scope management</a:t>
            </a:r>
            <a:endParaRPr lang="en-US" sz="2200" dirty="0"/>
          </a:p>
        </p:txBody>
      </p:sp>
      <p:sp>
        <p:nvSpPr>
          <p:cNvPr id="22" name="Text 15"/>
          <p:cNvSpPr txBox="1"/>
          <p:nvPr/>
        </p:nvSpPr>
        <p:spPr>
          <a:xfrm>
            <a:off x="1600200" y="5212080"/>
            <a:ext cx="4297680" cy="1005840"/>
          </a:xfrm>
          <a:prstGeom prst="rect">
            <a:avLst/>
          </a:prstGeom>
          <a:noFill/>
          <a:ln/>
        </p:spPr>
        <p:txBody>
          <a:bodyPr wrap="square" lIns="0" tIns="0" rIns="0" bIns="0" rtlCol="0" anchor="t"/>
          <a:lstStyle/>
          <a:p>
            <a:pPr indent="0" marL="0">
              <a:buNone/>
            </a:pPr>
            <a:r>
              <a:rPr lang="en-US" sz="1800" dirty="0">
                <a:solidFill>
                  <a:schemeClr val="tx1"/>
                </a:solidFill>
              </a:rPr>
              <a:t>Freezing scope in Week 6 shifted focus to integration, testing and fixes.</a:t>
            </a:r>
            <a:endParaRPr lang="en-US" sz="1800" dirty="0"/>
          </a:p>
        </p:txBody>
      </p:sp>
      <p:sp>
        <p:nvSpPr>
          <p:cNvPr id="23" name="Teamwork badge"/>
          <p:cNvSpPr/>
          <p:nvPr/>
        </p:nvSpPr>
        <p:spPr>
          <a:xfrm>
            <a:off x="6291072" y="4800600"/>
            <a:ext cx="822960" cy="822960"/>
          </a:xfrm>
          <a:prstGeom prst="ellipse">
            <a:avLst/>
          </a:prstGeom>
          <a:solidFill>
            <a:schemeClr val="accent2"/>
          </a:solidFill>
          <a:ln/>
        </p:spPr>
      </p:sp>
      <p:pic>
        <p:nvPicPr>
          <p:cNvPr id="24" name="Teamwork icon" descr="Handshake icon">    </p:cNvPr>
          <p:cNvPicPr>
            <a:picLocks noChangeAspect="1"/>
          </p:cNvPicPr>
          <p:nvPr/>
        </p:nvPicPr>
        <p:blipFill>
          <a:blip r:embed="rId6"/>
          <a:stretch>
            <a:fillRect/>
          </a:stretch>
        </p:blipFill>
        <p:spPr>
          <a:xfrm>
            <a:off x="6496812" y="5006340"/>
            <a:ext cx="411480" cy="411480"/>
          </a:xfrm>
          <a:prstGeom prst="rect">
            <a:avLst/>
          </a:prstGeom>
        </p:spPr>
      </p:pic>
      <p:sp>
        <p:nvSpPr>
          <p:cNvPr id="25" name="Text 17"/>
          <p:cNvSpPr txBox="1"/>
          <p:nvPr/>
        </p:nvSpPr>
        <p:spPr>
          <a:xfrm>
            <a:off x="7342632" y="4754880"/>
            <a:ext cx="4297680" cy="411480"/>
          </a:xfrm>
          <a:prstGeom prst="rect">
            <a:avLst/>
          </a:prstGeom>
          <a:noFill/>
          <a:ln/>
        </p:spPr>
        <p:txBody>
          <a:bodyPr wrap="square" lIns="0" tIns="0" rIns="0" bIns="0" rtlCol="0" anchor="ctr"/>
          <a:lstStyle/>
          <a:p>
            <a:pPr indent="0" marL="0">
              <a:buNone/>
            </a:pPr>
            <a:r>
              <a:rPr lang="en-US" sz="2200" b="1" dirty="0">
                <a:solidFill>
                  <a:schemeClr val="tx2"/>
                </a:solidFill>
              </a:rPr>
              <a:t>Teamwork</a:t>
            </a:r>
            <a:endParaRPr lang="en-US" sz="2200" dirty="0"/>
          </a:p>
        </p:txBody>
      </p:sp>
      <p:sp>
        <p:nvSpPr>
          <p:cNvPr id="26" name="Text 18"/>
          <p:cNvSpPr txBox="1"/>
          <p:nvPr/>
        </p:nvSpPr>
        <p:spPr>
          <a:xfrm>
            <a:off x="7342632" y="5212080"/>
            <a:ext cx="4297680" cy="1005840"/>
          </a:xfrm>
          <a:prstGeom prst="rect">
            <a:avLst/>
          </a:prstGeom>
          <a:noFill/>
          <a:ln/>
        </p:spPr>
        <p:txBody>
          <a:bodyPr wrap="square" lIns="0" tIns="0" rIns="0" bIns="0" rtlCol="0" anchor="t"/>
          <a:lstStyle/>
          <a:p>
            <a:pPr indent="0" marL="0">
              <a:buNone/>
            </a:pPr>
            <a:r>
              <a:rPr lang="en-US" sz="1800" dirty="0">
                <a:solidFill>
                  <a:schemeClr val="tx1"/>
                </a:solidFill>
              </a:rPr>
              <a:t>Scenario, frontend, finance, UI/UX, logic: everyone must know how parts connect.</a:t>
            </a:r>
            <a:endParaRPr lang="en-US" sz="18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ackground photo" descr="Night office background">    </p:cNvPr>
          <p:cNvPicPr>
            <a:picLocks noChangeAspect="1"/>
          </p:cNvPicPr>
          <p:nvPr/>
        </p:nvPicPr>
        <p:blipFill>
          <a:blip r:embed="rId1"/>
          <a:stretch>
            <a:fillRect/>
          </a:stretch>
        </p:blipFill>
        <p:spPr>
          <a:xfrm>
            <a:off x="0" y="0"/>
            <a:ext cx="12191695" cy="6858000"/>
          </a:xfrm>
          <a:prstGeom prst="rect">
            <a:avLst/>
          </a:prstGeom>
        </p:spPr>
      </p:pic>
      <p:sp>
        <p:nvSpPr>
          <p:cNvPr id="3" name="Navy overlay"/>
          <p:cNvSpPr/>
          <p:nvPr/>
        </p:nvSpPr>
        <p:spPr>
          <a:xfrm>
            <a:off x="0" y="0"/>
            <a:ext cx="12191695" cy="6858000"/>
          </a:xfrm>
          <a:prstGeom prst="rect">
            <a:avLst/>
          </a:prstGeom>
          <a:solidFill>
            <a:schemeClr val="tx2">
              <a:alpha val="75000"/>
            </a:schemeClr>
          </a:solidFill>
          <a:ln/>
        </p:spPr>
      </p:sp>
      <p:sp>
        <p:nvSpPr>
          <p:cNvPr id="4" name="Text 1"/>
          <p:cNvSpPr/>
          <p:nvPr/>
        </p:nvSpPr>
        <p:spPr>
          <a:xfrm>
            <a:off x="548640" y="320040"/>
            <a:ext cx="11091672" cy="868680"/>
          </a:xfrm>
          <a:prstGeom prst="rect">
            <a:avLst/>
          </a:prstGeom>
          <a:noFill/>
          <a:ln/>
        </p:spPr>
        <p:txBody>
          <a:bodyPr wrap="square" lIns="0" tIns="0" rIns="0" bIns="0" rtlCol="0" anchor="ctr"/>
          <a:lstStyle/>
          <a:p>
            <a:pPr indent="0" marL="0">
              <a:buNone/>
            </a:pPr>
            <a:r>
              <a:rPr lang="en-US" sz="3600" b="1" dirty="0">
                <a:solidFill>
                  <a:schemeClr val="bg1"/>
                </a:solidFill>
              </a:rPr>
              <a:t>Suggestions for the next cohort</a:t>
            </a:r>
            <a:endParaRPr lang="en-US" sz="3600" dirty="0"/>
          </a:p>
        </p:txBody>
      </p:sp>
      <p:sp>
        <p:nvSpPr>
          <p:cNvPr id="5" name="Suggestion 1"/>
          <p:cNvSpPr/>
          <p:nvPr/>
        </p:nvSpPr>
        <p:spPr>
          <a:xfrm>
            <a:off x="548640" y="1417320"/>
            <a:ext cx="7315200" cy="841248"/>
          </a:xfrm>
          <a:prstGeom prst="roundRect">
            <a:avLst>
              <a:gd name="adj" fmla="val 13043"/>
            </a:avLst>
          </a:prstGeom>
          <a:solidFill>
            <a:schemeClr val="accent1"/>
          </a:solidFill>
          <a:ln/>
        </p:spPr>
      </p:sp>
      <p:sp>
        <p:nvSpPr>
          <p:cNvPr id="6" name="Number 1"/>
          <p:cNvSpPr/>
          <p:nvPr/>
        </p:nvSpPr>
        <p:spPr>
          <a:xfrm>
            <a:off x="731520" y="1572768"/>
            <a:ext cx="530352" cy="530352"/>
          </a:xfrm>
          <a:prstGeom prst="ellipse">
            <a:avLst/>
          </a:prstGeom>
          <a:solidFill>
            <a:schemeClr val="accent5"/>
          </a:solidFill>
          <a:ln/>
        </p:spPr>
      </p:sp>
      <p:sp>
        <p:nvSpPr>
          <p:cNvPr id="7" name="Text 4"/>
          <p:cNvSpPr txBox="1"/>
          <p:nvPr/>
        </p:nvSpPr>
        <p:spPr>
          <a:xfrm>
            <a:off x="731520" y="1572768"/>
            <a:ext cx="530352" cy="530352"/>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8" name="Text 5"/>
          <p:cNvSpPr txBox="1"/>
          <p:nvPr/>
        </p:nvSpPr>
        <p:spPr>
          <a:xfrm>
            <a:off x="1508760" y="1417320"/>
            <a:ext cx="6217920" cy="841248"/>
          </a:xfrm>
          <a:prstGeom prst="rect">
            <a:avLst/>
          </a:prstGeom>
          <a:noFill/>
          <a:ln/>
        </p:spPr>
        <p:txBody>
          <a:bodyPr wrap="square" lIns="0" tIns="0" rIns="0" bIns="0" rtlCol="0" anchor="ctr"/>
          <a:lstStyle/>
          <a:p>
            <a:pPr indent="0" marL="0">
              <a:buNone/>
            </a:pPr>
            <a:r>
              <a:rPr lang="en-US" sz="1800" dirty="0">
                <a:solidFill>
                  <a:schemeClr val="bg1"/>
                </a:solidFill>
              </a:rPr>
              <a:t>Add more cases on the same framework: liquidity, working capital, M&amp;A</a:t>
            </a:r>
            <a:endParaRPr lang="en-US" sz="1800" dirty="0"/>
          </a:p>
        </p:txBody>
      </p:sp>
      <p:sp>
        <p:nvSpPr>
          <p:cNvPr id="9" name="Suggestion 2"/>
          <p:cNvSpPr/>
          <p:nvPr/>
        </p:nvSpPr>
        <p:spPr>
          <a:xfrm>
            <a:off x="548640" y="2395728"/>
            <a:ext cx="7315200" cy="841248"/>
          </a:xfrm>
          <a:prstGeom prst="roundRect">
            <a:avLst>
              <a:gd name="adj" fmla="val 13043"/>
            </a:avLst>
          </a:prstGeom>
          <a:solidFill>
            <a:schemeClr val="accent1"/>
          </a:solidFill>
          <a:ln/>
        </p:spPr>
      </p:sp>
      <p:sp>
        <p:nvSpPr>
          <p:cNvPr id="10" name="Number 2"/>
          <p:cNvSpPr/>
          <p:nvPr/>
        </p:nvSpPr>
        <p:spPr>
          <a:xfrm>
            <a:off x="731520" y="2551176"/>
            <a:ext cx="530352" cy="530352"/>
          </a:xfrm>
          <a:prstGeom prst="ellipse">
            <a:avLst/>
          </a:prstGeom>
          <a:solidFill>
            <a:schemeClr val="accent5"/>
          </a:solidFill>
          <a:ln/>
        </p:spPr>
      </p:sp>
      <p:sp>
        <p:nvSpPr>
          <p:cNvPr id="11" name="Text 8"/>
          <p:cNvSpPr txBox="1"/>
          <p:nvPr/>
        </p:nvSpPr>
        <p:spPr>
          <a:xfrm>
            <a:off x="731520" y="2551176"/>
            <a:ext cx="530352" cy="530352"/>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2" name="Text 9"/>
          <p:cNvSpPr txBox="1"/>
          <p:nvPr/>
        </p:nvSpPr>
        <p:spPr>
          <a:xfrm>
            <a:off x="1508760" y="2395728"/>
            <a:ext cx="6217920" cy="841248"/>
          </a:xfrm>
          <a:prstGeom prst="rect">
            <a:avLst/>
          </a:prstGeom>
          <a:noFill/>
          <a:ln/>
        </p:spPr>
        <p:txBody>
          <a:bodyPr wrap="square" lIns="0" tIns="0" rIns="0" bIns="0" rtlCol="0" anchor="ctr"/>
          <a:lstStyle/>
          <a:p>
            <a:pPr indent="0" marL="0">
              <a:buNone/>
            </a:pPr>
            <a:r>
              <a:rPr lang="en-US" sz="1800" dirty="0">
                <a:solidFill>
                  <a:schemeClr val="bg1"/>
                </a:solidFill>
              </a:rPr>
              <a:t>Define the consequence table before coding; test every decision combination</a:t>
            </a:r>
            <a:endParaRPr lang="en-US" sz="1800" dirty="0"/>
          </a:p>
        </p:txBody>
      </p:sp>
      <p:sp>
        <p:nvSpPr>
          <p:cNvPr id="13" name="Suggestion 3"/>
          <p:cNvSpPr/>
          <p:nvPr/>
        </p:nvSpPr>
        <p:spPr>
          <a:xfrm>
            <a:off x="548640" y="3374136"/>
            <a:ext cx="7315200" cy="841248"/>
          </a:xfrm>
          <a:prstGeom prst="roundRect">
            <a:avLst>
              <a:gd name="adj" fmla="val 13043"/>
            </a:avLst>
          </a:prstGeom>
          <a:solidFill>
            <a:schemeClr val="accent1"/>
          </a:solidFill>
          <a:ln/>
        </p:spPr>
      </p:sp>
      <p:sp>
        <p:nvSpPr>
          <p:cNvPr id="14" name="Number 3"/>
          <p:cNvSpPr/>
          <p:nvPr/>
        </p:nvSpPr>
        <p:spPr>
          <a:xfrm>
            <a:off x="731520" y="3529584"/>
            <a:ext cx="530352" cy="530352"/>
          </a:xfrm>
          <a:prstGeom prst="ellipse">
            <a:avLst/>
          </a:prstGeom>
          <a:solidFill>
            <a:schemeClr val="accent5"/>
          </a:solidFill>
          <a:ln/>
        </p:spPr>
      </p:sp>
      <p:sp>
        <p:nvSpPr>
          <p:cNvPr id="15" name="Text 12"/>
          <p:cNvSpPr txBox="1"/>
          <p:nvPr/>
        </p:nvSpPr>
        <p:spPr>
          <a:xfrm>
            <a:off x="731520" y="3529584"/>
            <a:ext cx="530352" cy="530352"/>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6" name="Text 13"/>
          <p:cNvSpPr txBox="1"/>
          <p:nvPr/>
        </p:nvSpPr>
        <p:spPr>
          <a:xfrm>
            <a:off x="1508760" y="3374136"/>
            <a:ext cx="6217920" cy="841248"/>
          </a:xfrm>
          <a:prstGeom prst="rect">
            <a:avLst/>
          </a:prstGeom>
          <a:noFill/>
          <a:ln/>
        </p:spPr>
        <p:txBody>
          <a:bodyPr wrap="square" lIns="0" tIns="0" rIns="0" bIns="0" rtlCol="0" anchor="ctr"/>
          <a:lstStyle/>
          <a:p>
            <a:pPr indent="0" marL="0">
              <a:buNone/>
            </a:pPr>
            <a:r>
              <a:rPr lang="en-US" sz="1800" dirty="0">
                <a:solidFill>
                  <a:schemeClr val="bg1"/>
                </a:solidFill>
              </a:rPr>
              <a:t>Add controlled variation once the flow is stable, to boost replay value</a:t>
            </a:r>
            <a:endParaRPr lang="en-US" sz="1800" dirty="0"/>
          </a:p>
        </p:txBody>
      </p:sp>
      <p:sp>
        <p:nvSpPr>
          <p:cNvPr id="17" name="Suggestion 4"/>
          <p:cNvSpPr/>
          <p:nvPr/>
        </p:nvSpPr>
        <p:spPr>
          <a:xfrm>
            <a:off x="548640" y="4352544"/>
            <a:ext cx="7315200" cy="841248"/>
          </a:xfrm>
          <a:prstGeom prst="roundRect">
            <a:avLst>
              <a:gd name="adj" fmla="val 13043"/>
            </a:avLst>
          </a:prstGeom>
          <a:solidFill>
            <a:schemeClr val="accent1"/>
          </a:solidFill>
          <a:ln/>
        </p:spPr>
      </p:sp>
      <p:sp>
        <p:nvSpPr>
          <p:cNvPr id="18" name="Number 4"/>
          <p:cNvSpPr/>
          <p:nvPr/>
        </p:nvSpPr>
        <p:spPr>
          <a:xfrm>
            <a:off x="731520" y="4507992"/>
            <a:ext cx="530352" cy="530352"/>
          </a:xfrm>
          <a:prstGeom prst="ellipse">
            <a:avLst/>
          </a:prstGeom>
          <a:solidFill>
            <a:schemeClr val="accent5"/>
          </a:solidFill>
          <a:ln/>
        </p:spPr>
      </p:sp>
      <p:sp>
        <p:nvSpPr>
          <p:cNvPr id="19" name="Text 16"/>
          <p:cNvSpPr txBox="1"/>
          <p:nvPr/>
        </p:nvSpPr>
        <p:spPr>
          <a:xfrm>
            <a:off x="731520" y="4507992"/>
            <a:ext cx="530352" cy="530352"/>
          </a:xfrm>
          <a:prstGeom prst="rect">
            <a:avLst/>
          </a:prstGeom>
          <a:no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20" name="Text 17"/>
          <p:cNvSpPr txBox="1"/>
          <p:nvPr/>
        </p:nvSpPr>
        <p:spPr>
          <a:xfrm>
            <a:off x="1508760" y="4352544"/>
            <a:ext cx="6217920" cy="841248"/>
          </a:xfrm>
          <a:prstGeom prst="rect">
            <a:avLst/>
          </a:prstGeom>
          <a:noFill/>
          <a:ln/>
        </p:spPr>
        <p:txBody>
          <a:bodyPr wrap="square" lIns="0" tIns="0" rIns="0" bIns="0" rtlCol="0" anchor="ctr"/>
          <a:lstStyle/>
          <a:p>
            <a:pPr indent="0" marL="0">
              <a:buNone/>
            </a:pPr>
            <a:r>
              <a:rPr lang="en-US" sz="1800" dirty="0">
                <a:solidFill>
                  <a:schemeClr val="bg1"/>
                </a:solidFill>
              </a:rPr>
              <a:t>Test with real users earlier; measure whether feedback builds understanding</a:t>
            </a:r>
            <a:endParaRPr lang="en-US" sz="1800" dirty="0"/>
          </a:p>
        </p:txBody>
      </p:sp>
      <p:sp>
        <p:nvSpPr>
          <p:cNvPr id="21" name="Suggestion 5"/>
          <p:cNvSpPr/>
          <p:nvPr/>
        </p:nvSpPr>
        <p:spPr>
          <a:xfrm>
            <a:off x="548640" y="5330952"/>
            <a:ext cx="7315200" cy="841248"/>
          </a:xfrm>
          <a:prstGeom prst="roundRect">
            <a:avLst>
              <a:gd name="adj" fmla="val 13043"/>
            </a:avLst>
          </a:prstGeom>
          <a:solidFill>
            <a:schemeClr val="accent1"/>
          </a:solidFill>
          <a:ln/>
        </p:spPr>
      </p:sp>
      <p:sp>
        <p:nvSpPr>
          <p:cNvPr id="22" name="Number 5"/>
          <p:cNvSpPr/>
          <p:nvPr/>
        </p:nvSpPr>
        <p:spPr>
          <a:xfrm>
            <a:off x="731520" y="5486400"/>
            <a:ext cx="530352" cy="530352"/>
          </a:xfrm>
          <a:prstGeom prst="ellipse">
            <a:avLst/>
          </a:prstGeom>
          <a:solidFill>
            <a:schemeClr val="accent5"/>
          </a:solidFill>
          <a:ln/>
        </p:spPr>
      </p:sp>
      <p:sp>
        <p:nvSpPr>
          <p:cNvPr id="23" name="Text 20"/>
          <p:cNvSpPr txBox="1"/>
          <p:nvPr/>
        </p:nvSpPr>
        <p:spPr>
          <a:xfrm>
            <a:off x="731520" y="5486400"/>
            <a:ext cx="530352" cy="530352"/>
          </a:xfrm>
          <a:prstGeom prst="rect">
            <a:avLst/>
          </a:prstGeom>
          <a:noFill/>
          <a:ln/>
        </p:spPr>
        <p:txBody>
          <a:bodyPr wrap="square" lIns="0" tIns="0" rIns="0" bIns="0" rtlCol="0" anchor="ctr"/>
          <a:lstStyle/>
          <a:p>
            <a:pPr algn="ctr" indent="0" marL="0">
              <a:buNone/>
            </a:pPr>
            <a:r>
              <a:rPr lang="en-US" sz="2000" b="1" dirty="0">
                <a:solidFill>
                  <a:schemeClr val="tx2"/>
                </a:solidFill>
              </a:rPr>
              <a:t>5</a:t>
            </a:r>
            <a:endParaRPr lang="en-US" sz="2000" dirty="0"/>
          </a:p>
        </p:txBody>
      </p:sp>
      <p:sp>
        <p:nvSpPr>
          <p:cNvPr id="24" name="Text 21"/>
          <p:cNvSpPr txBox="1"/>
          <p:nvPr/>
        </p:nvSpPr>
        <p:spPr>
          <a:xfrm>
            <a:off x="1508760" y="5330952"/>
            <a:ext cx="6217920" cy="841248"/>
          </a:xfrm>
          <a:prstGeom prst="rect">
            <a:avLst/>
          </a:prstGeom>
          <a:noFill/>
          <a:ln/>
        </p:spPr>
        <p:txBody>
          <a:bodyPr wrap="square" lIns="0" tIns="0" rIns="0" bIns="0" rtlCol="0" anchor="ctr"/>
          <a:lstStyle/>
          <a:p>
            <a:pPr indent="0" marL="0">
              <a:buNone/>
            </a:pPr>
            <a:r>
              <a:rPr lang="en-US" sz="1800" dirty="0">
                <a:solidFill>
                  <a:schemeClr val="bg1"/>
                </a:solidFill>
              </a:rPr>
              <a:t>Prioritise core logic over extras; update docs together with code</a:t>
            </a:r>
            <a:endParaRPr lang="en-US" sz="1800" dirty="0"/>
          </a:p>
        </p:txBody>
      </p:sp>
      <p:sp>
        <p:nvSpPr>
          <p:cNvPr id="25" name="Play card"/>
          <p:cNvSpPr/>
          <p:nvPr/>
        </p:nvSpPr>
        <p:spPr>
          <a:xfrm>
            <a:off x="8229600" y="1417320"/>
            <a:ext cx="3410712" cy="4754880"/>
          </a:xfrm>
          <a:prstGeom prst="roundRect">
            <a:avLst>
              <a:gd name="adj" fmla="val 3217"/>
            </a:avLst>
          </a:prstGeom>
          <a:solidFill>
            <a:schemeClr val="bg1"/>
          </a:solidFill>
          <a:ln/>
          <a:effectLst>
            <a:outerShdw sx="100000" sy="100000" kx="0" ky="0" algn="bl" rotWithShape="0" blurRad="101600" dist="25400" dir="5400000">
              <a:srgbClr val="0D2146">
                <a:alpha val="14000"/>
              </a:srgbClr>
            </a:outerShdw>
          </a:effectLst>
        </p:spPr>
      </p:sp>
      <p:sp>
        <p:nvSpPr>
          <p:cNvPr id="26" name="Play badge"/>
          <p:cNvSpPr/>
          <p:nvPr/>
        </p:nvSpPr>
        <p:spPr>
          <a:xfrm>
            <a:off x="9432036" y="1828800"/>
            <a:ext cx="1005840" cy="1005840"/>
          </a:xfrm>
          <a:prstGeom prst="ellipse">
            <a:avLst/>
          </a:prstGeom>
          <a:solidFill>
            <a:schemeClr val="tx2"/>
          </a:solidFill>
          <a:ln/>
        </p:spPr>
      </p:sp>
      <p:pic>
        <p:nvPicPr>
          <p:cNvPr id="27" name="Play icon" descr="Play icon">    </p:cNvPr>
          <p:cNvPicPr>
            <a:picLocks noChangeAspect="1"/>
          </p:cNvPicPr>
          <p:nvPr/>
        </p:nvPicPr>
        <p:blipFill>
          <a:blip r:embed="rId2"/>
          <a:stretch>
            <a:fillRect/>
          </a:stretch>
        </p:blipFill>
        <p:spPr>
          <a:xfrm>
            <a:off x="9683496" y="2080260"/>
            <a:ext cx="502920" cy="502920"/>
          </a:xfrm>
          <a:prstGeom prst="rect">
            <a:avLst/>
          </a:prstGeom>
        </p:spPr>
      </p:pic>
      <p:sp>
        <p:nvSpPr>
          <p:cNvPr id="28" name="Text 24"/>
          <p:cNvSpPr txBox="1"/>
          <p:nvPr/>
        </p:nvSpPr>
        <p:spPr>
          <a:xfrm>
            <a:off x="8458200" y="3108960"/>
            <a:ext cx="2953512" cy="548640"/>
          </a:xfrm>
          <a:prstGeom prst="rect">
            <a:avLst/>
          </a:prstGeom>
          <a:noFill/>
          <a:ln/>
        </p:spPr>
        <p:txBody>
          <a:bodyPr wrap="square" lIns="0" tIns="0" rIns="0" bIns="0" rtlCol="0" anchor="t"/>
          <a:lstStyle/>
          <a:p>
            <a:pPr algn="ctr" indent="0" marL="0">
              <a:buNone/>
            </a:pPr>
            <a:r>
              <a:rPr lang="en-US" sz="2800" b="1" dirty="0">
                <a:solidFill>
                  <a:schemeClr val="tx2"/>
                </a:solidFill>
                <a:latin typeface="+mj-lt" pitchFamily="34" charset="0"/>
                <a:ea typeface="+mj-lt" pitchFamily="34" charset="-122"/>
                <a:cs typeface="+mj-lt" pitchFamily="34" charset="-120"/>
              </a:rPr>
              <a:t>Try MEDIFIN</a:t>
            </a:r>
            <a:endParaRPr lang="en-US" sz="2800" dirty="0"/>
          </a:p>
        </p:txBody>
      </p:sp>
      <p:sp>
        <p:nvSpPr>
          <p:cNvPr id="29" name="Text 25"/>
          <p:cNvSpPr txBox="1"/>
          <p:nvPr/>
        </p:nvSpPr>
        <p:spPr>
          <a:xfrm>
            <a:off x="8458200" y="3703320"/>
            <a:ext cx="2953512" cy="365760"/>
          </a:xfrm>
          <a:prstGeom prst="rect">
            <a:avLst/>
          </a:prstGeom>
          <a:noFill/>
          <a:ln/>
        </p:spPr>
        <p:txBody>
          <a:bodyPr wrap="square" lIns="0" tIns="0" rIns="0" bIns="0" rtlCol="0" anchor="t"/>
          <a:lstStyle/>
          <a:p>
            <a:pPr algn="ctr" indent="0" marL="0">
              <a:buNone/>
            </a:pPr>
            <a:r>
              <a:rPr lang="en-US" sz="1800" dirty="0">
                <a:solidFill>
                  <a:schemeClr val="accent2"/>
                </a:solidFill>
              </a:rPr>
              <a:t>Live on GitHub Pages</a:t>
            </a:r>
            <a:endParaRPr lang="en-US" sz="1800" dirty="0"/>
          </a:p>
        </p:txBody>
      </p:sp>
      <p:sp>
        <p:nvSpPr>
          <p:cNvPr id="30" name="Text 26">
            <a:hlinkClick r:id="rId3" tooltip=""/>
          </p:cNvPr>
          <p:cNvSpPr txBox="1"/>
          <p:nvPr/>
        </p:nvSpPr>
        <p:spPr>
          <a:xfrm>
            <a:off x="8458200" y="4343400"/>
            <a:ext cx="2953512" cy="1188720"/>
          </a:xfrm>
          <a:prstGeom prst="rect">
            <a:avLst/>
          </a:prstGeom>
          <a:noFill/>
          <a:ln/>
        </p:spPr>
        <p:txBody>
          <a:bodyPr wrap="square" lIns="0" tIns="0" rIns="0" bIns="0" rtlCol="0" anchor="t"/>
          <a:lstStyle/>
          <a:p>
            <a:pPr algn="ctr" indent="0" marL="0">
              <a:buNone/>
            </a:pPr>
            <a:r>
              <a:rPr lang="en-US" sz="16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kirisakitrangngocbk-a11y.github.io/Medifin</a:t>
            </a:r>
            <a:endParaRPr lang="en-US" sz="1600" dirty="0"/>
          </a:p>
        </p:txBody>
      </p:sp>
      <p:sp>
        <p:nvSpPr>
          <p:cNvPr id="25" name="Slide Number Placeholder 0"/>
          <p:cNvSpPr>
            <a:spLocks noGrp="1"/>
          </p:cNvSpPr>
          <p:nvPr>
            <p:ph type="sldNum" sz="quarter" idx="4294967295"/>
          </p:nvPr>
        </p:nvSpPr>
        <p:spPr>
          <a:xfrm>
            <a:off x="10881360" y="6437376"/>
            <a:ext cx="75895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MEDIFIN Financial Clinic">
  <a:themeElements>
    <a:clrScheme name="MEDIFIN Financial Clinic">
      <a:dk1>
        <a:srgbClr val="14213A"/>
      </a:dk1>
      <a:lt1>
        <a:srgbClr val="FFFFFF"/>
      </a:lt1>
      <a:dk2>
        <a:srgbClr val="0D2146"/>
      </a:dk2>
      <a:lt2>
        <a:srgbClr val="F2F9FE"/>
      </a:lt2>
      <a:accent1>
        <a:srgbClr val="1D3F73"/>
      </a:accent1>
      <a:accent2>
        <a:srgbClr val="447194"/>
      </a:accent2>
      <a:accent3>
        <a:srgbClr val="779EBD"/>
      </a:accent3>
      <a:accent4>
        <a:srgbClr val="DDF2FF"/>
      </a:accent4>
      <a:accent5>
        <a:srgbClr val="F2A33A"/>
      </a:accent5>
      <a:accent6>
        <a:srgbClr val="C5D7E6"/>
      </a:accent6>
      <a:hlink>
        <a:srgbClr val="1D3F73"/>
      </a:hlink>
      <a:folHlink>
        <a:srgbClr val="447194"/>
      </a:folHlink>
    </a:clrScheme>
    <a:fontScheme name="MEDIFIN Financial Clinic">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MEDIFIN – Financial Clinic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MEDIFIN – Group Footprint</dc:title>
  <dc:subject>PptxGenJS Presentation</dc:subject>
  <dc:creator>Group G02</dc:creator>
  <cp:lastModifiedBy>Group G02</cp:lastModifiedBy>
  <cp:revision>1</cp:revision>
  <dcterms:created xsi:type="dcterms:W3CDTF">2026-10-24T16:49:49Z</dcterms:created>
  <dcterms:modified xsi:type="dcterms:W3CDTF">2026-10-24T16:49:49Z</dcterms:modified>
</cp:coreProperties>
</file>